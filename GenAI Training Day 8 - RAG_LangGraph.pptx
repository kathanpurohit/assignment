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10287000" cx="18288000"/>
  <p:notesSz cx="10287000" cy="18288000"/>
  <p:embeddedFontLst>
    <p:embeddedFont>
      <p:font typeface="Play"/>
      <p:regular r:id="rId34"/>
      <p:bold r:id="rId35"/>
    </p:embeddedFont>
    <p:embeddedFont>
      <p:font typeface="Inter"/>
      <p:regular r:id="rId36"/>
      <p:bold r:id="rId37"/>
      <p:italic r:id="rId38"/>
      <p:boldItalic r:id="rId39"/>
    </p:embeddedFont>
    <p:embeddedFont>
      <p:font typeface="JetBrains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JetBrainsMono-regular.fntdata"/><Relationship Id="rId20" Type="http://schemas.openxmlformats.org/officeDocument/2006/relationships/slide" Target="slides/slide16.xml"/><Relationship Id="rId42" Type="http://schemas.openxmlformats.org/officeDocument/2006/relationships/font" Target="fonts/JetBrainsMono-italic.fntdata"/><Relationship Id="rId41" Type="http://schemas.openxmlformats.org/officeDocument/2006/relationships/font" Target="fonts/JetBrainsMono-bold.fntdata"/><Relationship Id="rId22" Type="http://schemas.openxmlformats.org/officeDocument/2006/relationships/slide" Target="slides/slide18.xml"/><Relationship Id="rId21" Type="http://schemas.openxmlformats.org/officeDocument/2006/relationships/slide" Target="slides/slide17.xml"/><Relationship Id="rId43" Type="http://schemas.openxmlformats.org/officeDocument/2006/relationships/font" Target="fonts/JetBrainsMono-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lay-bold.fntdata"/><Relationship Id="rId12" Type="http://schemas.openxmlformats.org/officeDocument/2006/relationships/slide" Target="slides/slide8.xml"/><Relationship Id="rId34" Type="http://schemas.openxmlformats.org/officeDocument/2006/relationships/font" Target="fonts/Play-regular.fntdata"/><Relationship Id="rId15" Type="http://schemas.openxmlformats.org/officeDocument/2006/relationships/slide" Target="slides/slide11.xml"/><Relationship Id="rId37" Type="http://schemas.openxmlformats.org/officeDocument/2006/relationships/font" Target="fonts/Inter-bold.fntdata"/><Relationship Id="rId14" Type="http://schemas.openxmlformats.org/officeDocument/2006/relationships/slide" Target="slides/slide10.xml"/><Relationship Id="rId36" Type="http://schemas.openxmlformats.org/officeDocument/2006/relationships/font" Target="fonts/Inter-regular.fntdata"/><Relationship Id="rId17" Type="http://schemas.openxmlformats.org/officeDocument/2006/relationships/slide" Target="slides/slide13.xml"/><Relationship Id="rId39" Type="http://schemas.openxmlformats.org/officeDocument/2006/relationships/font" Target="fonts/Inter-boldItalic.fntdata"/><Relationship Id="rId16" Type="http://schemas.openxmlformats.org/officeDocument/2006/relationships/slide" Target="slides/slide12.xml"/><Relationship Id="rId38" Type="http://schemas.openxmlformats.org/officeDocument/2006/relationships/font" Target="fonts/Inter-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 Day 7. Yesterday we shipped a backend that could answer slow questions. Today we teach it to answer questions it never saw before. RAG — retrieval-augmented generation. The model on its own only knows what it was trained on. RAG gives it a memory you control. We'll cover the embeddings that make retrieval possible, Qdrant as the vector store, the ingestion pipeline that fills it, and LangGraph as the orchestration layer that ties retrieval to generation. By the end you'll have a complete chat pipeline you can ship.</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Storyline. We start with a model that doesn't know your data. We give it embeddings — numerical fingerprints of text. We put those fingerprints into Qdrant, a vector database. We design an ingestion pipeline that does this for every document. We design a search step that finds the right chunks for a question. And we orchestrate the whole thing — retrieve, generate, sometimes re-retrieve — using LangGraph. Each step builds on the previous one.</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parts today. Part one — RAG foundations and embeddings — answers 'how does a vector store even know what's similar'. Part two — ingestion pipeline with Qdrant and the different search types — answers 'how do my documents get in there and how do I find the right ones'. Part three — LangGraph generation pipeline — answers 'how do I wire retrieval into a real chat loop'.</a:t>
            </a:r>
            <a:endParaRPr/>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 one. The model doesn't know your data. RAG is the cheapest way to fix that — no fine-tuning, no retraining. You retrieve the relevant context at query time and stuff it into the prompt. The whole rest of today is the engineering around that one sentence.</a:t>
            </a:r>
            <a:endParaRPr/>
          </a:p>
        </p:txBody>
      </p:sp>
      <p:sp>
        <p:nvSpPr>
          <p:cNvPr id="104" name="Google Shape;1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RAG, not fine-tuning. Fine-tuning bakes knowledge into the weights — expensive to do, expensive to update, and the model still hallucinates the parts that drifted. RAG keeps knowledge outside the model, in a database you can update in seconds, with citations you can audit. For 95% of enterprise use cases, RAG wins. Reserve fine-tuning for style and format, not for facts.</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Retrieve, Augment, Generate. The user asks a question. We search a knowledge store for relevant chunks. We stitch those chunks into the prompt. The model answers using them. The model never sees your full corpus — only the few hundred tokens that matter for this specific question. That's the entire pattern. Everything else today is how to do each step well.</a:t>
            </a:r>
            <a:endParaRPr/>
          </a:p>
        </p:txBody>
      </p:sp>
      <p:sp>
        <p:nvSpPr>
          <p:cNvPr id="142" name="Google Shape;14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Vector embeddings. A piece of text becomes a list of numbers — typically 768 or 1536 dimensions. Texts that mean similar things end up close together in that space. 'Cancel my subscription' and 'how do I unsubscribe' are far apart as strings but near each other as vectors. That distance is the entire mechanism of semantic search. Cosine similarity is the math; choosing the embedding model is the engineering.</a:t>
            </a:r>
            <a:endParaRPr/>
          </a:p>
        </p:txBody>
      </p:sp>
      <p:sp>
        <p:nvSpPr>
          <p:cNvPr id="174" name="Google Shape;17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Embedding models matter — a lot. The model fixes your dimensionality, your similarity behavior, your language coverage, and your ceiling on retrieval quality. You cannot mix embedding models inside one collection — every vector in a Qdrant collection must come from the same model. Picking one is a one-way door, so pick well. Today we'll use Google's text-embedding-004 via langchain-google-genai at 768 dims. Match the model at ingestion and at query — always.</a:t>
            </a:r>
            <a:endParaRPr/>
          </a:p>
        </p:txBody>
      </p:sp>
      <p:sp>
        <p:nvSpPr>
          <p:cNvPr id="221" name="Google Shape;22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Qdrant — the vector store. An open-source vector database written in Rust. Stores vectors, stores payload metadata next to them, and runs approximate-nearest-neighbor search in milliseconds at billions-of-vectors scale. We use it because it's fast, has a clean Python client, supports payload filtering natively, and runs the same in Docker as in production. Three concepts to learn: collection — a namespace with a fixed vector configuration; point — one record with an ID, vector, and JSON payload; payload — the metadata you filter on at query time.</a:t>
            </a:r>
            <a:endParaRPr/>
          </a:p>
        </p:txBody>
      </p:sp>
      <p:sp>
        <p:nvSpPr>
          <p:cNvPr id="244" name="Google Shape;24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 two — ingestion and search. Before you can retrieve, somebody had to put the data in. The ingestion pipeline is where most RAG projects succeed or fail. Bad chunks, wrong embeddings, missing metadata — you'll feel it every time a user asks a question. Let's design it deliberately, and then look at how Qdrant lets us search what we ingested.</a:t>
            </a:r>
            <a:endParaRPr/>
          </a:p>
        </p:txBody>
      </p:sp>
      <p:sp>
        <p:nvSpPr>
          <p:cNvPr id="275" name="Google Shape;2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pipeline, end to end. Source documents come in — PDFs, HTML, Markdown, Confluence exports. We extract text. We chunk that text. We embed each chunk. We attach metadata. We upsert into Qdrant. Five stages, and every stage has a knob that affects retrieval quality. We'll talk about each knob.</a:t>
            </a:r>
            <a:endParaRPr/>
          </a:p>
        </p:txBody>
      </p:sp>
      <p:sp>
        <p:nvSpPr>
          <p:cNvPr id="286" name="Google Shape;2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Chunking — the single biggest quality lever. Chunks too large: irrelevant text dilutes the embedding. Chunks too small: the model loses context. Production defaults: 500–800 tokens per chunk, 10–15 percent overlap between adjacent chunks, split on natural boundaries — sentence, paragraph, markdown heading — never mid-sentence. Use a tokenizer-aware splitter; character count lies about token count.</a:t>
            </a:r>
            <a:endParaRPr/>
          </a:p>
        </p:txBody>
      </p:sp>
      <p:sp>
        <p:nvSpPr>
          <p:cNvPr id="326" name="Google Shape;32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Metadata is what makes search useful. Every chunk gets a payload. At minimum: document_id, chunk_index, source_url, timestamp, tenant_id. Add domain-specific fields liberally: language, page_number, section_title, doc_type. You filter on these at query time. A user asking about Q3 financials shouldn't see Q1 chunks just because they're embedding-similar. Filters fix that. Plan your payload before you ingest a single document.</a:t>
            </a:r>
            <a:endParaRPr/>
          </a:p>
        </p:txBody>
      </p:sp>
      <p:sp>
        <p:nvSpPr>
          <p:cNvPr id="349" name="Google Shape;34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ingestion code. langchain-text-splitters for chunking, langchain-google-genai for Gemini embeddings, qdrant-client for the upsert. Three things to notice. We batch embeddings — one HTTP call per 100 chunks, not one per chunk. We use a stable point ID derived from document_id plus chunk_index, so re-ingesting the same document upserts cleanly. We attach the full chunk text into the payload — Qdrant returns it on search; we don't need a separate document store.</a:t>
            </a:r>
            <a:endParaRPr/>
          </a:p>
        </p:txBody>
      </p:sp>
      <p:sp>
        <p:nvSpPr>
          <p:cNvPr id="374" name="Google Shape;374;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Search in Qdrant — four modes you should know. Dense vector search — the embedding similarity we've been describing. Sparse vector search — BM25-style lexical match, captures exact keywords and proper nouns that embeddings smudge. Hybrid — run both, fuse the scores. Filtered — combine vector or hybrid with a payload predicate. Production RAG almost always uses hybrid plus filters. Dense alone misses acronyms; sparse alone misses paraphrase. Let me show you why on the next slide.</a:t>
            </a:r>
            <a:endParaRPr/>
          </a:p>
        </p:txBody>
      </p:sp>
      <p:sp>
        <p:nvSpPr>
          <p:cNvPr id="395" name="Google Shape;39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why hybrid wins, made visual. Take the query 'CVE-2024-3094 mitigation steps' — it has meaning (how do I patch this) AND an exact rare token (the CVE number). Look at dense, on the left. The query vector lands near paraphrases of 'mitigation' in vector space — but the chunk that actually mentions the CVE string sits far away. Meaning caught, keyword missed. Look at sparse, in the middle. The exact CVE string scores very high — but 'mitigation' loses to a paraphrased chunk that says 'remediation' instead. Keyword caught, meaning missed. Look at hybrid, on the right. We run both, get two ranked lists, and fuse them with Reciprocal Rank Fusion — RRF. Anything that won on either signal bubbles up. The exact CVE chunk AND the paraphrased mitigation chunk both end up in the top-k. That's why hybrid is the production default — meaning catches paraphrase, keywords catch rare tokens, RRF doesn't need score calibration. The cost is one extra index at ingest time. Worth it.</a:t>
            </a:r>
            <a:endParaRPr/>
          </a:p>
        </p:txBody>
      </p:sp>
      <p:sp>
        <p:nvSpPr>
          <p:cNvPr id="418" name="Google Shape;41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Hybrid search code. We embed the query twice — once with the dense model, once with a sparse model. We hand Qdrant two prefetches in one request; it runs them in parallel internally. We tell it to fuse the results with RRF. We attach a tenant filter — that filter is non-negotiable; forget it once and you leak across customers. With payload set to true, the chunk text comes back inline, ready to stitch into the prompt.</a:t>
            </a:r>
            <a:endParaRPr/>
          </a:p>
        </p:txBody>
      </p:sp>
      <p:sp>
        <p:nvSpPr>
          <p:cNvPr id="446" name="Google Shape;446;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 three — LangGraph. We now have retrieval. We need generation. We need a way to wire them — and to handle the messy parts: re-retrieval when the answer is weak, tool calls, follow-up clarification, memory across turns. LangGraph is the orchestration layer that makes that wiring explicit.</a:t>
            </a:r>
            <a:endParaRPr/>
          </a:p>
        </p:txBody>
      </p:sp>
      <p:sp>
        <p:nvSpPr>
          <p:cNvPr id="471" name="Google Shape;4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LangGraph is. A library for building stateful, multi-step LLM applications as a graph. State is a typed dict that flows through the graph. Nodes are pure functions: state in, state-patch out. Edges connect nodes; conditional edges branch based on the state. Compile the graph once at startup. Invoke it per request. Every step shows up in LangSmith — you can trace which node ran, what state it produced, how long it took.</a:t>
            </a:r>
            <a:endParaRPr/>
          </a:p>
        </p:txBody>
      </p:sp>
      <p:sp>
        <p:nvSpPr>
          <p:cNvPr id="482" name="Google Shape;48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RAG chat graph. Five nodes. Rewrite — turn the user's follow-up into a standalone question. Retrieve — hybrid Qdrant search with the tenant filter. Grade — let the model decide whether the retrieved chunks are good enough to answer. Generate — answer using the chunks. Or, if grade said no, loop back to rewrite with a refined question. One conditional edge does the looping. This is the shape of every production RAG chat system worth its salt.</a:t>
            </a:r>
            <a:endParaRPr/>
          </a:p>
        </p:txBody>
      </p:sp>
      <p:sp>
        <p:nvSpPr>
          <p:cNvPr id="504" name="Google Shape;50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state schema. A TypedDict — tenant_id, question, rewritten, documents, grade, attempts, messages, answer. LangGraph reads the type hints to know which fields are 'channels' it should manage. Annotated fields with a reducer — like add_messages — get merged across nodes so history accumulates; plain fields get overwritten. Define state once at the top of the file; every node speaks this vocabulary.</a:t>
            </a:r>
            <a:endParaRPr/>
          </a:p>
        </p:txBody>
      </p:sp>
      <p:sp>
        <p:nvSpPr>
          <p:cNvPr id="546" name="Google Shape;546;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retrieve node. Takes the rewritten question off state, runs a hybrid Qdrant search with the tenant filter, returns the top-k chunks as state.documents. Notice — the node is just a function. No magic. No framework lock-in. You can call it standalone in a test. LangGraph just sequences calls to functions like this.</a:t>
            </a:r>
            <a:endParaRPr/>
          </a:p>
        </p:txBody>
      </p:sp>
      <p:sp>
        <p:nvSpPr>
          <p:cNvPr id="571" name="Google Shape;571;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generate node. We use ChatGoogleGenerativeAI from langchain-google-genai — same provider as our embeddings, one API key, one rate-limit bucket. The system prompt is the safety net: 'answer using ONLY the context, cite each fact, refuse if context is thin'. Hallucinations drop hard with that one sentence. We pass the full message history so the model can resolve references like 'and what about Q4'. Streaming is on — tokens flow through FastAPI to the client as they're produced.</a:t>
            </a:r>
            <a:endParaRPr/>
          </a:p>
        </p:txBody>
      </p:sp>
      <p:sp>
        <p:nvSpPr>
          <p:cNvPr id="592" name="Google Shape;592;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Compile and invoke. StateGraph constructor takes the state type. add_node attaches each function. add_edge wires the static spine. add_conditional_edges wires the grade-decides-next-step branch with a router function that returns the name of the next node. compile() returns a runnable. The attempts cap is critical — without it, a perpetually weak grade would loop forever. You invoke the compiled graph from your FastAPI handler.</a:t>
            </a:r>
            <a:endParaRPr/>
          </a:p>
        </p:txBody>
      </p:sp>
      <p:sp>
        <p:nvSpPr>
          <p:cNvPr id="617" name="Google Shape;617;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Visualize the graph. LangGraph can render the compiled graph for you. Three options. draw_ascii — handy in a terminal or a pull-request description. draw_mermaid_png — returns PNG bytes you write to a file; uses mermaid.ink by default but you can wire it to a local Mermaid renderer in air-gapped environments. draw_mermaid — gives you the source so your wiki can render it server-side. The habit to form is: run this script in CI, commit the PNG to docs/, and now every code review of a graph change shows the new shape in the diff. It's the cheapest architecture diagram you'll ever own — and it can't drift, because it's generated from the real graph.</a:t>
            </a:r>
            <a:endParaRPr/>
          </a:p>
        </p:txBody>
      </p:sp>
      <p:sp>
        <p:nvSpPr>
          <p:cNvPr id="642" name="Google Shape;642;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full request lifecycle. T=0, user sends a follow-up. T=50 ms, rewrite returns a standalone question. T=150 ms, hybrid Qdrant search returns the top eight chunks. T=300 ms, the grader rejects two of them — still enough to answer. T=1.5 s, generate streams the first token. T=3 s, the answer is done, the messages and documents are persisted. The user saw streaming tokens after one and a half seconds. This is the shape.</a:t>
            </a:r>
            <a:endParaRPr/>
          </a:p>
        </p:txBody>
      </p:sp>
      <p:sp>
        <p:nvSpPr>
          <p:cNvPr id="667" name="Google Shape;66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Production checklist. Four habits. One: pin the embedding model in config and treat any upgrade as a re-ingest — never mix versions in one collection. Two: tenant filter on every retrieval call, enforced inside the search function so no node can forget it. Three: have a small golden set of question-and-expected-doc pairs and measure recall on every change to chunking, model, or filters. Four: every loop needs a cap and a graceful 'I don't know' exit — conditional edges can spin forever otherwise.</a:t>
            </a:r>
            <a:endParaRPr/>
          </a:p>
        </p:txBody>
      </p:sp>
      <p:sp>
        <p:nvSpPr>
          <p:cNvPr id="705" name="Google Shape;70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Knowledge check. Five questions. Same drill as yesterday — think first, then we talk through them. Question one and question four are the ones that catch people; if you can answer those, you've understood today.</a:t>
            </a:r>
            <a:endParaRPr/>
          </a:p>
        </p:txBody>
      </p:sp>
      <p:sp>
        <p:nvSpPr>
          <p:cNvPr id="728" name="Google Shape;72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e5648d59ec_0_22: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g3e5648d59ec_0_22: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752" name="Google Shape;752;g3e5648d59ec_0_22: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g3e5648d59ec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g3e5648d59ec_0_22: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g3e5648d59ec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5648d59ec_7_0)">
  <p:cSld name="Generated (g3e5648d59ec_7_0)">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033"/>
        </a:solidFill>
      </p:bgPr>
    </p:bg>
    <p:spTree>
      <p:nvGrpSpPr>
        <p:cNvPr id="16" name="Shape 16"/>
        <p:cNvGrpSpPr/>
        <p:nvPr/>
      </p:nvGrpSpPr>
      <p:grpSpPr>
        <a:xfrm>
          <a:off x="0" y="0"/>
          <a:ext cx="0" cy="0"/>
          <a:chOff x="0" y="0"/>
          <a:chExt cx="0" cy="0"/>
        </a:xfrm>
      </p:grpSpPr>
      <p:pic>
        <p:nvPicPr>
          <p:cNvPr descr="preencoded.png" id="17" name="Google Shape;17;p4"/>
          <p:cNvPicPr preferRelativeResize="0"/>
          <p:nvPr/>
        </p:nvPicPr>
        <p:blipFill rotWithShape="1">
          <a:blip r:embed="rId3">
            <a:alphaModFix/>
          </a:blip>
          <a:srcRect b="0" l="0" r="0" t="0"/>
          <a:stretch/>
        </p:blipFill>
        <p:spPr>
          <a:xfrm>
            <a:off x="11811000" y="0"/>
            <a:ext cx="6477000" cy="10287000"/>
          </a:xfrm>
          <a:prstGeom prst="rect">
            <a:avLst/>
          </a:prstGeom>
          <a:noFill/>
          <a:ln>
            <a:noFill/>
          </a:ln>
        </p:spPr>
      </p:pic>
      <p:sp>
        <p:nvSpPr>
          <p:cNvPr id="18" name="Google Shape;18;p4"/>
          <p:cNvSpPr/>
          <p:nvPr/>
        </p:nvSpPr>
        <p:spPr>
          <a:xfrm>
            <a:off x="11811000" y="0"/>
            <a:ext cx="6477000" cy="10287000"/>
          </a:xfrm>
          <a:prstGeom prst="rect">
            <a:avLst/>
          </a:prstGeom>
          <a:solidFill>
            <a:srgbClr val="102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914400" y="457200"/>
            <a:ext cx="437636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ACC15"/>
              </a:buClr>
              <a:buSzPts val="1350"/>
              <a:buFont typeface="Inter"/>
              <a:buNone/>
            </a:pPr>
            <a:r>
              <a:rPr b="1" i="0" lang="en-US" sz="1350" u="none" cap="none" strike="noStrike">
                <a:solidFill>
                  <a:srgbClr val="FACC15"/>
                </a:solidFill>
                <a:latin typeface="Inter"/>
                <a:ea typeface="Inter"/>
                <a:cs typeface="Inter"/>
                <a:sym typeface="Inter"/>
              </a:rPr>
              <a:t>RETRIEVAL + ORCHESTRATION · DAY 7</a:t>
            </a:r>
            <a:endParaRPr b="0" i="0" sz="1350" u="none" cap="none" strike="noStrike">
              <a:solidFill>
                <a:schemeClr val="dk1"/>
              </a:solidFill>
              <a:latin typeface="Calibri"/>
              <a:ea typeface="Calibri"/>
              <a:cs typeface="Calibri"/>
              <a:sym typeface="Calibri"/>
            </a:endParaRPr>
          </a:p>
        </p:txBody>
      </p:sp>
      <p:sp>
        <p:nvSpPr>
          <p:cNvPr id="20" name="Google Shape;20;p4"/>
          <p:cNvSpPr/>
          <p:nvPr/>
        </p:nvSpPr>
        <p:spPr>
          <a:xfrm>
            <a:off x="914400" y="742950"/>
            <a:ext cx="437636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6D8BE8"/>
              </a:buClr>
              <a:buSzPts val="1350"/>
              <a:buFont typeface="Inter"/>
              <a:buNone/>
            </a:pPr>
            <a:r>
              <a:rPr b="1" i="0" lang="en-US" sz="1350" u="none" cap="none" strike="noStrike">
                <a:solidFill>
                  <a:srgbClr val="6D8BE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21" name="Google Shape;21;p4"/>
          <p:cNvSpPr/>
          <p:nvPr/>
        </p:nvSpPr>
        <p:spPr>
          <a:xfrm>
            <a:off x="16603563" y="457200"/>
            <a:ext cx="846237"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1650"/>
              <a:buFont typeface="Inter"/>
              <a:buNone/>
            </a:pPr>
            <a:r>
              <a:rPr b="1" i="0" lang="en-US" sz="1650" u="none" cap="none" strike="noStrike">
                <a:solidFill>
                  <a:srgbClr val="FFFFFF"/>
                </a:solidFill>
                <a:latin typeface="Inter"/>
                <a:ea typeface="Inter"/>
                <a:cs typeface="Inter"/>
                <a:sym typeface="Inter"/>
              </a:rPr>
              <a:t>01 </a:t>
            </a:r>
            <a:r>
              <a:rPr b="0" i="0" lang="en-US" sz="1650" u="none" cap="none" strike="noStrike">
                <a:solidFill>
                  <a:srgbClr val="8FA0AF"/>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22" name="Google Shape;22;p4"/>
          <p:cNvSpPr/>
          <p:nvPr/>
        </p:nvSpPr>
        <p:spPr>
          <a:xfrm>
            <a:off x="914400" y="2857500"/>
            <a:ext cx="10438638"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EMBEDDINGS · QDRANT · LANGGRAPH</a:t>
            </a:r>
            <a:endParaRPr b="0" i="0" sz="1650" u="none" cap="none" strike="noStrike">
              <a:solidFill>
                <a:schemeClr val="dk1"/>
              </a:solidFill>
              <a:latin typeface="Calibri"/>
              <a:ea typeface="Calibri"/>
              <a:cs typeface="Calibri"/>
              <a:sym typeface="Calibri"/>
            </a:endParaRPr>
          </a:p>
        </p:txBody>
      </p:sp>
      <p:sp>
        <p:nvSpPr>
          <p:cNvPr id="23" name="Google Shape;23;p4"/>
          <p:cNvSpPr/>
          <p:nvPr/>
        </p:nvSpPr>
        <p:spPr>
          <a:xfrm>
            <a:off x="914400" y="3371850"/>
            <a:ext cx="10438638" cy="1979414"/>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FFFFFF"/>
              </a:buClr>
              <a:buSzPts val="7800"/>
              <a:buFont typeface="Play"/>
              <a:buNone/>
            </a:pPr>
            <a:r>
              <a:rPr b="1" i="0" lang="en-US" sz="7800" u="none" cap="none" strike="noStrike">
                <a:solidFill>
                  <a:srgbClr val="FFFFFF"/>
                </a:solidFill>
                <a:latin typeface="Play"/>
                <a:ea typeface="Play"/>
                <a:cs typeface="Play"/>
                <a:sym typeface="Play"/>
              </a:rPr>
              <a:t>RAG + LangGraph</a:t>
            </a:r>
            <a:endParaRPr b="0" i="0" sz="7800" u="none" cap="none" strike="noStrike">
              <a:solidFill>
                <a:schemeClr val="dk1"/>
              </a:solidFill>
              <a:latin typeface="Calibri"/>
              <a:ea typeface="Calibri"/>
              <a:cs typeface="Calibri"/>
              <a:sym typeface="Calibri"/>
            </a:endParaRPr>
          </a:p>
        </p:txBody>
      </p:sp>
      <p:sp>
        <p:nvSpPr>
          <p:cNvPr id="24" name="Google Shape;24;p4"/>
          <p:cNvSpPr/>
          <p:nvPr/>
        </p:nvSpPr>
        <p:spPr>
          <a:xfrm>
            <a:off x="914400" y="5617964"/>
            <a:ext cx="8633460" cy="81141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C7D3DD"/>
              </a:buClr>
              <a:buSzPts val="2100"/>
              <a:buFont typeface="Inter"/>
              <a:buNone/>
            </a:pPr>
            <a:r>
              <a:rPr b="0" i="0" lang="en-US" sz="2100" u="none" cap="none" strike="noStrike">
                <a:solidFill>
                  <a:srgbClr val="C7D3DD"/>
                </a:solidFill>
                <a:latin typeface="Inter"/>
                <a:ea typeface="Inter"/>
                <a:cs typeface="Inter"/>
                <a:sym typeface="Inter"/>
              </a:rPr>
              <a:t>The retrieval-augmented generation stack, end to end — from a raw PDF to a streaming chat answer your users can trust.</a:t>
            </a:r>
            <a:endParaRPr b="0" i="0" sz="2100" u="none" cap="none" strike="noStrike">
              <a:solidFill>
                <a:schemeClr val="dk1"/>
              </a:solidFill>
              <a:latin typeface="Calibri"/>
              <a:ea typeface="Calibri"/>
              <a:cs typeface="Calibri"/>
              <a:sym typeface="Calibri"/>
            </a:endParaRPr>
          </a:p>
        </p:txBody>
      </p:sp>
      <p:sp>
        <p:nvSpPr>
          <p:cNvPr id="25" name="Google Shape;25;p4"/>
          <p:cNvSpPr/>
          <p:nvPr/>
        </p:nvSpPr>
        <p:spPr>
          <a:xfrm>
            <a:off x="914400" y="6848475"/>
            <a:ext cx="2257574" cy="457200"/>
          </a:xfrm>
          <a:prstGeom prst="roundRect">
            <a:avLst>
              <a:gd fmla="val 50000" name="adj"/>
            </a:avLst>
          </a:prstGeom>
          <a:noFill/>
          <a:ln cap="flat" cmpd="sng" w="9525">
            <a:solidFill>
              <a:srgbClr val="FACC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1152525" y="6972300"/>
            <a:ext cx="1857524" cy="24765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EMBEDDINGS</a:t>
            </a:r>
            <a:endParaRPr b="0" i="0" sz="1650" u="none" cap="none" strike="noStrike">
              <a:solidFill>
                <a:schemeClr val="dk1"/>
              </a:solidFill>
              <a:latin typeface="Calibri"/>
              <a:ea typeface="Calibri"/>
              <a:cs typeface="Calibri"/>
              <a:sym typeface="Calibri"/>
            </a:endParaRPr>
          </a:p>
        </p:txBody>
      </p:sp>
      <p:sp>
        <p:nvSpPr>
          <p:cNvPr id="27" name="Google Shape;27;p4"/>
          <p:cNvSpPr/>
          <p:nvPr/>
        </p:nvSpPr>
        <p:spPr>
          <a:xfrm>
            <a:off x="3305324" y="6848475"/>
            <a:ext cx="1610469" cy="457200"/>
          </a:xfrm>
          <a:prstGeom prst="roundRect">
            <a:avLst>
              <a:gd fmla="val 50000" name="adj"/>
            </a:avLst>
          </a:prstGeom>
          <a:noFill/>
          <a:ln cap="flat" cmpd="sng" w="9525">
            <a:solidFill>
              <a:srgbClr val="FACC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3543449" y="6972300"/>
            <a:ext cx="1210419" cy="24765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QDRANT</a:t>
            </a:r>
            <a:endParaRPr b="0" i="0" sz="1650" u="none" cap="none" strike="noStrike">
              <a:solidFill>
                <a:schemeClr val="dk1"/>
              </a:solidFill>
              <a:latin typeface="Calibri"/>
              <a:ea typeface="Calibri"/>
              <a:cs typeface="Calibri"/>
              <a:sym typeface="Calibri"/>
            </a:endParaRPr>
          </a:p>
        </p:txBody>
      </p:sp>
      <p:sp>
        <p:nvSpPr>
          <p:cNvPr id="29" name="Google Shape;29;p4"/>
          <p:cNvSpPr/>
          <p:nvPr/>
        </p:nvSpPr>
        <p:spPr>
          <a:xfrm>
            <a:off x="5049143" y="6848475"/>
            <a:ext cx="2682627" cy="457200"/>
          </a:xfrm>
          <a:prstGeom prst="roundRect">
            <a:avLst>
              <a:gd fmla="val 50000" name="adj"/>
            </a:avLst>
          </a:prstGeom>
          <a:noFill/>
          <a:ln cap="flat" cmpd="sng" w="9525">
            <a:solidFill>
              <a:srgbClr val="FACC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5287268" y="6972300"/>
            <a:ext cx="2286856" cy="24765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HYBRID SEARCH</a:t>
            </a:r>
            <a:endParaRPr b="0" i="0" sz="1650" u="none" cap="none" strike="noStrike">
              <a:solidFill>
                <a:schemeClr val="dk1"/>
              </a:solidFill>
              <a:latin typeface="Calibri"/>
              <a:ea typeface="Calibri"/>
              <a:cs typeface="Calibri"/>
              <a:sym typeface="Calibri"/>
            </a:endParaRPr>
          </a:p>
        </p:txBody>
      </p:sp>
      <p:sp>
        <p:nvSpPr>
          <p:cNvPr id="31" name="Google Shape;31;p4"/>
          <p:cNvSpPr/>
          <p:nvPr/>
        </p:nvSpPr>
        <p:spPr>
          <a:xfrm>
            <a:off x="7865120" y="6848475"/>
            <a:ext cx="1974354" cy="457200"/>
          </a:xfrm>
          <a:prstGeom prst="roundRect">
            <a:avLst>
              <a:gd fmla="val 50000" name="adj"/>
            </a:avLst>
          </a:prstGeom>
          <a:noFill/>
          <a:ln cap="flat" cmpd="sng" w="9525">
            <a:solidFill>
              <a:srgbClr val="FACC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8103245" y="6972300"/>
            <a:ext cx="1574304" cy="24765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INGESTION</a:t>
            </a:r>
            <a:endParaRPr b="0" i="0" sz="1650" u="none" cap="none" strike="noStrike">
              <a:solidFill>
                <a:schemeClr val="dk1"/>
              </a:solidFill>
              <a:latin typeface="Calibri"/>
              <a:ea typeface="Calibri"/>
              <a:cs typeface="Calibri"/>
              <a:sym typeface="Calibri"/>
            </a:endParaRPr>
          </a:p>
        </p:txBody>
      </p:sp>
      <p:sp>
        <p:nvSpPr>
          <p:cNvPr id="33" name="Google Shape;33;p4"/>
          <p:cNvSpPr/>
          <p:nvPr/>
        </p:nvSpPr>
        <p:spPr>
          <a:xfrm>
            <a:off x="914400" y="7439025"/>
            <a:ext cx="2151311" cy="457200"/>
          </a:xfrm>
          <a:prstGeom prst="roundRect">
            <a:avLst>
              <a:gd fmla="val 50000" name="adj"/>
            </a:avLst>
          </a:prstGeom>
          <a:noFill/>
          <a:ln cap="flat" cmpd="sng" w="9525">
            <a:solidFill>
              <a:srgbClr val="FACC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1152525" y="7562850"/>
            <a:ext cx="1751261" cy="24765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LANGGRAPH</a:t>
            </a:r>
            <a:endParaRPr b="0" i="0" sz="1650" u="none" cap="none" strike="noStrike">
              <a:solidFill>
                <a:schemeClr val="dk1"/>
              </a:solidFill>
              <a:latin typeface="Calibri"/>
              <a:ea typeface="Calibri"/>
              <a:cs typeface="Calibri"/>
              <a:sym typeface="Calibri"/>
            </a:endParaRPr>
          </a:p>
        </p:txBody>
      </p:sp>
      <p:sp>
        <p:nvSpPr>
          <p:cNvPr id="35" name="Google Shape;35;p4"/>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FA0AF"/>
              </a:buClr>
              <a:buSzPts val="1650"/>
              <a:buFont typeface="Inter"/>
              <a:buNone/>
            </a:pPr>
            <a:r>
              <a:rPr b="0" i="0" lang="en-US" sz="1650" u="none" cap="none" strike="noStrike">
                <a:solidFill>
                  <a:srgbClr val="8FA0AF"/>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40" name="Shape 40"/>
        <p:cNvGrpSpPr/>
        <p:nvPr/>
      </p:nvGrpSpPr>
      <p:grpSpPr>
        <a:xfrm>
          <a:off x="0" y="0"/>
          <a:ext cx="0" cy="0"/>
          <a:chOff x="0" y="0"/>
          <a:chExt cx="0" cy="0"/>
        </a:xfrm>
      </p:grpSpPr>
      <p:sp>
        <p:nvSpPr>
          <p:cNvPr id="41" name="Google Shape;41;p5"/>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42" name="Google Shape;42;p5"/>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43" name="Google Shape;43;p5"/>
          <p:cNvSpPr/>
          <p:nvPr/>
        </p:nvSpPr>
        <p:spPr>
          <a:xfrm>
            <a:off x="16561891" y="457200"/>
            <a:ext cx="88790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02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44" name="Google Shape;44;p5"/>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45" name="Google Shape;45;p5"/>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The session storyline</a:t>
            </a:r>
            <a:endParaRPr b="0" i="0" sz="3900" u="none" cap="none" strike="noStrike">
              <a:solidFill>
                <a:schemeClr val="dk1"/>
              </a:solidFill>
              <a:latin typeface="Calibri"/>
              <a:ea typeface="Calibri"/>
              <a:cs typeface="Calibri"/>
              <a:sym typeface="Calibri"/>
            </a:endParaRPr>
          </a:p>
        </p:txBody>
      </p:sp>
      <p:sp>
        <p:nvSpPr>
          <p:cNvPr id="46" name="Google Shape;46;p5"/>
          <p:cNvSpPr/>
          <p:nvPr/>
        </p:nvSpPr>
        <p:spPr>
          <a:xfrm>
            <a:off x="914400" y="2468017"/>
            <a:ext cx="12753975" cy="86677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250"/>
              <a:buFont typeface="Inter"/>
              <a:buNone/>
            </a:pPr>
            <a:r>
              <a:rPr b="0" i="0" lang="en-US" sz="2250" u="none" cap="none" strike="noStrike">
                <a:solidFill>
                  <a:srgbClr val="536171"/>
                </a:solidFill>
                <a:latin typeface="Inter"/>
                <a:ea typeface="Inter"/>
                <a:cs typeface="Inter"/>
                <a:sym typeface="Inter"/>
              </a:rPr>
              <a:t>Each step builds on the previous one — from a single chunk of text to a streaming chat graph.</a:t>
            </a:r>
            <a:endParaRPr b="0" i="0" sz="2250" u="none" cap="none" strike="noStrike">
              <a:solidFill>
                <a:schemeClr val="dk1"/>
              </a:solidFill>
              <a:latin typeface="Calibri"/>
              <a:ea typeface="Calibri"/>
              <a:cs typeface="Calibri"/>
              <a:sym typeface="Calibri"/>
            </a:endParaRPr>
          </a:p>
        </p:txBody>
      </p:sp>
      <p:sp>
        <p:nvSpPr>
          <p:cNvPr id="47" name="Google Shape;47;p5"/>
          <p:cNvSpPr/>
          <p:nvPr/>
        </p:nvSpPr>
        <p:spPr>
          <a:xfrm>
            <a:off x="914400" y="4953000"/>
            <a:ext cx="1470868" cy="552450"/>
          </a:xfrm>
          <a:prstGeom prst="roundRect">
            <a:avLst>
              <a:gd fmla="val 13793" name="adj"/>
            </a:avLst>
          </a:prstGeom>
          <a:solidFill>
            <a:srgbClr val="F8F6EF"/>
          </a:solidFill>
          <a:ln cap="flat" cmpd="sng" w="9525">
            <a:solidFill>
              <a:srgbClr val="E8E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1152525" y="5076825"/>
            <a:ext cx="1070818"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2400"/>
              <a:buFont typeface="Play"/>
              <a:buNone/>
            </a:pPr>
            <a:r>
              <a:rPr b="1" i="0" lang="en-US" sz="2400" u="none" cap="none" strike="noStrike">
                <a:solidFill>
                  <a:srgbClr val="1D2B3A"/>
                </a:solidFill>
                <a:latin typeface="Play"/>
                <a:ea typeface="Play"/>
                <a:cs typeface="Play"/>
                <a:sym typeface="Play"/>
              </a:rPr>
              <a:t>Embed</a:t>
            </a:r>
            <a:endParaRPr b="0" i="0" sz="2400" u="none" cap="none" strike="noStrike">
              <a:solidFill>
                <a:schemeClr val="dk1"/>
              </a:solidFill>
              <a:latin typeface="Calibri"/>
              <a:ea typeface="Calibri"/>
              <a:cs typeface="Calibri"/>
              <a:sym typeface="Calibri"/>
            </a:endParaRPr>
          </a:p>
        </p:txBody>
      </p:sp>
      <p:sp>
        <p:nvSpPr>
          <p:cNvPr id="49" name="Google Shape;49;p5"/>
          <p:cNvSpPr/>
          <p:nvPr/>
        </p:nvSpPr>
        <p:spPr>
          <a:xfrm>
            <a:off x="2989511" y="5076825"/>
            <a:ext cx="381000"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2400"/>
              <a:buFont typeface="Inter"/>
              <a:buNone/>
            </a:pPr>
            <a:r>
              <a:rPr b="0" i="0" lang="en-US" sz="2400" u="none" cap="none" strike="noStrike">
                <a:solidFill>
                  <a:srgbClr val="536171"/>
                </a:solidFill>
                <a:latin typeface="Inter"/>
                <a:ea typeface="Inter"/>
                <a:cs typeface="Inter"/>
                <a:sym typeface="Inter"/>
              </a:rPr>
              <a:t>→</a:t>
            </a:r>
            <a:endParaRPr b="0" i="0" sz="2400" u="none" cap="none" strike="noStrike">
              <a:solidFill>
                <a:schemeClr val="dk1"/>
              </a:solidFill>
              <a:latin typeface="Calibri"/>
              <a:ea typeface="Calibri"/>
              <a:cs typeface="Calibri"/>
              <a:sym typeface="Calibri"/>
            </a:endParaRPr>
          </a:p>
        </p:txBody>
      </p:sp>
      <p:sp>
        <p:nvSpPr>
          <p:cNvPr id="50" name="Google Shape;50;p5"/>
          <p:cNvSpPr/>
          <p:nvPr/>
        </p:nvSpPr>
        <p:spPr>
          <a:xfrm>
            <a:off x="3898553" y="4953000"/>
            <a:ext cx="1256854" cy="552450"/>
          </a:xfrm>
          <a:prstGeom prst="roundRect">
            <a:avLst>
              <a:gd fmla="val 13793" name="adj"/>
            </a:avLst>
          </a:prstGeom>
          <a:solidFill>
            <a:srgbClr val="F8F6EF"/>
          </a:solidFill>
          <a:ln cap="flat" cmpd="sng" w="9525">
            <a:solidFill>
              <a:srgbClr val="E8E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4136678" y="5076825"/>
            <a:ext cx="856804"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2400"/>
              <a:buFont typeface="Play"/>
              <a:buNone/>
            </a:pPr>
            <a:r>
              <a:rPr b="1" i="0" lang="en-US" sz="2400" u="none" cap="none" strike="noStrike">
                <a:solidFill>
                  <a:srgbClr val="1D2B3A"/>
                </a:solidFill>
                <a:latin typeface="Play"/>
                <a:ea typeface="Play"/>
                <a:cs typeface="Play"/>
                <a:sym typeface="Play"/>
              </a:rPr>
              <a:t>Store</a:t>
            </a:r>
            <a:endParaRPr b="0" i="0" sz="2400" u="none" cap="none" strike="noStrike">
              <a:solidFill>
                <a:schemeClr val="dk1"/>
              </a:solidFill>
              <a:latin typeface="Calibri"/>
              <a:ea typeface="Calibri"/>
              <a:cs typeface="Calibri"/>
              <a:sym typeface="Calibri"/>
            </a:endParaRPr>
          </a:p>
        </p:txBody>
      </p:sp>
      <p:sp>
        <p:nvSpPr>
          <p:cNvPr id="52" name="Google Shape;52;p5"/>
          <p:cNvSpPr/>
          <p:nvPr/>
        </p:nvSpPr>
        <p:spPr>
          <a:xfrm>
            <a:off x="5759648" y="5076825"/>
            <a:ext cx="381000"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2400"/>
              <a:buFont typeface="Inter"/>
              <a:buNone/>
            </a:pPr>
            <a:r>
              <a:rPr b="0" i="0" lang="en-US" sz="2400" u="none" cap="none" strike="noStrike">
                <a:solidFill>
                  <a:srgbClr val="536171"/>
                </a:solidFill>
                <a:latin typeface="Inter"/>
                <a:ea typeface="Inter"/>
                <a:cs typeface="Inter"/>
                <a:sym typeface="Inter"/>
              </a:rPr>
              <a:t>→</a:t>
            </a:r>
            <a:endParaRPr b="0" i="0" sz="2400" u="none" cap="none" strike="noStrike">
              <a:solidFill>
                <a:schemeClr val="dk1"/>
              </a:solidFill>
              <a:latin typeface="Calibri"/>
              <a:ea typeface="Calibri"/>
              <a:cs typeface="Calibri"/>
              <a:sym typeface="Calibri"/>
            </a:endParaRPr>
          </a:p>
        </p:txBody>
      </p:sp>
      <p:sp>
        <p:nvSpPr>
          <p:cNvPr id="53" name="Google Shape;53;p5"/>
          <p:cNvSpPr/>
          <p:nvPr/>
        </p:nvSpPr>
        <p:spPr>
          <a:xfrm>
            <a:off x="6668691" y="4953000"/>
            <a:ext cx="1387673" cy="552450"/>
          </a:xfrm>
          <a:prstGeom prst="roundRect">
            <a:avLst>
              <a:gd fmla="val 13793" name="adj"/>
            </a:avLst>
          </a:prstGeom>
          <a:solidFill>
            <a:srgbClr val="F8F6EF"/>
          </a:solidFill>
          <a:ln cap="flat" cmpd="sng" w="9525">
            <a:solidFill>
              <a:srgbClr val="E8E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6906816" y="5076825"/>
            <a:ext cx="987623"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2400"/>
              <a:buFont typeface="Play"/>
              <a:buNone/>
            </a:pPr>
            <a:r>
              <a:rPr b="1" i="0" lang="en-US" sz="2400" u="none" cap="none" strike="noStrike">
                <a:solidFill>
                  <a:srgbClr val="1D2B3A"/>
                </a:solidFill>
                <a:latin typeface="Play"/>
                <a:ea typeface="Play"/>
                <a:cs typeface="Play"/>
                <a:sym typeface="Play"/>
              </a:rPr>
              <a:t>Ingest</a:t>
            </a:r>
            <a:endParaRPr b="0" i="0" sz="2400" u="none" cap="none" strike="noStrike">
              <a:solidFill>
                <a:schemeClr val="dk1"/>
              </a:solidFill>
              <a:latin typeface="Calibri"/>
              <a:ea typeface="Calibri"/>
              <a:cs typeface="Calibri"/>
              <a:sym typeface="Calibri"/>
            </a:endParaRPr>
          </a:p>
        </p:txBody>
      </p:sp>
      <p:sp>
        <p:nvSpPr>
          <p:cNvPr id="55" name="Google Shape;55;p5"/>
          <p:cNvSpPr/>
          <p:nvPr/>
        </p:nvSpPr>
        <p:spPr>
          <a:xfrm>
            <a:off x="8660606" y="5076825"/>
            <a:ext cx="381000"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2400"/>
              <a:buFont typeface="Inter"/>
              <a:buNone/>
            </a:pPr>
            <a:r>
              <a:rPr b="0" i="0" lang="en-US" sz="2400" u="none" cap="none" strike="noStrike">
                <a:solidFill>
                  <a:srgbClr val="536171"/>
                </a:solidFill>
                <a:latin typeface="Inter"/>
                <a:ea typeface="Inter"/>
                <a:cs typeface="Inter"/>
                <a:sym typeface="Inter"/>
              </a:rPr>
              <a:t>→</a:t>
            </a:r>
            <a:endParaRPr b="0" i="0" sz="2400" u="none" cap="none" strike="noStrike">
              <a:solidFill>
                <a:schemeClr val="dk1"/>
              </a:solidFill>
              <a:latin typeface="Calibri"/>
              <a:ea typeface="Calibri"/>
              <a:cs typeface="Calibri"/>
              <a:sym typeface="Calibri"/>
            </a:endParaRPr>
          </a:p>
        </p:txBody>
      </p:sp>
      <p:sp>
        <p:nvSpPr>
          <p:cNvPr id="56" name="Google Shape;56;p5"/>
          <p:cNvSpPr/>
          <p:nvPr/>
        </p:nvSpPr>
        <p:spPr>
          <a:xfrm>
            <a:off x="9569648" y="4953000"/>
            <a:ext cx="1452563" cy="552450"/>
          </a:xfrm>
          <a:prstGeom prst="roundRect">
            <a:avLst>
              <a:gd fmla="val 13793" name="adj"/>
            </a:avLst>
          </a:prstGeom>
          <a:solidFill>
            <a:srgbClr val="F8F6EF"/>
          </a:solidFill>
          <a:ln cap="flat" cmpd="sng" w="9525">
            <a:solidFill>
              <a:srgbClr val="E8E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9807773" y="5076825"/>
            <a:ext cx="1052513"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2400"/>
              <a:buFont typeface="Play"/>
              <a:buNone/>
            </a:pPr>
            <a:r>
              <a:rPr b="1" i="0" lang="en-US" sz="2400" u="none" cap="none" strike="noStrike">
                <a:solidFill>
                  <a:srgbClr val="1D2B3A"/>
                </a:solidFill>
                <a:latin typeface="Play"/>
                <a:ea typeface="Play"/>
                <a:cs typeface="Play"/>
                <a:sym typeface="Play"/>
              </a:rPr>
              <a:t>Search</a:t>
            </a:r>
            <a:endParaRPr b="0" i="0" sz="2400" u="none" cap="none" strike="noStrike">
              <a:solidFill>
                <a:schemeClr val="dk1"/>
              </a:solidFill>
              <a:latin typeface="Calibri"/>
              <a:ea typeface="Calibri"/>
              <a:cs typeface="Calibri"/>
              <a:sym typeface="Calibri"/>
            </a:endParaRPr>
          </a:p>
        </p:txBody>
      </p:sp>
      <p:sp>
        <p:nvSpPr>
          <p:cNvPr id="58" name="Google Shape;58;p5"/>
          <p:cNvSpPr/>
          <p:nvPr/>
        </p:nvSpPr>
        <p:spPr>
          <a:xfrm>
            <a:off x="11626453" y="5076825"/>
            <a:ext cx="381000"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2400"/>
              <a:buFont typeface="Inter"/>
              <a:buNone/>
            </a:pPr>
            <a:r>
              <a:rPr b="0" i="0" lang="en-US" sz="2400" u="none" cap="none" strike="noStrike">
                <a:solidFill>
                  <a:srgbClr val="536171"/>
                </a:solidFill>
                <a:latin typeface="Inter"/>
                <a:ea typeface="Inter"/>
                <a:cs typeface="Inter"/>
                <a:sym typeface="Inter"/>
              </a:rPr>
              <a:t>→</a:t>
            </a:r>
            <a:endParaRPr b="0" i="0" sz="2400" u="none" cap="none" strike="noStrike">
              <a:solidFill>
                <a:schemeClr val="dk1"/>
              </a:solidFill>
              <a:latin typeface="Calibri"/>
              <a:ea typeface="Calibri"/>
              <a:cs typeface="Calibri"/>
              <a:sym typeface="Calibri"/>
            </a:endParaRPr>
          </a:p>
        </p:txBody>
      </p:sp>
      <p:sp>
        <p:nvSpPr>
          <p:cNvPr id="59" name="Google Shape;59;p5"/>
          <p:cNvSpPr/>
          <p:nvPr/>
        </p:nvSpPr>
        <p:spPr>
          <a:xfrm>
            <a:off x="12535495" y="4953000"/>
            <a:ext cx="2189262" cy="552450"/>
          </a:xfrm>
          <a:prstGeom prst="roundRect">
            <a:avLst>
              <a:gd fmla="val 13793" name="adj"/>
            </a:avLst>
          </a:prstGeom>
          <a:solidFill>
            <a:srgbClr val="F8F6EF"/>
          </a:solidFill>
          <a:ln cap="flat" cmpd="sng" w="9525">
            <a:solidFill>
              <a:srgbClr val="E8E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12773620" y="5076825"/>
            <a:ext cx="1789212"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2400"/>
              <a:buFont typeface="Play"/>
              <a:buNone/>
            </a:pPr>
            <a:r>
              <a:rPr b="1" i="0" lang="en-US" sz="2400" u="none" cap="none" strike="noStrike">
                <a:solidFill>
                  <a:srgbClr val="1D2B3A"/>
                </a:solidFill>
                <a:latin typeface="Play"/>
                <a:ea typeface="Play"/>
                <a:cs typeface="Play"/>
                <a:sym typeface="Play"/>
              </a:rPr>
              <a:t>Orchestrate</a:t>
            </a:r>
            <a:endParaRPr b="0" i="0" sz="2400" u="none" cap="none" strike="noStrike">
              <a:solidFill>
                <a:schemeClr val="dk1"/>
              </a:solidFill>
              <a:latin typeface="Calibri"/>
              <a:ea typeface="Calibri"/>
              <a:cs typeface="Calibri"/>
              <a:sym typeface="Calibri"/>
            </a:endParaRPr>
          </a:p>
        </p:txBody>
      </p:sp>
      <p:sp>
        <p:nvSpPr>
          <p:cNvPr id="61" name="Google Shape;61;p5"/>
          <p:cNvSpPr/>
          <p:nvPr/>
        </p:nvSpPr>
        <p:spPr>
          <a:xfrm>
            <a:off x="15328999" y="5076825"/>
            <a:ext cx="381000"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2400"/>
              <a:buFont typeface="Inter"/>
              <a:buNone/>
            </a:pPr>
            <a:r>
              <a:rPr b="0" i="0" lang="en-US" sz="2400" u="none" cap="none" strike="noStrike">
                <a:solidFill>
                  <a:srgbClr val="536171"/>
                </a:solidFill>
                <a:latin typeface="Inter"/>
                <a:ea typeface="Inter"/>
                <a:cs typeface="Inter"/>
                <a:sym typeface="Inter"/>
              </a:rPr>
              <a:t>→</a:t>
            </a:r>
            <a:endParaRPr b="0" i="0" sz="2400" u="none" cap="none" strike="noStrike">
              <a:solidFill>
                <a:schemeClr val="dk1"/>
              </a:solidFill>
              <a:latin typeface="Calibri"/>
              <a:ea typeface="Calibri"/>
              <a:cs typeface="Calibri"/>
              <a:sym typeface="Calibri"/>
            </a:endParaRPr>
          </a:p>
        </p:txBody>
      </p:sp>
      <p:sp>
        <p:nvSpPr>
          <p:cNvPr id="62" name="Google Shape;62;p5"/>
          <p:cNvSpPr/>
          <p:nvPr/>
        </p:nvSpPr>
        <p:spPr>
          <a:xfrm>
            <a:off x="16238041" y="4953000"/>
            <a:ext cx="1135559" cy="552450"/>
          </a:xfrm>
          <a:prstGeom prst="roundRect">
            <a:avLst>
              <a:gd fmla="val 13793" name="adj"/>
            </a:avLst>
          </a:prstGeom>
          <a:solidFill>
            <a:srgbClr val="214CB8">
              <a:alpha val="5882"/>
            </a:srgbClr>
          </a:solidFill>
          <a:ln cap="flat" cmpd="sng" w="9525">
            <a:solidFill>
              <a:srgbClr val="214C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16476166" y="5076825"/>
            <a:ext cx="735509" cy="342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2400"/>
              <a:buFont typeface="Play"/>
              <a:buNone/>
            </a:pPr>
            <a:r>
              <a:rPr b="1" i="0" lang="en-US" sz="2400" u="none" cap="none" strike="noStrike">
                <a:solidFill>
                  <a:srgbClr val="214CB8"/>
                </a:solidFill>
                <a:latin typeface="Play"/>
                <a:ea typeface="Play"/>
                <a:cs typeface="Play"/>
                <a:sym typeface="Play"/>
              </a:rPr>
              <a:t>Chat</a:t>
            </a:r>
            <a:endParaRPr b="0" i="0" sz="2400" u="none" cap="none" strike="noStrike">
              <a:solidFill>
                <a:schemeClr val="dk1"/>
              </a:solidFill>
              <a:latin typeface="Calibri"/>
              <a:ea typeface="Calibri"/>
              <a:cs typeface="Calibri"/>
              <a:sym typeface="Calibri"/>
            </a:endParaRPr>
          </a:p>
        </p:txBody>
      </p:sp>
      <p:sp>
        <p:nvSpPr>
          <p:cNvPr id="64" name="Google Shape;64;p5"/>
          <p:cNvSpPr/>
          <p:nvPr/>
        </p:nvSpPr>
        <p:spPr>
          <a:xfrm>
            <a:off x="914400" y="6267450"/>
            <a:ext cx="262928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Text → vectors</a:t>
            </a:r>
            <a:endParaRPr b="0" i="0" sz="1650" u="none" cap="none" strike="noStrike">
              <a:solidFill>
                <a:schemeClr val="dk1"/>
              </a:solidFill>
              <a:latin typeface="Calibri"/>
              <a:ea typeface="Calibri"/>
              <a:cs typeface="Calibri"/>
              <a:sym typeface="Calibri"/>
            </a:endParaRPr>
          </a:p>
        </p:txBody>
      </p:sp>
      <p:sp>
        <p:nvSpPr>
          <p:cNvPr id="65" name="Google Shape;65;p5"/>
          <p:cNvSpPr/>
          <p:nvPr/>
        </p:nvSpPr>
        <p:spPr>
          <a:xfrm>
            <a:off x="914400" y="6610350"/>
            <a:ext cx="2629281" cy="5447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Embeddings give meaning a coordinate.</a:t>
            </a:r>
            <a:endParaRPr b="0" i="0" sz="1425" u="none" cap="none" strike="noStrike">
              <a:solidFill>
                <a:schemeClr val="dk1"/>
              </a:solidFill>
              <a:latin typeface="Calibri"/>
              <a:ea typeface="Calibri"/>
              <a:cs typeface="Calibri"/>
              <a:sym typeface="Calibri"/>
            </a:endParaRPr>
          </a:p>
        </p:txBody>
      </p:sp>
      <p:sp>
        <p:nvSpPr>
          <p:cNvPr id="66" name="Google Shape;66;p5"/>
          <p:cNvSpPr/>
          <p:nvPr/>
        </p:nvSpPr>
        <p:spPr>
          <a:xfrm>
            <a:off x="3695700" y="6267450"/>
            <a:ext cx="262928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Qdrant</a:t>
            </a:r>
            <a:endParaRPr b="0" i="0" sz="1650" u="none" cap="none" strike="noStrike">
              <a:solidFill>
                <a:schemeClr val="dk1"/>
              </a:solidFill>
              <a:latin typeface="Calibri"/>
              <a:ea typeface="Calibri"/>
              <a:cs typeface="Calibri"/>
              <a:sym typeface="Calibri"/>
            </a:endParaRPr>
          </a:p>
        </p:txBody>
      </p:sp>
      <p:sp>
        <p:nvSpPr>
          <p:cNvPr id="67" name="Google Shape;67;p5"/>
          <p:cNvSpPr/>
          <p:nvPr/>
        </p:nvSpPr>
        <p:spPr>
          <a:xfrm>
            <a:off x="3695700" y="6610350"/>
            <a:ext cx="2629281" cy="5447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A database designed for vectors.</a:t>
            </a:r>
            <a:endParaRPr b="0" i="0" sz="1425" u="none" cap="none" strike="noStrike">
              <a:solidFill>
                <a:schemeClr val="dk1"/>
              </a:solidFill>
              <a:latin typeface="Calibri"/>
              <a:ea typeface="Calibri"/>
              <a:cs typeface="Calibri"/>
              <a:sym typeface="Calibri"/>
            </a:endParaRPr>
          </a:p>
        </p:txBody>
      </p:sp>
      <p:sp>
        <p:nvSpPr>
          <p:cNvPr id="68" name="Google Shape;68;p5"/>
          <p:cNvSpPr/>
          <p:nvPr/>
        </p:nvSpPr>
        <p:spPr>
          <a:xfrm>
            <a:off x="6477000" y="6267450"/>
            <a:ext cx="262928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Pipeline</a:t>
            </a:r>
            <a:endParaRPr b="0" i="0" sz="1650" u="none" cap="none" strike="noStrike">
              <a:solidFill>
                <a:schemeClr val="dk1"/>
              </a:solidFill>
              <a:latin typeface="Calibri"/>
              <a:ea typeface="Calibri"/>
              <a:cs typeface="Calibri"/>
              <a:sym typeface="Calibri"/>
            </a:endParaRPr>
          </a:p>
        </p:txBody>
      </p:sp>
      <p:sp>
        <p:nvSpPr>
          <p:cNvPr id="69" name="Google Shape;69;p5"/>
          <p:cNvSpPr/>
          <p:nvPr/>
        </p:nvSpPr>
        <p:spPr>
          <a:xfrm>
            <a:off x="6477000" y="6610350"/>
            <a:ext cx="2629281" cy="5447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Chunk, embed, attach metadata, upsert.</a:t>
            </a:r>
            <a:endParaRPr b="0" i="0" sz="1425" u="none" cap="none" strike="noStrike">
              <a:solidFill>
                <a:schemeClr val="dk1"/>
              </a:solidFill>
              <a:latin typeface="Calibri"/>
              <a:ea typeface="Calibri"/>
              <a:cs typeface="Calibri"/>
              <a:sym typeface="Calibri"/>
            </a:endParaRPr>
          </a:p>
        </p:txBody>
      </p:sp>
      <p:sp>
        <p:nvSpPr>
          <p:cNvPr id="70" name="Google Shape;70;p5"/>
          <p:cNvSpPr/>
          <p:nvPr/>
        </p:nvSpPr>
        <p:spPr>
          <a:xfrm>
            <a:off x="9258300" y="6267450"/>
            <a:ext cx="262928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Hybrid + filter</a:t>
            </a:r>
            <a:endParaRPr b="0" i="0" sz="1650" u="none" cap="none" strike="noStrike">
              <a:solidFill>
                <a:schemeClr val="dk1"/>
              </a:solidFill>
              <a:latin typeface="Calibri"/>
              <a:ea typeface="Calibri"/>
              <a:cs typeface="Calibri"/>
              <a:sym typeface="Calibri"/>
            </a:endParaRPr>
          </a:p>
        </p:txBody>
      </p:sp>
      <p:sp>
        <p:nvSpPr>
          <p:cNvPr id="71" name="Google Shape;71;p5"/>
          <p:cNvSpPr/>
          <p:nvPr/>
        </p:nvSpPr>
        <p:spPr>
          <a:xfrm>
            <a:off x="9258300" y="6610350"/>
            <a:ext cx="2629281" cy="5447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Dense meaning plus sparse keywords.</a:t>
            </a:r>
            <a:endParaRPr b="0" i="0" sz="1425" u="none" cap="none" strike="noStrike">
              <a:solidFill>
                <a:schemeClr val="dk1"/>
              </a:solidFill>
              <a:latin typeface="Calibri"/>
              <a:ea typeface="Calibri"/>
              <a:cs typeface="Calibri"/>
              <a:sym typeface="Calibri"/>
            </a:endParaRPr>
          </a:p>
        </p:txBody>
      </p:sp>
      <p:sp>
        <p:nvSpPr>
          <p:cNvPr id="72" name="Google Shape;72;p5"/>
          <p:cNvSpPr/>
          <p:nvPr/>
        </p:nvSpPr>
        <p:spPr>
          <a:xfrm>
            <a:off x="12039600" y="6267450"/>
            <a:ext cx="262928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LangGraph</a:t>
            </a:r>
            <a:endParaRPr b="0" i="0" sz="1650" u="none" cap="none" strike="noStrike">
              <a:solidFill>
                <a:schemeClr val="dk1"/>
              </a:solidFill>
              <a:latin typeface="Calibri"/>
              <a:ea typeface="Calibri"/>
              <a:cs typeface="Calibri"/>
              <a:sym typeface="Calibri"/>
            </a:endParaRPr>
          </a:p>
        </p:txBody>
      </p:sp>
      <p:sp>
        <p:nvSpPr>
          <p:cNvPr id="73" name="Google Shape;73;p5"/>
          <p:cNvSpPr/>
          <p:nvPr/>
        </p:nvSpPr>
        <p:spPr>
          <a:xfrm>
            <a:off x="12039600" y="6610350"/>
            <a:ext cx="2629281" cy="5447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Stateful graph wires the steps together.</a:t>
            </a:r>
            <a:endParaRPr b="0" i="0" sz="1425" u="none" cap="none" strike="noStrike">
              <a:solidFill>
                <a:schemeClr val="dk1"/>
              </a:solidFill>
              <a:latin typeface="Calibri"/>
              <a:ea typeface="Calibri"/>
              <a:cs typeface="Calibri"/>
              <a:sym typeface="Calibri"/>
            </a:endParaRPr>
          </a:p>
        </p:txBody>
      </p:sp>
      <p:sp>
        <p:nvSpPr>
          <p:cNvPr id="74" name="Google Shape;74;p5"/>
          <p:cNvSpPr/>
          <p:nvPr/>
        </p:nvSpPr>
        <p:spPr>
          <a:xfrm>
            <a:off x="14820900" y="6267450"/>
            <a:ext cx="262928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650"/>
              <a:buFont typeface="Inter"/>
              <a:buNone/>
            </a:pPr>
            <a:r>
              <a:rPr b="1" i="0" lang="en-US" sz="1650" u="none" cap="none" strike="noStrike">
                <a:solidFill>
                  <a:srgbClr val="214CB8"/>
                </a:solidFill>
                <a:latin typeface="Inter"/>
                <a:ea typeface="Inter"/>
                <a:cs typeface="Inter"/>
                <a:sym typeface="Inter"/>
              </a:rPr>
              <a:t>Capstone</a:t>
            </a:r>
            <a:endParaRPr b="0" i="0" sz="1650" u="none" cap="none" strike="noStrike">
              <a:solidFill>
                <a:schemeClr val="dk1"/>
              </a:solidFill>
              <a:latin typeface="Calibri"/>
              <a:ea typeface="Calibri"/>
              <a:cs typeface="Calibri"/>
              <a:sym typeface="Calibri"/>
            </a:endParaRPr>
          </a:p>
        </p:txBody>
      </p:sp>
      <p:sp>
        <p:nvSpPr>
          <p:cNvPr id="75" name="Google Shape;75;p5"/>
          <p:cNvSpPr/>
          <p:nvPr/>
        </p:nvSpPr>
        <p:spPr>
          <a:xfrm>
            <a:off x="14820900" y="6610350"/>
            <a:ext cx="2629281" cy="5447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A grounded streaming chat pipeline.</a:t>
            </a:r>
            <a:endParaRPr b="0" i="0" sz="1425"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80" name="Shape 80"/>
        <p:cNvGrpSpPr/>
        <p:nvPr/>
      </p:nvGrpSpPr>
      <p:grpSpPr>
        <a:xfrm>
          <a:off x="0" y="0"/>
          <a:ext cx="0" cy="0"/>
          <a:chOff x="0" y="0"/>
          <a:chExt cx="0" cy="0"/>
        </a:xfrm>
      </p:grpSpPr>
      <p:sp>
        <p:nvSpPr>
          <p:cNvPr id="81" name="Google Shape;81;p6"/>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82" name="Google Shape;82;p6"/>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83" name="Google Shape;83;p6"/>
          <p:cNvSpPr/>
          <p:nvPr/>
        </p:nvSpPr>
        <p:spPr>
          <a:xfrm>
            <a:off x="16558617" y="457200"/>
            <a:ext cx="891183"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03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84" name="Google Shape;84;p6"/>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85" name="Google Shape;85;p6"/>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What we'll cover today</a:t>
            </a:r>
            <a:endParaRPr b="0" i="0" sz="3900" u="none" cap="none" strike="noStrike">
              <a:solidFill>
                <a:schemeClr val="dk1"/>
              </a:solidFill>
              <a:latin typeface="Calibri"/>
              <a:ea typeface="Calibri"/>
              <a:cs typeface="Calibri"/>
              <a:sym typeface="Calibri"/>
            </a:endParaRPr>
          </a:p>
        </p:txBody>
      </p:sp>
      <p:sp>
        <p:nvSpPr>
          <p:cNvPr id="86" name="Google Shape;86;p6"/>
          <p:cNvSpPr/>
          <p:nvPr/>
        </p:nvSpPr>
        <p:spPr>
          <a:xfrm>
            <a:off x="914400" y="3429000"/>
            <a:ext cx="5232350" cy="4953000"/>
          </a:xfrm>
          <a:prstGeom prst="roundRect">
            <a:avLst>
              <a:gd fmla="val 1538"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1228725" y="3743325"/>
            <a:ext cx="871835" cy="655290"/>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214CB8"/>
              </a:buClr>
              <a:buSzPts val="5400"/>
              <a:buFont typeface="Play"/>
              <a:buNone/>
            </a:pPr>
            <a:r>
              <a:rPr b="1" i="0" lang="en-US" sz="5400" u="none" cap="none" strike="noStrike">
                <a:solidFill>
                  <a:srgbClr val="214CB8"/>
                </a:solidFill>
                <a:latin typeface="Play"/>
                <a:ea typeface="Play"/>
                <a:cs typeface="Play"/>
                <a:sym typeface="Play"/>
              </a:rPr>
              <a:t>01</a:t>
            </a:r>
            <a:endParaRPr b="0" i="0" sz="5400" u="none" cap="none" strike="noStrike">
              <a:solidFill>
                <a:schemeClr val="dk1"/>
              </a:solidFill>
              <a:latin typeface="Calibri"/>
              <a:ea typeface="Calibri"/>
              <a:cs typeface="Calibri"/>
              <a:sym typeface="Calibri"/>
            </a:endParaRPr>
          </a:p>
        </p:txBody>
      </p:sp>
      <p:sp>
        <p:nvSpPr>
          <p:cNvPr id="88" name="Google Shape;88;p6"/>
          <p:cNvSpPr/>
          <p:nvPr/>
        </p:nvSpPr>
        <p:spPr>
          <a:xfrm>
            <a:off x="2195810" y="4143375"/>
            <a:ext cx="974378"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PART 01</a:t>
            </a:r>
            <a:endParaRPr b="0" i="0" sz="1350" u="none" cap="none" strike="noStrike">
              <a:solidFill>
                <a:schemeClr val="dk1"/>
              </a:solidFill>
              <a:latin typeface="Calibri"/>
              <a:ea typeface="Calibri"/>
              <a:cs typeface="Calibri"/>
              <a:sym typeface="Calibri"/>
            </a:endParaRPr>
          </a:p>
        </p:txBody>
      </p:sp>
      <p:sp>
        <p:nvSpPr>
          <p:cNvPr id="89" name="Google Shape;89;p6"/>
          <p:cNvSpPr/>
          <p:nvPr/>
        </p:nvSpPr>
        <p:spPr>
          <a:xfrm>
            <a:off x="1228725" y="4531965"/>
            <a:ext cx="4741811" cy="38859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D2B3A"/>
              </a:buClr>
              <a:buSzPts val="2400"/>
              <a:buFont typeface="Play"/>
              <a:buNone/>
            </a:pPr>
            <a:r>
              <a:rPr b="1" i="0" lang="en-US" sz="2400" u="none" cap="none" strike="noStrike">
                <a:solidFill>
                  <a:srgbClr val="1D2B3A"/>
                </a:solidFill>
                <a:latin typeface="Play"/>
                <a:ea typeface="Play"/>
                <a:cs typeface="Play"/>
                <a:sym typeface="Play"/>
              </a:rPr>
              <a:t>RAG &amp; Embeddings</a:t>
            </a:r>
            <a:endParaRPr b="0" i="0" sz="2400" u="none" cap="none" strike="noStrike">
              <a:solidFill>
                <a:schemeClr val="dk1"/>
              </a:solidFill>
              <a:latin typeface="Calibri"/>
              <a:ea typeface="Calibri"/>
              <a:cs typeface="Calibri"/>
              <a:sym typeface="Calibri"/>
            </a:endParaRPr>
          </a:p>
        </p:txBody>
      </p:sp>
      <p:sp>
        <p:nvSpPr>
          <p:cNvPr id="90" name="Google Shape;90;p6"/>
          <p:cNvSpPr/>
          <p:nvPr/>
        </p:nvSpPr>
        <p:spPr>
          <a:xfrm>
            <a:off x="1228725" y="5053905"/>
            <a:ext cx="4741811" cy="1253133"/>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650"/>
              <a:buFont typeface="Inter"/>
              <a:buNone/>
            </a:pPr>
            <a:r>
              <a:rPr b="0" i="0" lang="en-US" sz="1650" u="none" cap="none" strike="noStrike">
                <a:solidFill>
                  <a:srgbClr val="1D2B3A"/>
                </a:solidFill>
                <a:latin typeface="Inter"/>
                <a:ea typeface="Inter"/>
                <a:cs typeface="Inter"/>
                <a:sym typeface="Inter"/>
              </a:rPr>
              <a:t>Why retrieval beats fine-tuning · the Retrieve-Augment-Generate loop · what an embedding actually is · why the embedding model is a one-way door · Qdrant in one paragraph.</a:t>
            </a:r>
            <a:endParaRPr b="0" i="0" sz="1650" u="none" cap="none" strike="noStrike">
              <a:solidFill>
                <a:schemeClr val="dk1"/>
              </a:solidFill>
              <a:latin typeface="Calibri"/>
              <a:ea typeface="Calibri"/>
              <a:cs typeface="Calibri"/>
              <a:sym typeface="Calibri"/>
            </a:endParaRPr>
          </a:p>
        </p:txBody>
      </p:sp>
      <p:sp>
        <p:nvSpPr>
          <p:cNvPr id="91" name="Google Shape;91;p6"/>
          <p:cNvSpPr/>
          <p:nvPr/>
        </p:nvSpPr>
        <p:spPr>
          <a:xfrm>
            <a:off x="6527750" y="3429000"/>
            <a:ext cx="5232350" cy="4953000"/>
          </a:xfrm>
          <a:prstGeom prst="roundRect">
            <a:avLst>
              <a:gd fmla="val 1538"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6842075" y="3743325"/>
            <a:ext cx="871835" cy="655290"/>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47B881"/>
              </a:buClr>
              <a:buSzPts val="5400"/>
              <a:buFont typeface="Play"/>
              <a:buNone/>
            </a:pPr>
            <a:r>
              <a:rPr b="1" i="0" lang="en-US" sz="5400" u="none" cap="none" strike="noStrike">
                <a:solidFill>
                  <a:srgbClr val="47B881"/>
                </a:solidFill>
                <a:latin typeface="Play"/>
                <a:ea typeface="Play"/>
                <a:cs typeface="Play"/>
                <a:sym typeface="Play"/>
              </a:rPr>
              <a:t>02</a:t>
            </a:r>
            <a:endParaRPr b="0" i="0" sz="5400" u="none" cap="none" strike="noStrike">
              <a:solidFill>
                <a:schemeClr val="dk1"/>
              </a:solidFill>
              <a:latin typeface="Calibri"/>
              <a:ea typeface="Calibri"/>
              <a:cs typeface="Calibri"/>
              <a:sym typeface="Calibri"/>
            </a:endParaRPr>
          </a:p>
        </p:txBody>
      </p:sp>
      <p:sp>
        <p:nvSpPr>
          <p:cNvPr id="93" name="Google Shape;93;p6"/>
          <p:cNvSpPr/>
          <p:nvPr/>
        </p:nvSpPr>
        <p:spPr>
          <a:xfrm>
            <a:off x="7809161" y="4143375"/>
            <a:ext cx="100845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PART 02</a:t>
            </a:r>
            <a:endParaRPr b="0" i="0" sz="1350" u="none" cap="none" strike="noStrike">
              <a:solidFill>
                <a:schemeClr val="dk1"/>
              </a:solidFill>
              <a:latin typeface="Calibri"/>
              <a:ea typeface="Calibri"/>
              <a:cs typeface="Calibri"/>
              <a:sym typeface="Calibri"/>
            </a:endParaRPr>
          </a:p>
        </p:txBody>
      </p:sp>
      <p:sp>
        <p:nvSpPr>
          <p:cNvPr id="94" name="Google Shape;94;p6"/>
          <p:cNvSpPr/>
          <p:nvPr/>
        </p:nvSpPr>
        <p:spPr>
          <a:xfrm>
            <a:off x="6842075" y="4531965"/>
            <a:ext cx="4741811" cy="38859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D2B3A"/>
              </a:buClr>
              <a:buSzPts val="2400"/>
              <a:buFont typeface="Play"/>
              <a:buNone/>
            </a:pPr>
            <a:r>
              <a:rPr b="1" i="0" lang="en-US" sz="2400" u="none" cap="none" strike="noStrike">
                <a:solidFill>
                  <a:srgbClr val="1D2B3A"/>
                </a:solidFill>
                <a:latin typeface="Play"/>
                <a:ea typeface="Play"/>
                <a:cs typeface="Play"/>
                <a:sym typeface="Play"/>
              </a:rPr>
              <a:t>Ingestion &amp; Search</a:t>
            </a:r>
            <a:endParaRPr b="0" i="0" sz="2400" u="none" cap="none" strike="noStrike">
              <a:solidFill>
                <a:schemeClr val="dk1"/>
              </a:solidFill>
              <a:latin typeface="Calibri"/>
              <a:ea typeface="Calibri"/>
              <a:cs typeface="Calibri"/>
              <a:sym typeface="Calibri"/>
            </a:endParaRPr>
          </a:p>
        </p:txBody>
      </p:sp>
      <p:sp>
        <p:nvSpPr>
          <p:cNvPr id="95" name="Google Shape;95;p6"/>
          <p:cNvSpPr/>
          <p:nvPr/>
        </p:nvSpPr>
        <p:spPr>
          <a:xfrm>
            <a:off x="6842075" y="5053905"/>
            <a:ext cx="4741811" cy="1253133"/>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650"/>
              <a:buFont typeface="Inter"/>
              <a:buNone/>
            </a:pPr>
            <a:r>
              <a:rPr b="0" i="0" lang="en-US" sz="1650" u="none" cap="none" strike="noStrike">
                <a:solidFill>
                  <a:srgbClr val="1D2B3A"/>
                </a:solidFill>
                <a:latin typeface="Inter"/>
                <a:ea typeface="Inter"/>
                <a:cs typeface="Inter"/>
                <a:sym typeface="Inter"/>
              </a:rPr>
              <a:t>The five-stage ingestion pipeline · chunking knobs that move quality · payload design · dense, sparse, hybrid, and filtered search · the production default.</a:t>
            </a:r>
            <a:endParaRPr b="0" i="0" sz="1650" u="none" cap="none" strike="noStrike">
              <a:solidFill>
                <a:schemeClr val="dk1"/>
              </a:solidFill>
              <a:latin typeface="Calibri"/>
              <a:ea typeface="Calibri"/>
              <a:cs typeface="Calibri"/>
              <a:sym typeface="Calibri"/>
            </a:endParaRPr>
          </a:p>
        </p:txBody>
      </p:sp>
      <p:sp>
        <p:nvSpPr>
          <p:cNvPr id="96" name="Google Shape;96;p6"/>
          <p:cNvSpPr/>
          <p:nvPr/>
        </p:nvSpPr>
        <p:spPr>
          <a:xfrm>
            <a:off x="12141101" y="3429000"/>
            <a:ext cx="5232350" cy="4953000"/>
          </a:xfrm>
          <a:prstGeom prst="roundRect">
            <a:avLst>
              <a:gd fmla="val 1538"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12455426" y="3743325"/>
            <a:ext cx="871835" cy="655290"/>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D49000"/>
              </a:buClr>
              <a:buSzPts val="5400"/>
              <a:buFont typeface="Play"/>
              <a:buNone/>
            </a:pPr>
            <a:r>
              <a:rPr b="1" i="0" lang="en-US" sz="5400" u="none" cap="none" strike="noStrike">
                <a:solidFill>
                  <a:srgbClr val="D49000"/>
                </a:solidFill>
                <a:latin typeface="Play"/>
                <a:ea typeface="Play"/>
                <a:cs typeface="Play"/>
                <a:sym typeface="Play"/>
              </a:rPr>
              <a:t>03</a:t>
            </a:r>
            <a:endParaRPr b="0" i="0" sz="5400" u="none" cap="none" strike="noStrike">
              <a:solidFill>
                <a:schemeClr val="dk1"/>
              </a:solidFill>
              <a:latin typeface="Calibri"/>
              <a:ea typeface="Calibri"/>
              <a:cs typeface="Calibri"/>
              <a:sym typeface="Calibri"/>
            </a:endParaRPr>
          </a:p>
        </p:txBody>
      </p:sp>
      <p:sp>
        <p:nvSpPr>
          <p:cNvPr id="98" name="Google Shape;98;p6"/>
          <p:cNvSpPr/>
          <p:nvPr/>
        </p:nvSpPr>
        <p:spPr>
          <a:xfrm>
            <a:off x="13422511" y="4143375"/>
            <a:ext cx="1011138"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PART 03</a:t>
            </a:r>
            <a:endParaRPr b="0" i="0" sz="1350" u="none" cap="none" strike="noStrike">
              <a:solidFill>
                <a:schemeClr val="dk1"/>
              </a:solidFill>
              <a:latin typeface="Calibri"/>
              <a:ea typeface="Calibri"/>
              <a:cs typeface="Calibri"/>
              <a:sym typeface="Calibri"/>
            </a:endParaRPr>
          </a:p>
        </p:txBody>
      </p:sp>
      <p:sp>
        <p:nvSpPr>
          <p:cNvPr id="99" name="Google Shape;99;p6"/>
          <p:cNvSpPr/>
          <p:nvPr/>
        </p:nvSpPr>
        <p:spPr>
          <a:xfrm>
            <a:off x="12455426" y="4531965"/>
            <a:ext cx="4741811" cy="38859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D2B3A"/>
              </a:buClr>
              <a:buSzPts val="2400"/>
              <a:buFont typeface="Play"/>
              <a:buNone/>
            </a:pPr>
            <a:r>
              <a:rPr b="1" i="0" lang="en-US" sz="2400" u="none" cap="none" strike="noStrike">
                <a:solidFill>
                  <a:srgbClr val="1D2B3A"/>
                </a:solidFill>
                <a:latin typeface="Play"/>
                <a:ea typeface="Play"/>
                <a:cs typeface="Play"/>
                <a:sym typeface="Play"/>
              </a:rPr>
              <a:t>LangGraph Chat</a:t>
            </a:r>
            <a:endParaRPr b="0" i="0" sz="2400" u="none" cap="none" strike="noStrike">
              <a:solidFill>
                <a:schemeClr val="dk1"/>
              </a:solidFill>
              <a:latin typeface="Calibri"/>
              <a:ea typeface="Calibri"/>
              <a:cs typeface="Calibri"/>
              <a:sym typeface="Calibri"/>
            </a:endParaRPr>
          </a:p>
        </p:txBody>
      </p:sp>
      <p:sp>
        <p:nvSpPr>
          <p:cNvPr id="100" name="Google Shape;100;p6"/>
          <p:cNvSpPr/>
          <p:nvPr/>
        </p:nvSpPr>
        <p:spPr>
          <a:xfrm>
            <a:off x="12455426" y="5053905"/>
            <a:ext cx="4741811" cy="1253133"/>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650"/>
              <a:buFont typeface="Inter"/>
              <a:buNone/>
            </a:pPr>
            <a:r>
              <a:rPr b="0" i="0" lang="en-US" sz="1650" u="none" cap="none" strike="noStrike">
                <a:solidFill>
                  <a:srgbClr val="1D2B3A"/>
                </a:solidFill>
                <a:latin typeface="Inter"/>
                <a:ea typeface="Inter"/>
                <a:cs typeface="Inter"/>
                <a:sym typeface="Inter"/>
              </a:rPr>
              <a:t>State, nodes, conditional edges · the rewrite-retrieve-grade-generate loop · compile and invoke · streaming the final node back through FastAPI.</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033"/>
        </a:solidFill>
      </p:bgPr>
    </p:bg>
    <p:spTree>
      <p:nvGrpSpPr>
        <p:cNvPr id="105" name="Shape 105"/>
        <p:cNvGrpSpPr/>
        <p:nvPr/>
      </p:nvGrpSpPr>
      <p:grpSpPr>
        <a:xfrm>
          <a:off x="0" y="0"/>
          <a:ext cx="0" cy="0"/>
          <a:chOff x="0" y="0"/>
          <a:chExt cx="0" cy="0"/>
        </a:xfrm>
      </p:grpSpPr>
      <p:sp>
        <p:nvSpPr>
          <p:cNvPr id="106" name="Google Shape;106;p7"/>
          <p:cNvSpPr/>
          <p:nvPr/>
        </p:nvSpPr>
        <p:spPr>
          <a:xfrm>
            <a:off x="914400" y="2667000"/>
            <a:ext cx="5702400" cy="3969900"/>
          </a:xfrm>
          <a:prstGeom prst="rect">
            <a:avLst/>
          </a:prstGeom>
          <a:noFill/>
          <a:ln>
            <a:noFill/>
          </a:ln>
        </p:spPr>
        <p:txBody>
          <a:bodyPr anchorCtr="0" anchor="t" bIns="25400" lIns="25400" spcFirstLastPara="1" rIns="25400" wrap="square" tIns="25400">
            <a:noAutofit/>
          </a:bodyPr>
          <a:lstStyle/>
          <a:p>
            <a:pPr indent="0" lvl="0" marL="0" marR="0" rtl="0" algn="l">
              <a:lnSpc>
                <a:spcPct val="86000"/>
              </a:lnSpc>
              <a:spcBef>
                <a:spcPts val="0"/>
              </a:spcBef>
              <a:spcAft>
                <a:spcPts val="0"/>
              </a:spcAft>
              <a:buClr>
                <a:srgbClr val="FFFFFF"/>
              </a:buClr>
              <a:buSzPts val="36000"/>
              <a:buFont typeface="Play"/>
              <a:buNone/>
            </a:pPr>
            <a:r>
              <a:rPr b="1" i="0" lang="en-US" sz="36000" u="none" cap="none" strike="noStrike">
                <a:solidFill>
                  <a:srgbClr val="FFFFFF"/>
                </a:solidFill>
                <a:latin typeface="Play"/>
                <a:ea typeface="Play"/>
                <a:cs typeface="Play"/>
                <a:sym typeface="Play"/>
              </a:rPr>
              <a:t>01</a:t>
            </a:r>
            <a:endParaRPr b="0" i="0" sz="36000" u="none" cap="none" strike="noStrike">
              <a:solidFill>
                <a:schemeClr val="dk1"/>
              </a:solidFill>
              <a:latin typeface="Calibri"/>
              <a:ea typeface="Calibri"/>
              <a:cs typeface="Calibri"/>
              <a:sym typeface="Calibri"/>
            </a:endParaRPr>
          </a:p>
        </p:txBody>
      </p:sp>
      <p:sp>
        <p:nvSpPr>
          <p:cNvPr id="107" name="Google Shape;107;p7"/>
          <p:cNvSpPr/>
          <p:nvPr/>
        </p:nvSpPr>
        <p:spPr>
          <a:xfrm>
            <a:off x="7239000" y="3619500"/>
            <a:ext cx="10438638"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PART 01</a:t>
            </a:r>
            <a:endParaRPr b="0" i="0" sz="1650" u="none" cap="none" strike="noStrike">
              <a:solidFill>
                <a:schemeClr val="dk1"/>
              </a:solidFill>
              <a:latin typeface="Calibri"/>
              <a:ea typeface="Calibri"/>
              <a:cs typeface="Calibri"/>
              <a:sym typeface="Calibri"/>
            </a:endParaRPr>
          </a:p>
        </p:txBody>
      </p:sp>
      <p:sp>
        <p:nvSpPr>
          <p:cNvPr id="108" name="Google Shape;108;p7"/>
          <p:cNvSpPr/>
          <p:nvPr/>
        </p:nvSpPr>
        <p:spPr>
          <a:xfrm>
            <a:off x="7239000" y="4057650"/>
            <a:ext cx="10438638" cy="918121"/>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FFFFFF"/>
              </a:buClr>
              <a:buSzPts val="6600"/>
              <a:buFont typeface="Play"/>
              <a:buNone/>
            </a:pPr>
            <a:r>
              <a:rPr b="1" i="0" lang="en-US" sz="6600" u="none" cap="none" strike="noStrike">
                <a:solidFill>
                  <a:srgbClr val="FFFFFF"/>
                </a:solidFill>
                <a:latin typeface="Play"/>
                <a:ea typeface="Play"/>
                <a:cs typeface="Play"/>
                <a:sym typeface="Play"/>
              </a:rPr>
              <a:t>RAG &amp; Embeddings</a:t>
            </a:r>
            <a:endParaRPr b="0" i="0" sz="6600" u="none" cap="none" strike="noStrike">
              <a:solidFill>
                <a:schemeClr val="dk1"/>
              </a:solidFill>
              <a:latin typeface="Calibri"/>
              <a:ea typeface="Calibri"/>
              <a:cs typeface="Calibri"/>
              <a:sym typeface="Calibri"/>
            </a:endParaRPr>
          </a:p>
        </p:txBody>
      </p:sp>
      <p:sp>
        <p:nvSpPr>
          <p:cNvPr id="109" name="Google Shape;109;p7"/>
          <p:cNvSpPr/>
          <p:nvPr/>
        </p:nvSpPr>
        <p:spPr>
          <a:xfrm>
            <a:off x="7239000" y="5242471"/>
            <a:ext cx="8241030" cy="86677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C7D3DD"/>
              </a:buClr>
              <a:buSzPts val="2250"/>
              <a:buFont typeface="Inter"/>
              <a:buNone/>
            </a:pPr>
            <a:r>
              <a:rPr b="0" i="0" lang="en-US" sz="2250" u="none" cap="none" strike="noStrike">
                <a:solidFill>
                  <a:srgbClr val="C7D3DD"/>
                </a:solidFill>
                <a:latin typeface="Inter"/>
                <a:ea typeface="Inter"/>
                <a:cs typeface="Inter"/>
                <a:sym typeface="Inter"/>
              </a:rPr>
              <a:t>The model doesn't know your data. Retrieval gives it a memory you control.</a:t>
            </a:r>
            <a:endParaRPr b="0" i="0" sz="2250" u="none" cap="none" strike="noStrike">
              <a:solidFill>
                <a:schemeClr val="dk1"/>
              </a:solidFill>
              <a:latin typeface="Calibri"/>
              <a:ea typeface="Calibri"/>
              <a:cs typeface="Calibri"/>
              <a:sym typeface="Calibri"/>
            </a:endParaRPr>
          </a:p>
        </p:txBody>
      </p:sp>
      <p:sp>
        <p:nvSpPr>
          <p:cNvPr id="110" name="Google Shape;110;p7"/>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FA0AF"/>
              </a:buClr>
              <a:buSzPts val="1650"/>
              <a:buFont typeface="Inter"/>
              <a:buNone/>
            </a:pPr>
            <a:r>
              <a:rPr b="0" i="0" lang="en-US" sz="1650" u="none" cap="none" strike="noStrike">
                <a:solidFill>
                  <a:srgbClr val="8FA0AF"/>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111" name="Google Shape;111;p7"/>
          <p:cNvSpPr/>
          <p:nvPr/>
        </p:nvSpPr>
        <p:spPr>
          <a:xfrm>
            <a:off x="16552218" y="457200"/>
            <a:ext cx="897582"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1650"/>
              <a:buFont typeface="Inter"/>
              <a:buNone/>
            </a:pPr>
            <a:r>
              <a:rPr b="1" i="0" lang="en-US" sz="1650" u="none" cap="none" strike="noStrike">
                <a:solidFill>
                  <a:srgbClr val="FFFFFF"/>
                </a:solidFill>
                <a:latin typeface="Inter"/>
                <a:ea typeface="Inter"/>
                <a:cs typeface="Inter"/>
                <a:sym typeface="Inter"/>
              </a:rPr>
              <a:t>04 </a:t>
            </a:r>
            <a:r>
              <a:rPr b="0" i="0" lang="en-US" sz="1650" u="none" cap="none" strike="noStrike">
                <a:solidFill>
                  <a:srgbClr val="8FA0AF"/>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116" name="Shape 116"/>
        <p:cNvGrpSpPr/>
        <p:nvPr/>
      </p:nvGrpSpPr>
      <p:grpSpPr>
        <a:xfrm>
          <a:off x="0" y="0"/>
          <a:ext cx="0" cy="0"/>
          <a:chOff x="0" y="0"/>
          <a:chExt cx="0" cy="0"/>
        </a:xfrm>
      </p:grpSpPr>
      <p:sp>
        <p:nvSpPr>
          <p:cNvPr id="117" name="Google Shape;117;p8"/>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118" name="Google Shape;118;p8"/>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119" name="Google Shape;119;p8"/>
          <p:cNvSpPr/>
          <p:nvPr/>
        </p:nvSpPr>
        <p:spPr>
          <a:xfrm>
            <a:off x="16563529" y="457200"/>
            <a:ext cx="88627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05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120" name="Google Shape;120;p8"/>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121" name="Google Shape;121;p8"/>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The model doesn't know your data</a:t>
            </a:r>
            <a:endParaRPr b="0" i="0" sz="3900" u="none" cap="none" strike="noStrike">
              <a:solidFill>
                <a:schemeClr val="dk1"/>
              </a:solidFill>
              <a:latin typeface="Calibri"/>
              <a:ea typeface="Calibri"/>
              <a:cs typeface="Calibri"/>
              <a:sym typeface="Calibri"/>
            </a:endParaRPr>
          </a:p>
        </p:txBody>
      </p:sp>
      <p:sp>
        <p:nvSpPr>
          <p:cNvPr id="122" name="Google Shape;122;p8"/>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RAG is the cheap fix — no retraining, knowledge you can update in seconds, citations you can audit.</a:t>
            </a:r>
            <a:endParaRPr b="0" i="0" sz="2100" u="none" cap="none" strike="noStrike">
              <a:solidFill>
                <a:schemeClr val="dk1"/>
              </a:solidFill>
              <a:latin typeface="Calibri"/>
              <a:ea typeface="Calibri"/>
              <a:cs typeface="Calibri"/>
              <a:sym typeface="Calibri"/>
            </a:endParaRPr>
          </a:p>
        </p:txBody>
      </p:sp>
      <p:sp>
        <p:nvSpPr>
          <p:cNvPr id="123" name="Google Shape;123;p8"/>
          <p:cNvSpPr/>
          <p:nvPr/>
        </p:nvSpPr>
        <p:spPr>
          <a:xfrm>
            <a:off x="914400" y="3619500"/>
            <a:ext cx="8001000" cy="2780705"/>
          </a:xfrm>
          <a:prstGeom prst="roundRect">
            <a:avLst>
              <a:gd fmla="val 2740" name="adj"/>
            </a:avLst>
          </a:prstGeom>
          <a:solidFill>
            <a:srgbClr val="D49000">
              <a:alpha val="3921"/>
            </a:srgbClr>
          </a:solidFill>
          <a:ln cap="flat" cmpd="sng" w="9525">
            <a:solidFill>
              <a:srgbClr val="D49000"/>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1228725" y="3933825"/>
            <a:ext cx="759352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FINE-TUNING</a:t>
            </a:r>
            <a:endParaRPr b="0" i="0" sz="1350" u="none" cap="none" strike="noStrike">
              <a:solidFill>
                <a:schemeClr val="dk1"/>
              </a:solidFill>
              <a:latin typeface="Calibri"/>
              <a:ea typeface="Calibri"/>
              <a:cs typeface="Calibri"/>
              <a:sym typeface="Calibri"/>
            </a:endParaRPr>
          </a:p>
        </p:txBody>
      </p:sp>
      <p:sp>
        <p:nvSpPr>
          <p:cNvPr id="125" name="Google Shape;125;p8"/>
          <p:cNvSpPr/>
          <p:nvPr/>
        </p:nvSpPr>
        <p:spPr>
          <a:xfrm>
            <a:off x="1297305" y="4314825"/>
            <a:ext cx="7518083" cy="392311"/>
          </a:xfrm>
          <a:prstGeom prst="rect">
            <a:avLst/>
          </a:prstGeom>
          <a:noFill/>
          <a:ln>
            <a:noFill/>
          </a:ln>
        </p:spPr>
        <p:txBody>
          <a:bodyPr anchorCtr="0" anchor="t" bIns="25400" lIns="25400" spcFirstLastPara="1" rIns="25400" wrap="square" tIns="25400">
            <a:noAutofit/>
          </a:bodyPr>
          <a:lstStyle/>
          <a:p>
            <a:pPr indent="-160020" lvl="0" marL="160020" marR="0" rtl="0" algn="l">
              <a:lnSpc>
                <a:spcPct val="155000"/>
              </a:lnSpc>
              <a:spcBef>
                <a:spcPts val="0"/>
              </a:spcBef>
              <a:spcAft>
                <a:spcPts val="0"/>
              </a:spcAft>
              <a:buClr>
                <a:srgbClr val="1D2B3A"/>
              </a:buClr>
              <a:buSzPts val="1800"/>
              <a:buFont typeface="Inter"/>
              <a:buChar char="•"/>
            </a:pPr>
            <a:r>
              <a:rPr b="0" i="0" lang="en-US" sz="1800" u="none" cap="none" strike="noStrike">
                <a:solidFill>
                  <a:srgbClr val="1D2B3A"/>
                </a:solidFill>
                <a:latin typeface="Inter"/>
                <a:ea typeface="Inter"/>
                <a:cs typeface="Inter"/>
                <a:sym typeface="Inter"/>
              </a:rPr>
              <a:t>Bakes facts into model weights</a:t>
            </a:r>
            <a:endParaRPr b="0" i="0" sz="1800" u="none" cap="none" strike="noStrike">
              <a:solidFill>
                <a:schemeClr val="dk1"/>
              </a:solidFill>
              <a:latin typeface="Calibri"/>
              <a:ea typeface="Calibri"/>
              <a:cs typeface="Calibri"/>
              <a:sym typeface="Calibri"/>
            </a:endParaRPr>
          </a:p>
        </p:txBody>
      </p:sp>
      <p:sp>
        <p:nvSpPr>
          <p:cNvPr id="126" name="Google Shape;126;p8"/>
          <p:cNvSpPr/>
          <p:nvPr/>
        </p:nvSpPr>
        <p:spPr>
          <a:xfrm>
            <a:off x="1297305" y="4669036"/>
            <a:ext cx="7518083" cy="392311"/>
          </a:xfrm>
          <a:prstGeom prst="rect">
            <a:avLst/>
          </a:prstGeom>
          <a:noFill/>
          <a:ln>
            <a:noFill/>
          </a:ln>
        </p:spPr>
        <p:txBody>
          <a:bodyPr anchorCtr="0" anchor="t" bIns="25400" lIns="25400" spcFirstLastPara="1" rIns="25400" wrap="square" tIns="25400">
            <a:noAutofit/>
          </a:bodyPr>
          <a:lstStyle/>
          <a:p>
            <a:pPr indent="-160020" lvl="0" marL="160020" marR="0" rtl="0" algn="l">
              <a:lnSpc>
                <a:spcPct val="155000"/>
              </a:lnSpc>
              <a:spcBef>
                <a:spcPts val="0"/>
              </a:spcBef>
              <a:spcAft>
                <a:spcPts val="0"/>
              </a:spcAft>
              <a:buClr>
                <a:srgbClr val="1D2B3A"/>
              </a:buClr>
              <a:buSzPts val="1800"/>
              <a:buFont typeface="Inter"/>
              <a:buChar char="•"/>
            </a:pPr>
            <a:r>
              <a:rPr b="0" i="0" lang="en-US" sz="1800" u="none" cap="none" strike="noStrike">
                <a:solidFill>
                  <a:srgbClr val="1D2B3A"/>
                </a:solidFill>
                <a:latin typeface="Inter"/>
                <a:ea typeface="Inter"/>
                <a:cs typeface="Inter"/>
                <a:sym typeface="Inter"/>
              </a:rPr>
              <a:t>Hours to days per update — and a GPU bill</a:t>
            </a:r>
            <a:endParaRPr b="0" i="0" sz="1800" u="none" cap="none" strike="noStrike">
              <a:solidFill>
                <a:schemeClr val="dk1"/>
              </a:solidFill>
              <a:latin typeface="Calibri"/>
              <a:ea typeface="Calibri"/>
              <a:cs typeface="Calibri"/>
              <a:sym typeface="Calibri"/>
            </a:endParaRPr>
          </a:p>
        </p:txBody>
      </p:sp>
      <p:sp>
        <p:nvSpPr>
          <p:cNvPr id="127" name="Google Shape;127;p8"/>
          <p:cNvSpPr/>
          <p:nvPr/>
        </p:nvSpPr>
        <p:spPr>
          <a:xfrm>
            <a:off x="1297305" y="5023247"/>
            <a:ext cx="7518083" cy="392311"/>
          </a:xfrm>
          <a:prstGeom prst="rect">
            <a:avLst/>
          </a:prstGeom>
          <a:noFill/>
          <a:ln>
            <a:noFill/>
          </a:ln>
        </p:spPr>
        <p:txBody>
          <a:bodyPr anchorCtr="0" anchor="t" bIns="25400" lIns="25400" spcFirstLastPara="1" rIns="25400" wrap="square" tIns="25400">
            <a:noAutofit/>
          </a:bodyPr>
          <a:lstStyle/>
          <a:p>
            <a:pPr indent="-160020" lvl="0" marL="160020" marR="0" rtl="0" algn="l">
              <a:lnSpc>
                <a:spcPct val="155000"/>
              </a:lnSpc>
              <a:spcBef>
                <a:spcPts val="0"/>
              </a:spcBef>
              <a:spcAft>
                <a:spcPts val="0"/>
              </a:spcAft>
              <a:buClr>
                <a:srgbClr val="1D2B3A"/>
              </a:buClr>
              <a:buSzPts val="1800"/>
              <a:buFont typeface="Inter"/>
              <a:buChar char="•"/>
            </a:pPr>
            <a:r>
              <a:rPr b="0" i="0" lang="en-US" sz="1800" u="none" cap="none" strike="noStrike">
                <a:solidFill>
                  <a:srgbClr val="1D2B3A"/>
                </a:solidFill>
                <a:latin typeface="Inter"/>
                <a:ea typeface="Inter"/>
                <a:cs typeface="Inter"/>
                <a:sym typeface="Inter"/>
              </a:rPr>
              <a:t>Drift is invisible until a user catches it</a:t>
            </a:r>
            <a:endParaRPr b="0" i="0" sz="1800" u="none" cap="none" strike="noStrike">
              <a:solidFill>
                <a:schemeClr val="dk1"/>
              </a:solidFill>
              <a:latin typeface="Calibri"/>
              <a:ea typeface="Calibri"/>
              <a:cs typeface="Calibri"/>
              <a:sym typeface="Calibri"/>
            </a:endParaRPr>
          </a:p>
        </p:txBody>
      </p:sp>
      <p:sp>
        <p:nvSpPr>
          <p:cNvPr id="128" name="Google Shape;128;p8"/>
          <p:cNvSpPr/>
          <p:nvPr/>
        </p:nvSpPr>
        <p:spPr>
          <a:xfrm>
            <a:off x="1297305" y="5377458"/>
            <a:ext cx="7518083" cy="392311"/>
          </a:xfrm>
          <a:prstGeom prst="rect">
            <a:avLst/>
          </a:prstGeom>
          <a:noFill/>
          <a:ln>
            <a:noFill/>
          </a:ln>
        </p:spPr>
        <p:txBody>
          <a:bodyPr anchorCtr="0" anchor="t" bIns="25400" lIns="25400" spcFirstLastPara="1" rIns="25400" wrap="square" tIns="25400">
            <a:noAutofit/>
          </a:bodyPr>
          <a:lstStyle/>
          <a:p>
            <a:pPr indent="0" lvl="0" marL="0" marR="0" rtl="0" algn="l">
              <a:lnSpc>
                <a:spcPct val="15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No citations — can't show </a:t>
            </a:r>
            <a:r>
              <a:rPr b="0" i="1" lang="en-US" sz="1800" u="none" cap="none" strike="noStrike">
                <a:solidFill>
                  <a:srgbClr val="1D2B3A"/>
                </a:solidFill>
                <a:latin typeface="Inter"/>
                <a:ea typeface="Inter"/>
                <a:cs typeface="Inter"/>
                <a:sym typeface="Inter"/>
              </a:rPr>
              <a:t>where </a:t>
            </a:r>
            <a:r>
              <a:rPr b="0" i="0" lang="en-US" sz="1800" u="none" cap="none" strike="noStrike">
                <a:solidFill>
                  <a:srgbClr val="1D2B3A"/>
                </a:solidFill>
                <a:latin typeface="Inter"/>
                <a:ea typeface="Inter"/>
                <a:cs typeface="Inter"/>
                <a:sym typeface="Inter"/>
              </a:rPr>
              <a:t>an answer came from</a:t>
            </a:r>
            <a:endParaRPr b="0" i="0" sz="1800" u="none" cap="none" strike="noStrike">
              <a:solidFill>
                <a:schemeClr val="dk1"/>
              </a:solidFill>
              <a:latin typeface="Calibri"/>
              <a:ea typeface="Calibri"/>
              <a:cs typeface="Calibri"/>
              <a:sym typeface="Calibri"/>
            </a:endParaRPr>
          </a:p>
        </p:txBody>
      </p:sp>
      <p:sp>
        <p:nvSpPr>
          <p:cNvPr id="129" name="Google Shape;129;p8"/>
          <p:cNvSpPr/>
          <p:nvPr/>
        </p:nvSpPr>
        <p:spPr>
          <a:xfrm>
            <a:off x="1297305" y="5731669"/>
            <a:ext cx="7518083" cy="392311"/>
          </a:xfrm>
          <a:prstGeom prst="rect">
            <a:avLst/>
          </a:prstGeom>
          <a:noFill/>
          <a:ln>
            <a:noFill/>
          </a:ln>
        </p:spPr>
        <p:txBody>
          <a:bodyPr anchorCtr="0" anchor="t" bIns="25400" lIns="25400" spcFirstLastPara="1" rIns="25400" wrap="square" tIns="25400">
            <a:noAutofit/>
          </a:bodyPr>
          <a:lstStyle/>
          <a:p>
            <a:pPr indent="0" lvl="0" marL="0" marR="0" rtl="0" algn="l">
              <a:lnSpc>
                <a:spcPct val="15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Best for </a:t>
            </a:r>
            <a:r>
              <a:rPr b="0" i="1" lang="en-US" sz="1800" u="none" cap="none" strike="noStrike">
                <a:solidFill>
                  <a:srgbClr val="1D2B3A"/>
                </a:solidFill>
                <a:latin typeface="Inter"/>
                <a:ea typeface="Inter"/>
                <a:cs typeface="Inter"/>
                <a:sym typeface="Inter"/>
              </a:rPr>
              <a:t>style and format</a:t>
            </a:r>
            <a:r>
              <a:rPr b="0" i="0" lang="en-US" sz="1800" u="none" cap="none" strike="noStrike">
                <a:solidFill>
                  <a:srgbClr val="1D2B3A"/>
                </a:solidFill>
                <a:latin typeface="Inter"/>
                <a:ea typeface="Inter"/>
                <a:cs typeface="Inter"/>
                <a:sym typeface="Inter"/>
              </a:rPr>
              <a:t>, not facts</a:t>
            </a:r>
            <a:endParaRPr b="0" i="0" sz="1800" u="none" cap="none" strike="noStrike">
              <a:solidFill>
                <a:schemeClr val="dk1"/>
              </a:solidFill>
              <a:latin typeface="Calibri"/>
              <a:ea typeface="Calibri"/>
              <a:cs typeface="Calibri"/>
              <a:sym typeface="Calibri"/>
            </a:endParaRPr>
          </a:p>
        </p:txBody>
      </p:sp>
      <p:sp>
        <p:nvSpPr>
          <p:cNvPr id="130" name="Google Shape;130;p8"/>
          <p:cNvSpPr/>
          <p:nvPr/>
        </p:nvSpPr>
        <p:spPr>
          <a:xfrm>
            <a:off x="9372600" y="3619500"/>
            <a:ext cx="8001000" cy="2780705"/>
          </a:xfrm>
          <a:prstGeom prst="roundRect">
            <a:avLst>
              <a:gd fmla="val 2740" name="adj"/>
            </a:avLst>
          </a:prstGeom>
          <a:solidFill>
            <a:srgbClr val="47B881">
              <a:alpha val="3921"/>
            </a:srgbClr>
          </a:solidFill>
          <a:ln cap="flat" cmpd="sng" w="9525">
            <a:solidFill>
              <a:srgbClr val="47B881"/>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9686925" y="3933825"/>
            <a:ext cx="759352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RAG</a:t>
            </a:r>
            <a:endParaRPr b="0" i="0" sz="1350" u="none" cap="none" strike="noStrike">
              <a:solidFill>
                <a:schemeClr val="dk1"/>
              </a:solidFill>
              <a:latin typeface="Calibri"/>
              <a:ea typeface="Calibri"/>
              <a:cs typeface="Calibri"/>
              <a:sym typeface="Calibri"/>
            </a:endParaRPr>
          </a:p>
        </p:txBody>
      </p:sp>
      <p:sp>
        <p:nvSpPr>
          <p:cNvPr id="132" name="Google Shape;132;p8"/>
          <p:cNvSpPr/>
          <p:nvPr/>
        </p:nvSpPr>
        <p:spPr>
          <a:xfrm>
            <a:off x="9755505" y="4314825"/>
            <a:ext cx="7518083" cy="392311"/>
          </a:xfrm>
          <a:prstGeom prst="rect">
            <a:avLst/>
          </a:prstGeom>
          <a:noFill/>
          <a:ln>
            <a:noFill/>
          </a:ln>
        </p:spPr>
        <p:txBody>
          <a:bodyPr anchorCtr="0" anchor="t" bIns="25400" lIns="25400" spcFirstLastPara="1" rIns="25400" wrap="square" tIns="25400">
            <a:noAutofit/>
          </a:bodyPr>
          <a:lstStyle/>
          <a:p>
            <a:pPr indent="-160020" lvl="0" marL="160020" marR="0" rtl="0" algn="l">
              <a:lnSpc>
                <a:spcPct val="155000"/>
              </a:lnSpc>
              <a:spcBef>
                <a:spcPts val="0"/>
              </a:spcBef>
              <a:spcAft>
                <a:spcPts val="0"/>
              </a:spcAft>
              <a:buClr>
                <a:srgbClr val="1D2B3A"/>
              </a:buClr>
              <a:buSzPts val="1800"/>
              <a:buFont typeface="Inter"/>
              <a:buChar char="•"/>
            </a:pPr>
            <a:r>
              <a:rPr b="0" i="0" lang="en-US" sz="1800" u="none" cap="none" strike="noStrike">
                <a:solidFill>
                  <a:srgbClr val="1D2B3A"/>
                </a:solidFill>
                <a:latin typeface="Inter"/>
                <a:ea typeface="Inter"/>
                <a:cs typeface="Inter"/>
                <a:sym typeface="Inter"/>
              </a:rPr>
              <a:t>Knowledge lives in a database, not weights</a:t>
            </a:r>
            <a:endParaRPr b="0" i="0" sz="1800" u="none" cap="none" strike="noStrike">
              <a:solidFill>
                <a:schemeClr val="dk1"/>
              </a:solidFill>
              <a:latin typeface="Calibri"/>
              <a:ea typeface="Calibri"/>
              <a:cs typeface="Calibri"/>
              <a:sym typeface="Calibri"/>
            </a:endParaRPr>
          </a:p>
        </p:txBody>
      </p:sp>
      <p:sp>
        <p:nvSpPr>
          <p:cNvPr id="133" name="Google Shape;133;p8"/>
          <p:cNvSpPr/>
          <p:nvPr/>
        </p:nvSpPr>
        <p:spPr>
          <a:xfrm>
            <a:off x="9755505" y="4669036"/>
            <a:ext cx="7518083" cy="392311"/>
          </a:xfrm>
          <a:prstGeom prst="rect">
            <a:avLst/>
          </a:prstGeom>
          <a:noFill/>
          <a:ln>
            <a:noFill/>
          </a:ln>
        </p:spPr>
        <p:txBody>
          <a:bodyPr anchorCtr="0" anchor="t" bIns="25400" lIns="25400" spcFirstLastPara="1" rIns="25400" wrap="square" tIns="25400">
            <a:noAutofit/>
          </a:bodyPr>
          <a:lstStyle/>
          <a:p>
            <a:pPr indent="0" lvl="0" marL="0" marR="0" rtl="0" algn="l">
              <a:lnSpc>
                <a:spcPct val="15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Update </a:t>
            </a:r>
            <a:r>
              <a:rPr b="0" i="0" lang="en-US" sz="1800" u="none" cap="none" strike="noStrike">
                <a:solidFill>
                  <a:srgbClr val="1D2B3A"/>
                </a:solidFill>
                <a:highlight>
                  <a:srgbClr val="E8E2D4"/>
                </a:highlight>
                <a:latin typeface="JetBrains Mono"/>
                <a:ea typeface="JetBrains Mono"/>
                <a:cs typeface="JetBrains Mono"/>
                <a:sym typeface="JetBrains Mono"/>
              </a:rPr>
              <a:t>UPSERT </a:t>
            </a:r>
            <a:r>
              <a:rPr b="0" i="0" lang="en-US" sz="1800" u="none" cap="none" strike="noStrike">
                <a:solidFill>
                  <a:srgbClr val="1D2B3A"/>
                </a:solidFill>
                <a:latin typeface="Inter"/>
                <a:ea typeface="Inter"/>
                <a:cs typeface="Inter"/>
                <a:sym typeface="Inter"/>
              </a:rPr>
              <a:t>a row — done in milliseconds</a:t>
            </a:r>
            <a:endParaRPr b="0" i="0" sz="1800" u="none" cap="none" strike="noStrike">
              <a:solidFill>
                <a:schemeClr val="dk1"/>
              </a:solidFill>
              <a:latin typeface="Calibri"/>
              <a:ea typeface="Calibri"/>
              <a:cs typeface="Calibri"/>
              <a:sym typeface="Calibri"/>
            </a:endParaRPr>
          </a:p>
        </p:txBody>
      </p:sp>
      <p:sp>
        <p:nvSpPr>
          <p:cNvPr id="134" name="Google Shape;134;p8"/>
          <p:cNvSpPr/>
          <p:nvPr/>
        </p:nvSpPr>
        <p:spPr>
          <a:xfrm>
            <a:off x="9755505" y="5023247"/>
            <a:ext cx="7518083" cy="392311"/>
          </a:xfrm>
          <a:prstGeom prst="rect">
            <a:avLst/>
          </a:prstGeom>
          <a:noFill/>
          <a:ln>
            <a:noFill/>
          </a:ln>
        </p:spPr>
        <p:txBody>
          <a:bodyPr anchorCtr="0" anchor="t" bIns="25400" lIns="25400" spcFirstLastPara="1" rIns="25400" wrap="square" tIns="25400">
            <a:noAutofit/>
          </a:bodyPr>
          <a:lstStyle/>
          <a:p>
            <a:pPr indent="-160020" lvl="0" marL="160020" marR="0" rtl="0" algn="l">
              <a:lnSpc>
                <a:spcPct val="155000"/>
              </a:lnSpc>
              <a:spcBef>
                <a:spcPts val="0"/>
              </a:spcBef>
              <a:spcAft>
                <a:spcPts val="0"/>
              </a:spcAft>
              <a:buClr>
                <a:srgbClr val="1D2B3A"/>
              </a:buClr>
              <a:buSzPts val="1800"/>
              <a:buFont typeface="Inter"/>
              <a:buChar char="•"/>
            </a:pPr>
            <a:r>
              <a:rPr b="0" i="0" lang="en-US" sz="1800" u="none" cap="none" strike="noStrike">
                <a:solidFill>
                  <a:srgbClr val="1D2B3A"/>
                </a:solidFill>
                <a:latin typeface="Inter"/>
                <a:ea typeface="Inter"/>
                <a:cs typeface="Inter"/>
                <a:sym typeface="Inter"/>
              </a:rPr>
              <a:t>Every answer cites the chunks it used</a:t>
            </a:r>
            <a:endParaRPr b="0" i="0" sz="1800" u="none" cap="none" strike="noStrike">
              <a:solidFill>
                <a:schemeClr val="dk1"/>
              </a:solidFill>
              <a:latin typeface="Calibri"/>
              <a:ea typeface="Calibri"/>
              <a:cs typeface="Calibri"/>
              <a:sym typeface="Calibri"/>
            </a:endParaRPr>
          </a:p>
        </p:txBody>
      </p:sp>
      <p:sp>
        <p:nvSpPr>
          <p:cNvPr id="135" name="Google Shape;135;p8"/>
          <p:cNvSpPr/>
          <p:nvPr/>
        </p:nvSpPr>
        <p:spPr>
          <a:xfrm>
            <a:off x="9755505" y="5377458"/>
            <a:ext cx="7518083" cy="392311"/>
          </a:xfrm>
          <a:prstGeom prst="rect">
            <a:avLst/>
          </a:prstGeom>
          <a:noFill/>
          <a:ln>
            <a:noFill/>
          </a:ln>
        </p:spPr>
        <p:txBody>
          <a:bodyPr anchorCtr="0" anchor="t" bIns="25400" lIns="25400" spcFirstLastPara="1" rIns="25400" wrap="square" tIns="25400">
            <a:noAutofit/>
          </a:bodyPr>
          <a:lstStyle/>
          <a:p>
            <a:pPr indent="-160020" lvl="0" marL="160020" marR="0" rtl="0" algn="l">
              <a:lnSpc>
                <a:spcPct val="155000"/>
              </a:lnSpc>
              <a:spcBef>
                <a:spcPts val="0"/>
              </a:spcBef>
              <a:spcAft>
                <a:spcPts val="0"/>
              </a:spcAft>
              <a:buClr>
                <a:srgbClr val="1D2B3A"/>
              </a:buClr>
              <a:buSzPts val="1800"/>
              <a:buFont typeface="Inter"/>
              <a:buChar char="•"/>
            </a:pPr>
            <a:r>
              <a:rPr b="0" i="0" lang="en-US" sz="1800" u="none" cap="none" strike="noStrike">
                <a:solidFill>
                  <a:srgbClr val="1D2B3A"/>
                </a:solidFill>
                <a:latin typeface="Inter"/>
                <a:ea typeface="Inter"/>
                <a:cs typeface="Inter"/>
                <a:sym typeface="Inter"/>
              </a:rPr>
              <a:t>Works with any model — swap providers freely</a:t>
            </a:r>
            <a:endParaRPr b="0" i="0" sz="1800" u="none" cap="none" strike="noStrike">
              <a:solidFill>
                <a:schemeClr val="dk1"/>
              </a:solidFill>
              <a:latin typeface="Calibri"/>
              <a:ea typeface="Calibri"/>
              <a:cs typeface="Calibri"/>
              <a:sym typeface="Calibri"/>
            </a:endParaRPr>
          </a:p>
        </p:txBody>
      </p:sp>
      <p:sp>
        <p:nvSpPr>
          <p:cNvPr id="136" name="Google Shape;136;p8"/>
          <p:cNvSpPr/>
          <p:nvPr/>
        </p:nvSpPr>
        <p:spPr>
          <a:xfrm>
            <a:off x="9755505" y="5731669"/>
            <a:ext cx="7518083" cy="392311"/>
          </a:xfrm>
          <a:prstGeom prst="rect">
            <a:avLst/>
          </a:prstGeom>
          <a:noFill/>
          <a:ln>
            <a:noFill/>
          </a:ln>
        </p:spPr>
        <p:txBody>
          <a:bodyPr anchorCtr="0" anchor="t" bIns="25400" lIns="25400" spcFirstLastPara="1" rIns="25400" wrap="square" tIns="25400">
            <a:noAutofit/>
          </a:bodyPr>
          <a:lstStyle/>
          <a:p>
            <a:pPr indent="0" lvl="0" marL="0" marR="0" rtl="0" algn="l">
              <a:lnSpc>
                <a:spcPct val="15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The right tool for </a:t>
            </a:r>
            <a:r>
              <a:rPr b="0" i="1" lang="en-US" sz="1800" u="none" cap="none" strike="noStrike">
                <a:solidFill>
                  <a:srgbClr val="1D2B3A"/>
                </a:solidFill>
                <a:latin typeface="Inter"/>
                <a:ea typeface="Inter"/>
                <a:cs typeface="Inter"/>
                <a:sym typeface="Inter"/>
              </a:rPr>
              <a:t>~95% of enterprise use cases</a:t>
            </a:r>
            <a:endParaRPr b="0" i="0" sz="1800" u="none" cap="none" strike="noStrike">
              <a:solidFill>
                <a:schemeClr val="dk1"/>
              </a:solidFill>
              <a:latin typeface="Calibri"/>
              <a:ea typeface="Calibri"/>
              <a:cs typeface="Calibri"/>
              <a:sym typeface="Calibri"/>
            </a:endParaRPr>
          </a:p>
        </p:txBody>
      </p:sp>
      <p:sp>
        <p:nvSpPr>
          <p:cNvPr id="137" name="Google Shape;137;p8"/>
          <p:cNvSpPr/>
          <p:nvPr/>
        </p:nvSpPr>
        <p:spPr>
          <a:xfrm>
            <a:off x="3635276" y="8667750"/>
            <a:ext cx="11017448" cy="476250"/>
          </a:xfrm>
          <a:prstGeom prst="roundRect">
            <a:avLst>
              <a:gd fmla="val 50000" name="adj"/>
            </a:avLst>
          </a:prstGeom>
          <a:solidFill>
            <a:srgbClr val="FFD2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3736714" y="8801100"/>
            <a:ext cx="10814572" cy="24765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102033"/>
              </a:buClr>
              <a:buSzPts val="1650"/>
              <a:buFont typeface="Inter"/>
              <a:buNone/>
            </a:pPr>
            <a:r>
              <a:rPr b="1" i="0" lang="en-US" sz="1650" u="none" cap="none" strike="noStrike">
                <a:solidFill>
                  <a:srgbClr val="102033"/>
                </a:solidFill>
                <a:latin typeface="Inter"/>
                <a:ea typeface="Inter"/>
                <a:cs typeface="Inter"/>
                <a:sym typeface="Inter"/>
              </a:rPr>
              <a:t>RETRIEVE · AUGMENT · GENERATE — KEEP KNOWLEDGE OUTSIDE THE MODEL</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143" name="Shape 143"/>
        <p:cNvGrpSpPr/>
        <p:nvPr/>
      </p:nvGrpSpPr>
      <p:grpSpPr>
        <a:xfrm>
          <a:off x="0" y="0"/>
          <a:ext cx="0" cy="0"/>
          <a:chOff x="0" y="0"/>
          <a:chExt cx="0" cy="0"/>
        </a:xfrm>
      </p:grpSpPr>
      <p:sp>
        <p:nvSpPr>
          <p:cNvPr id="144" name="Google Shape;144;p9"/>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145" name="Google Shape;145;p9"/>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146" name="Google Shape;146;p9"/>
          <p:cNvSpPr/>
          <p:nvPr/>
        </p:nvSpPr>
        <p:spPr>
          <a:xfrm>
            <a:off x="16557873" y="457200"/>
            <a:ext cx="891927"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06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147" name="Google Shape;147;p9"/>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148" name="Google Shape;148;p9"/>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Retrieve · Augment · Generate</a:t>
            </a:r>
            <a:endParaRPr b="0" i="0" sz="3900" u="none" cap="none" strike="noStrike">
              <a:solidFill>
                <a:schemeClr val="dk1"/>
              </a:solidFill>
              <a:latin typeface="Calibri"/>
              <a:ea typeface="Calibri"/>
              <a:cs typeface="Calibri"/>
              <a:sym typeface="Calibri"/>
            </a:endParaRPr>
          </a:p>
        </p:txBody>
      </p:sp>
      <p:sp>
        <p:nvSpPr>
          <p:cNvPr id="149" name="Google Shape;149;p9"/>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The model only ever sees the few hundred tokens that matter for </a:t>
            </a:r>
            <a:r>
              <a:rPr b="0" i="1" lang="en-US" sz="2100" u="none" cap="none" strike="noStrike">
                <a:solidFill>
                  <a:srgbClr val="536171"/>
                </a:solidFill>
                <a:latin typeface="Inter"/>
                <a:ea typeface="Inter"/>
                <a:cs typeface="Inter"/>
                <a:sym typeface="Inter"/>
              </a:rPr>
              <a:t>this </a:t>
            </a:r>
            <a:r>
              <a:rPr b="0" i="0" lang="en-US" sz="2100" u="none" cap="none" strike="noStrike">
                <a:solidFill>
                  <a:srgbClr val="536171"/>
                </a:solidFill>
                <a:latin typeface="Inter"/>
                <a:ea typeface="Inter"/>
                <a:cs typeface="Inter"/>
                <a:sym typeface="Inter"/>
              </a:rPr>
              <a:t>question.</a:t>
            </a:r>
            <a:endParaRPr b="0" i="0" sz="2100" u="none" cap="none" strike="noStrike">
              <a:solidFill>
                <a:schemeClr val="dk1"/>
              </a:solidFill>
              <a:latin typeface="Calibri"/>
              <a:ea typeface="Calibri"/>
              <a:cs typeface="Calibri"/>
              <a:sym typeface="Calibri"/>
            </a:endParaRPr>
          </a:p>
        </p:txBody>
      </p:sp>
      <p:sp>
        <p:nvSpPr>
          <p:cNvPr id="150" name="Google Shape;150;p9"/>
          <p:cNvSpPr/>
          <p:nvPr/>
        </p:nvSpPr>
        <p:spPr>
          <a:xfrm>
            <a:off x="914400" y="4893915"/>
            <a:ext cx="3686175" cy="1005780"/>
          </a:xfrm>
          <a:prstGeom prst="roundRect">
            <a:avLst>
              <a:gd fmla="val 757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1084755" y="5132040"/>
            <a:ext cx="3345466"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USER</a:t>
            </a:r>
            <a:endParaRPr b="0" i="0" sz="1200" u="none" cap="none" strike="noStrike">
              <a:solidFill>
                <a:schemeClr val="dk1"/>
              </a:solidFill>
              <a:latin typeface="Calibri"/>
              <a:ea typeface="Calibri"/>
              <a:cs typeface="Calibri"/>
              <a:sym typeface="Calibri"/>
            </a:endParaRPr>
          </a:p>
        </p:txBody>
      </p:sp>
      <p:sp>
        <p:nvSpPr>
          <p:cNvPr id="152" name="Google Shape;152;p9"/>
          <p:cNvSpPr/>
          <p:nvPr/>
        </p:nvSpPr>
        <p:spPr>
          <a:xfrm>
            <a:off x="1084755" y="5398740"/>
            <a:ext cx="3345466" cy="300930"/>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Question</a:t>
            </a:r>
            <a:endParaRPr b="0" i="0" sz="1800" u="none" cap="none" strike="noStrike">
              <a:solidFill>
                <a:schemeClr val="dk1"/>
              </a:solidFill>
              <a:latin typeface="Calibri"/>
              <a:ea typeface="Calibri"/>
              <a:cs typeface="Calibri"/>
              <a:sym typeface="Calibri"/>
            </a:endParaRPr>
          </a:p>
        </p:txBody>
      </p:sp>
      <p:sp>
        <p:nvSpPr>
          <p:cNvPr id="153" name="Google Shape;153;p9"/>
          <p:cNvSpPr/>
          <p:nvPr/>
        </p:nvSpPr>
        <p:spPr>
          <a:xfrm>
            <a:off x="4562475" y="5263455"/>
            <a:ext cx="6477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154" name="Google Shape;154;p9"/>
          <p:cNvSpPr/>
          <p:nvPr/>
        </p:nvSpPr>
        <p:spPr>
          <a:xfrm>
            <a:off x="5172075" y="4762500"/>
            <a:ext cx="3686175" cy="1268611"/>
          </a:xfrm>
          <a:prstGeom prst="roundRect">
            <a:avLst>
              <a:gd fmla="val 6007" name="adj"/>
            </a:avLst>
          </a:prstGeom>
          <a:solidFill>
            <a:srgbClr val="214CB8">
              <a:alpha val="3921"/>
            </a:srgbClr>
          </a:solidFill>
          <a:ln cap="flat" cmpd="sng" w="9525">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5342430" y="5000625"/>
            <a:ext cx="3345466"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RETRIEVE</a:t>
            </a:r>
            <a:endParaRPr b="0" i="0" sz="1200" u="none" cap="none" strike="noStrike">
              <a:solidFill>
                <a:schemeClr val="dk1"/>
              </a:solidFill>
              <a:latin typeface="Calibri"/>
              <a:ea typeface="Calibri"/>
              <a:cs typeface="Calibri"/>
              <a:sym typeface="Calibri"/>
            </a:endParaRPr>
          </a:p>
        </p:txBody>
      </p:sp>
      <p:sp>
        <p:nvSpPr>
          <p:cNvPr id="156" name="Google Shape;156;p9"/>
          <p:cNvSpPr/>
          <p:nvPr/>
        </p:nvSpPr>
        <p:spPr>
          <a:xfrm>
            <a:off x="5342430" y="5267325"/>
            <a:ext cx="3345466" cy="563761"/>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Top-k chunks from Qdrant</a:t>
            </a:r>
            <a:endParaRPr b="0" i="0" sz="1800" u="none" cap="none" strike="noStrike">
              <a:solidFill>
                <a:schemeClr val="dk1"/>
              </a:solidFill>
              <a:latin typeface="Calibri"/>
              <a:ea typeface="Calibri"/>
              <a:cs typeface="Calibri"/>
              <a:sym typeface="Calibri"/>
            </a:endParaRPr>
          </a:p>
        </p:txBody>
      </p:sp>
      <p:sp>
        <p:nvSpPr>
          <p:cNvPr id="157" name="Google Shape;157;p9"/>
          <p:cNvSpPr/>
          <p:nvPr/>
        </p:nvSpPr>
        <p:spPr>
          <a:xfrm>
            <a:off x="8820150" y="5263455"/>
            <a:ext cx="6477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158" name="Google Shape;158;p9"/>
          <p:cNvSpPr/>
          <p:nvPr/>
        </p:nvSpPr>
        <p:spPr>
          <a:xfrm>
            <a:off x="9429750" y="4762500"/>
            <a:ext cx="3686175" cy="1268611"/>
          </a:xfrm>
          <a:prstGeom prst="roundRect">
            <a:avLst>
              <a:gd fmla="val 6007" name="adj"/>
            </a:avLst>
          </a:prstGeom>
          <a:solidFill>
            <a:srgbClr val="214CB8">
              <a:alpha val="3921"/>
            </a:srgbClr>
          </a:solidFill>
          <a:ln cap="flat" cmpd="sng" w="9525">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9600105" y="5000625"/>
            <a:ext cx="3345466"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AUGMENT</a:t>
            </a:r>
            <a:endParaRPr b="0" i="0" sz="1200" u="none" cap="none" strike="noStrike">
              <a:solidFill>
                <a:schemeClr val="dk1"/>
              </a:solidFill>
              <a:latin typeface="Calibri"/>
              <a:ea typeface="Calibri"/>
              <a:cs typeface="Calibri"/>
              <a:sym typeface="Calibri"/>
            </a:endParaRPr>
          </a:p>
        </p:txBody>
      </p:sp>
      <p:sp>
        <p:nvSpPr>
          <p:cNvPr id="160" name="Google Shape;160;p9"/>
          <p:cNvSpPr/>
          <p:nvPr/>
        </p:nvSpPr>
        <p:spPr>
          <a:xfrm>
            <a:off x="9600105" y="5267325"/>
            <a:ext cx="3345466" cy="563761"/>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Stitch chunks into the prompt</a:t>
            </a:r>
            <a:endParaRPr b="0" i="0" sz="1800" u="none" cap="none" strike="noStrike">
              <a:solidFill>
                <a:schemeClr val="dk1"/>
              </a:solidFill>
              <a:latin typeface="Calibri"/>
              <a:ea typeface="Calibri"/>
              <a:cs typeface="Calibri"/>
              <a:sym typeface="Calibri"/>
            </a:endParaRPr>
          </a:p>
        </p:txBody>
      </p:sp>
      <p:sp>
        <p:nvSpPr>
          <p:cNvPr id="161" name="Google Shape;161;p9"/>
          <p:cNvSpPr/>
          <p:nvPr/>
        </p:nvSpPr>
        <p:spPr>
          <a:xfrm>
            <a:off x="13077825" y="5263455"/>
            <a:ext cx="6477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162" name="Google Shape;162;p9"/>
          <p:cNvSpPr/>
          <p:nvPr/>
        </p:nvSpPr>
        <p:spPr>
          <a:xfrm>
            <a:off x="13687425" y="4762500"/>
            <a:ext cx="3686175" cy="1268611"/>
          </a:xfrm>
          <a:prstGeom prst="roundRect">
            <a:avLst>
              <a:gd fmla="val 6007" name="adj"/>
            </a:avLst>
          </a:prstGeom>
          <a:solidFill>
            <a:srgbClr val="47B881">
              <a:alpha val="5098"/>
            </a:srgbClr>
          </a:solidFill>
          <a:ln cap="flat" cmpd="sng" w="9525">
            <a:solidFill>
              <a:srgbClr val="47B881"/>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13857780" y="5000625"/>
            <a:ext cx="3345466"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GENERATE</a:t>
            </a:r>
            <a:endParaRPr b="0" i="0" sz="1200" u="none" cap="none" strike="noStrike">
              <a:solidFill>
                <a:schemeClr val="dk1"/>
              </a:solidFill>
              <a:latin typeface="Calibri"/>
              <a:ea typeface="Calibri"/>
              <a:cs typeface="Calibri"/>
              <a:sym typeface="Calibri"/>
            </a:endParaRPr>
          </a:p>
        </p:txBody>
      </p:sp>
      <p:sp>
        <p:nvSpPr>
          <p:cNvPr id="164" name="Google Shape;164;p9"/>
          <p:cNvSpPr/>
          <p:nvPr/>
        </p:nvSpPr>
        <p:spPr>
          <a:xfrm>
            <a:off x="13857780" y="5267325"/>
            <a:ext cx="3345466" cy="563761"/>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Grounded answer + citations</a:t>
            </a:r>
            <a:endParaRPr b="0" i="0" sz="1800" u="none" cap="none" strike="noStrike">
              <a:solidFill>
                <a:schemeClr val="dk1"/>
              </a:solidFill>
              <a:latin typeface="Calibri"/>
              <a:ea typeface="Calibri"/>
              <a:cs typeface="Calibri"/>
              <a:sym typeface="Calibri"/>
            </a:endParaRPr>
          </a:p>
        </p:txBody>
      </p:sp>
      <p:sp>
        <p:nvSpPr>
          <p:cNvPr id="165" name="Google Shape;165;p9"/>
          <p:cNvSpPr/>
          <p:nvPr/>
        </p:nvSpPr>
        <p:spPr>
          <a:xfrm>
            <a:off x="914400" y="7810500"/>
            <a:ext cx="5441594" cy="228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500"/>
              <a:buFont typeface="Inter"/>
              <a:buNone/>
            </a:pPr>
            <a:r>
              <a:rPr b="1" i="0" lang="en-US" sz="1500" u="none" cap="none" strike="noStrike">
                <a:solidFill>
                  <a:srgbClr val="1D2B3A"/>
                </a:solidFill>
                <a:latin typeface="Inter"/>
                <a:ea typeface="Inter"/>
                <a:cs typeface="Inter"/>
                <a:sym typeface="Inter"/>
              </a:rPr>
              <a:t>Knowledge is external</a:t>
            </a:r>
            <a:endParaRPr b="0" i="0" sz="1500" u="none" cap="none" strike="noStrike">
              <a:solidFill>
                <a:schemeClr val="dk1"/>
              </a:solidFill>
              <a:latin typeface="Calibri"/>
              <a:ea typeface="Calibri"/>
              <a:cs typeface="Calibri"/>
              <a:sym typeface="Calibri"/>
            </a:endParaRPr>
          </a:p>
        </p:txBody>
      </p:sp>
      <p:sp>
        <p:nvSpPr>
          <p:cNvPr id="166" name="Google Shape;166;p9"/>
          <p:cNvSpPr/>
          <p:nvPr/>
        </p:nvSpPr>
        <p:spPr>
          <a:xfrm>
            <a:off x="914400" y="8096250"/>
            <a:ext cx="5441594" cy="3048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500"/>
              <a:buFont typeface="Inter"/>
              <a:buNone/>
            </a:pPr>
            <a:r>
              <a:rPr b="0" i="0" lang="en-US" sz="1500" u="none" cap="none" strike="noStrike">
                <a:solidFill>
                  <a:srgbClr val="536171"/>
                </a:solidFill>
                <a:latin typeface="Inter"/>
                <a:ea typeface="Inter"/>
                <a:cs typeface="Inter"/>
                <a:sym typeface="Inter"/>
              </a:rPr>
              <a:t>The model doesn't memorise — it reads.</a:t>
            </a:r>
            <a:endParaRPr b="0" i="0" sz="1500" u="none" cap="none" strike="noStrike">
              <a:solidFill>
                <a:schemeClr val="dk1"/>
              </a:solidFill>
              <a:latin typeface="Calibri"/>
              <a:ea typeface="Calibri"/>
              <a:cs typeface="Calibri"/>
              <a:sym typeface="Calibri"/>
            </a:endParaRPr>
          </a:p>
        </p:txBody>
      </p:sp>
      <p:sp>
        <p:nvSpPr>
          <p:cNvPr id="167" name="Google Shape;167;p9"/>
          <p:cNvSpPr/>
          <p:nvPr/>
        </p:nvSpPr>
        <p:spPr>
          <a:xfrm>
            <a:off x="6502301" y="7810500"/>
            <a:ext cx="5441747" cy="228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500"/>
              <a:buFont typeface="Inter"/>
              <a:buNone/>
            </a:pPr>
            <a:r>
              <a:rPr b="1" i="0" lang="en-US" sz="1500" u="none" cap="none" strike="noStrike">
                <a:solidFill>
                  <a:srgbClr val="1D2B3A"/>
                </a:solidFill>
                <a:latin typeface="Inter"/>
                <a:ea typeface="Inter"/>
                <a:cs typeface="Inter"/>
                <a:sym typeface="Inter"/>
              </a:rPr>
              <a:t>Context, not corpus</a:t>
            </a:r>
            <a:endParaRPr b="0" i="0" sz="1500" u="none" cap="none" strike="noStrike">
              <a:solidFill>
                <a:schemeClr val="dk1"/>
              </a:solidFill>
              <a:latin typeface="Calibri"/>
              <a:ea typeface="Calibri"/>
              <a:cs typeface="Calibri"/>
              <a:sym typeface="Calibri"/>
            </a:endParaRPr>
          </a:p>
        </p:txBody>
      </p:sp>
      <p:sp>
        <p:nvSpPr>
          <p:cNvPr id="168" name="Google Shape;168;p9"/>
          <p:cNvSpPr/>
          <p:nvPr/>
        </p:nvSpPr>
        <p:spPr>
          <a:xfrm>
            <a:off x="6502301" y="8096250"/>
            <a:ext cx="5441747" cy="3048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500"/>
              <a:buFont typeface="Inter"/>
              <a:buNone/>
            </a:pPr>
            <a:r>
              <a:rPr b="0" i="0" lang="en-US" sz="1500" u="none" cap="none" strike="noStrike">
                <a:solidFill>
                  <a:srgbClr val="536171"/>
                </a:solidFill>
                <a:latin typeface="Inter"/>
                <a:ea typeface="Inter"/>
                <a:cs typeface="Inter"/>
                <a:sym typeface="Inter"/>
              </a:rPr>
              <a:t>The model only sees what you stitched in.</a:t>
            </a:r>
            <a:endParaRPr b="0" i="0" sz="1500" u="none" cap="none" strike="noStrike">
              <a:solidFill>
                <a:schemeClr val="dk1"/>
              </a:solidFill>
              <a:latin typeface="Calibri"/>
              <a:ea typeface="Calibri"/>
              <a:cs typeface="Calibri"/>
              <a:sym typeface="Calibri"/>
            </a:endParaRPr>
          </a:p>
        </p:txBody>
      </p:sp>
      <p:sp>
        <p:nvSpPr>
          <p:cNvPr id="169" name="Google Shape;169;p9"/>
          <p:cNvSpPr/>
          <p:nvPr/>
        </p:nvSpPr>
        <p:spPr>
          <a:xfrm>
            <a:off x="12090350" y="7810500"/>
            <a:ext cx="5441747" cy="228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500"/>
              <a:buFont typeface="Inter"/>
              <a:buNone/>
            </a:pPr>
            <a:r>
              <a:rPr b="1" i="0" lang="en-US" sz="1500" u="none" cap="none" strike="noStrike">
                <a:solidFill>
                  <a:srgbClr val="1D2B3A"/>
                </a:solidFill>
                <a:latin typeface="Inter"/>
                <a:ea typeface="Inter"/>
                <a:cs typeface="Inter"/>
                <a:sym typeface="Inter"/>
              </a:rPr>
              <a:t>Citations come free</a:t>
            </a:r>
            <a:endParaRPr b="0" i="0" sz="1500" u="none" cap="none" strike="noStrike">
              <a:solidFill>
                <a:schemeClr val="dk1"/>
              </a:solidFill>
              <a:latin typeface="Calibri"/>
              <a:ea typeface="Calibri"/>
              <a:cs typeface="Calibri"/>
              <a:sym typeface="Calibri"/>
            </a:endParaRPr>
          </a:p>
        </p:txBody>
      </p:sp>
      <p:sp>
        <p:nvSpPr>
          <p:cNvPr id="170" name="Google Shape;170;p9"/>
          <p:cNvSpPr/>
          <p:nvPr/>
        </p:nvSpPr>
        <p:spPr>
          <a:xfrm>
            <a:off x="12090350" y="8096250"/>
            <a:ext cx="5441747" cy="3048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500"/>
              <a:buFont typeface="Inter"/>
              <a:buNone/>
            </a:pPr>
            <a:r>
              <a:rPr b="0" i="0" lang="en-US" sz="1500" u="none" cap="none" strike="noStrike">
                <a:solidFill>
                  <a:srgbClr val="536171"/>
                </a:solidFill>
                <a:latin typeface="Inter"/>
                <a:ea typeface="Inter"/>
                <a:cs typeface="Inter"/>
                <a:sym typeface="Inter"/>
              </a:rPr>
              <a:t>Every chunk has an ID — you can show 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175" name="Shape 175"/>
        <p:cNvGrpSpPr/>
        <p:nvPr/>
      </p:nvGrpSpPr>
      <p:grpSpPr>
        <a:xfrm>
          <a:off x="0" y="0"/>
          <a:ext cx="0" cy="0"/>
          <a:chOff x="0" y="0"/>
          <a:chExt cx="0" cy="0"/>
        </a:xfrm>
      </p:grpSpPr>
      <p:sp>
        <p:nvSpPr>
          <p:cNvPr id="176" name="Google Shape;176;p10"/>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177" name="Google Shape;177;p10"/>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178" name="Google Shape;178;p10"/>
          <p:cNvSpPr/>
          <p:nvPr/>
        </p:nvSpPr>
        <p:spPr>
          <a:xfrm>
            <a:off x="16576179" y="457200"/>
            <a:ext cx="87362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07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179" name="Google Shape;179;p10"/>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180" name="Google Shape;180;p10"/>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Vector embeddings — meaning as coordinates</a:t>
            </a:r>
            <a:endParaRPr b="0" i="0" sz="3900" u="none" cap="none" strike="noStrike">
              <a:solidFill>
                <a:schemeClr val="dk1"/>
              </a:solidFill>
              <a:latin typeface="Calibri"/>
              <a:ea typeface="Calibri"/>
              <a:cs typeface="Calibri"/>
              <a:sym typeface="Calibri"/>
            </a:endParaRPr>
          </a:p>
        </p:txBody>
      </p:sp>
      <p:sp>
        <p:nvSpPr>
          <p:cNvPr id="181" name="Google Shape;181;p10"/>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 piece of text becomes a list of numbers. Texts with similar meaning end up close together.</a:t>
            </a:r>
            <a:endParaRPr b="0" i="0" sz="2100" u="none" cap="none" strike="noStrike">
              <a:solidFill>
                <a:schemeClr val="dk1"/>
              </a:solidFill>
              <a:latin typeface="Calibri"/>
              <a:ea typeface="Calibri"/>
              <a:cs typeface="Calibri"/>
              <a:sym typeface="Calibri"/>
            </a:endParaRPr>
          </a:p>
        </p:txBody>
      </p:sp>
      <p:sp>
        <p:nvSpPr>
          <p:cNvPr id="182" name="Google Shape;182;p10"/>
          <p:cNvSpPr/>
          <p:nvPr/>
        </p:nvSpPr>
        <p:spPr>
          <a:xfrm>
            <a:off x="914400" y="3619500"/>
            <a:ext cx="8382000" cy="3171825"/>
          </a:xfrm>
          <a:prstGeom prst="roundRect">
            <a:avLst>
              <a:gd fmla="val 2402"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1228725" y="3933825"/>
            <a:ext cx="7985950"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THREE TEXTS → THREE VECTORS</a:t>
            </a:r>
            <a:endParaRPr b="0" i="0" sz="1350" u="none" cap="none" strike="noStrike">
              <a:solidFill>
                <a:schemeClr val="dk1"/>
              </a:solidFill>
              <a:latin typeface="Calibri"/>
              <a:ea typeface="Calibri"/>
              <a:cs typeface="Calibri"/>
              <a:sym typeface="Calibri"/>
            </a:endParaRPr>
          </a:p>
        </p:txBody>
      </p:sp>
      <p:sp>
        <p:nvSpPr>
          <p:cNvPr id="184" name="Google Shape;184;p10"/>
          <p:cNvSpPr/>
          <p:nvPr/>
        </p:nvSpPr>
        <p:spPr>
          <a:xfrm>
            <a:off x="1228725" y="4434780"/>
            <a:ext cx="6337745" cy="33144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1650"/>
              <a:buFont typeface="Inter"/>
              <a:buNone/>
            </a:pPr>
            <a:r>
              <a:rPr b="0" i="0" lang="en-US" sz="1650" u="none" cap="none" strike="noStrike">
                <a:solidFill>
                  <a:srgbClr val="1D2B3A"/>
                </a:solidFill>
                <a:latin typeface="Inter"/>
                <a:ea typeface="Inter"/>
                <a:cs typeface="Inter"/>
                <a:sym typeface="Inter"/>
              </a:rPr>
              <a:t>"Cancel my subscription"</a:t>
            </a:r>
            <a:endParaRPr b="0" i="0" sz="1650" u="none" cap="none" strike="noStrike">
              <a:solidFill>
                <a:schemeClr val="dk1"/>
              </a:solidFill>
              <a:latin typeface="Calibri"/>
              <a:ea typeface="Calibri"/>
              <a:cs typeface="Calibri"/>
              <a:sym typeface="Calibri"/>
            </a:endParaRPr>
          </a:p>
        </p:txBody>
      </p:sp>
      <p:sp>
        <p:nvSpPr>
          <p:cNvPr id="185" name="Google Shape;185;p10"/>
          <p:cNvSpPr/>
          <p:nvPr/>
        </p:nvSpPr>
        <p:spPr>
          <a:xfrm>
            <a:off x="7553325" y="4391025"/>
            <a:ext cx="1428750" cy="381000"/>
          </a:xfrm>
          <a:prstGeom prst="roundRect">
            <a:avLst>
              <a:gd fmla="val 15000" name="adj"/>
            </a:avLst>
          </a:prstGeom>
          <a:solidFill>
            <a:srgbClr val="F8F6EF"/>
          </a:solidFill>
          <a:ln cap="flat" cmpd="sng" w="9525">
            <a:solidFill>
              <a:srgbClr val="E8E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7658100" y="4495800"/>
            <a:ext cx="171450" cy="171450"/>
          </a:xfrm>
          <a:prstGeom prst="roundRect">
            <a:avLst>
              <a:gd fmla="val 16667" name="adj"/>
            </a:avLst>
          </a:prstGeom>
          <a:solidFill>
            <a:srgbClr val="214CB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7867650" y="4495800"/>
            <a:ext cx="171450" cy="171450"/>
          </a:xfrm>
          <a:prstGeom prst="roundRect">
            <a:avLst>
              <a:gd fmla="val 16667" name="adj"/>
            </a:avLst>
          </a:prstGeom>
          <a:solidFill>
            <a:srgbClr val="214CB8">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8077200" y="4495800"/>
            <a:ext cx="171450" cy="171450"/>
          </a:xfrm>
          <a:prstGeom prst="roundRect">
            <a:avLst>
              <a:gd fmla="val 16667" name="adj"/>
            </a:avLst>
          </a:prstGeom>
          <a:solidFill>
            <a:srgbClr val="214CB8">
              <a:alpha val="7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8286750" y="4495800"/>
            <a:ext cx="171450" cy="171450"/>
          </a:xfrm>
          <a:prstGeom prst="roundRect">
            <a:avLst>
              <a:gd fmla="val 16667" name="adj"/>
            </a:avLst>
          </a:prstGeom>
          <a:solidFill>
            <a:srgbClr val="214CB8">
              <a:alpha val="3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8496300" y="4495800"/>
            <a:ext cx="171450" cy="171450"/>
          </a:xfrm>
          <a:prstGeom prst="roundRect">
            <a:avLst>
              <a:gd fmla="val 16667" name="adj"/>
            </a:avLst>
          </a:prstGeom>
          <a:solidFill>
            <a:srgbClr val="214CB8">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8705850" y="4495800"/>
            <a:ext cx="171450" cy="171450"/>
          </a:xfrm>
          <a:prstGeom prst="roundRect">
            <a:avLst>
              <a:gd fmla="val 16667" name="adj"/>
            </a:avLst>
          </a:prstGeom>
          <a:solidFill>
            <a:srgbClr val="214CB8">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1228725" y="4987230"/>
            <a:ext cx="6337745" cy="33144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1650"/>
              <a:buFont typeface="Inter"/>
              <a:buNone/>
            </a:pPr>
            <a:r>
              <a:rPr b="0" i="0" lang="en-US" sz="1650" u="none" cap="none" strike="noStrike">
                <a:solidFill>
                  <a:srgbClr val="1D2B3A"/>
                </a:solidFill>
                <a:latin typeface="Inter"/>
                <a:ea typeface="Inter"/>
                <a:cs typeface="Inter"/>
                <a:sym typeface="Inter"/>
              </a:rPr>
              <a:t>"How do I unsubscribe?"</a:t>
            </a:r>
            <a:endParaRPr b="0" i="0" sz="1650" u="none" cap="none" strike="noStrike">
              <a:solidFill>
                <a:schemeClr val="dk1"/>
              </a:solidFill>
              <a:latin typeface="Calibri"/>
              <a:ea typeface="Calibri"/>
              <a:cs typeface="Calibri"/>
              <a:sym typeface="Calibri"/>
            </a:endParaRPr>
          </a:p>
        </p:txBody>
      </p:sp>
      <p:sp>
        <p:nvSpPr>
          <p:cNvPr id="193" name="Google Shape;193;p10"/>
          <p:cNvSpPr/>
          <p:nvPr/>
        </p:nvSpPr>
        <p:spPr>
          <a:xfrm>
            <a:off x="7553325" y="4943475"/>
            <a:ext cx="1428750" cy="381000"/>
          </a:xfrm>
          <a:prstGeom prst="roundRect">
            <a:avLst>
              <a:gd fmla="val 15000" name="adj"/>
            </a:avLst>
          </a:prstGeom>
          <a:solidFill>
            <a:srgbClr val="F8F6EF"/>
          </a:solidFill>
          <a:ln cap="flat" cmpd="sng" w="9525">
            <a:solidFill>
              <a:srgbClr val="E8E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7658100" y="5048250"/>
            <a:ext cx="171450" cy="171450"/>
          </a:xfrm>
          <a:prstGeom prst="roundRect">
            <a:avLst>
              <a:gd fmla="val 16667" name="adj"/>
            </a:avLst>
          </a:prstGeom>
          <a:solidFill>
            <a:srgbClr val="214CB8">
              <a:alpha val="9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7867650" y="5048250"/>
            <a:ext cx="171450" cy="171450"/>
          </a:xfrm>
          <a:prstGeom prst="roundRect">
            <a:avLst>
              <a:gd fmla="val 16667" name="adj"/>
            </a:avLst>
          </a:prstGeom>
          <a:solidFill>
            <a:srgbClr val="214CB8">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8077200" y="5048250"/>
            <a:ext cx="171450" cy="171450"/>
          </a:xfrm>
          <a:prstGeom prst="roundRect">
            <a:avLst>
              <a:gd fmla="val 16667" name="adj"/>
            </a:avLst>
          </a:prstGeom>
          <a:solidFill>
            <a:srgbClr val="214CB8">
              <a:alpha val="690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8286750" y="5048250"/>
            <a:ext cx="171450" cy="171450"/>
          </a:xfrm>
          <a:prstGeom prst="roundRect">
            <a:avLst>
              <a:gd fmla="val 16667" name="adj"/>
            </a:avLst>
          </a:prstGeom>
          <a:solidFill>
            <a:srgbClr val="214CB8">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p:nvPr/>
        </p:nvSpPr>
        <p:spPr>
          <a:xfrm>
            <a:off x="8496300" y="5048250"/>
            <a:ext cx="171450" cy="171450"/>
          </a:xfrm>
          <a:prstGeom prst="roundRect">
            <a:avLst>
              <a:gd fmla="val 16667" name="adj"/>
            </a:avLst>
          </a:prstGeom>
          <a:solidFill>
            <a:srgbClr val="214CB8">
              <a:alpha val="8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8705850" y="5048250"/>
            <a:ext cx="171450" cy="171450"/>
          </a:xfrm>
          <a:prstGeom prst="roundRect">
            <a:avLst>
              <a:gd fmla="val 16667" name="adj"/>
            </a:avLst>
          </a:prstGeom>
          <a:solidFill>
            <a:srgbClr val="214CB8">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1228725" y="5539680"/>
            <a:ext cx="6337745" cy="33144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1650"/>
              <a:buFont typeface="Inter"/>
              <a:buNone/>
            </a:pPr>
            <a:r>
              <a:rPr b="0" i="0" lang="en-US" sz="1650" u="none" cap="none" strike="noStrike">
                <a:solidFill>
                  <a:srgbClr val="1D2B3A"/>
                </a:solidFill>
                <a:latin typeface="Inter"/>
                <a:ea typeface="Inter"/>
                <a:cs typeface="Inter"/>
                <a:sym typeface="Inter"/>
              </a:rPr>
              <a:t>"Why is the sky blue?"</a:t>
            </a:r>
            <a:endParaRPr b="0" i="0" sz="1650" u="none" cap="none" strike="noStrike">
              <a:solidFill>
                <a:schemeClr val="dk1"/>
              </a:solidFill>
              <a:latin typeface="Calibri"/>
              <a:ea typeface="Calibri"/>
              <a:cs typeface="Calibri"/>
              <a:sym typeface="Calibri"/>
            </a:endParaRPr>
          </a:p>
        </p:txBody>
      </p:sp>
      <p:sp>
        <p:nvSpPr>
          <p:cNvPr id="201" name="Google Shape;201;p10"/>
          <p:cNvSpPr/>
          <p:nvPr/>
        </p:nvSpPr>
        <p:spPr>
          <a:xfrm>
            <a:off x="7553325" y="5495925"/>
            <a:ext cx="1428750" cy="381000"/>
          </a:xfrm>
          <a:prstGeom prst="roundRect">
            <a:avLst>
              <a:gd fmla="val 15000" name="adj"/>
            </a:avLst>
          </a:prstGeom>
          <a:solidFill>
            <a:srgbClr val="F8F6EF"/>
          </a:solidFill>
          <a:ln cap="flat" cmpd="sng" w="9525">
            <a:solidFill>
              <a:srgbClr val="E8E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7658100" y="5600700"/>
            <a:ext cx="171450" cy="171450"/>
          </a:xfrm>
          <a:prstGeom prst="roundRect">
            <a:avLst>
              <a:gd fmla="val 16667" name="adj"/>
            </a:avLst>
          </a:prstGeom>
          <a:solidFill>
            <a:srgbClr val="214CB8">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7867650" y="5600700"/>
            <a:ext cx="171450" cy="171450"/>
          </a:xfrm>
          <a:prstGeom prst="roundRect">
            <a:avLst>
              <a:gd fmla="val 16667" name="adj"/>
            </a:avLst>
          </a:prstGeom>
          <a:solidFill>
            <a:srgbClr val="214CB8">
              <a:alpha val="8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8077200" y="5600700"/>
            <a:ext cx="171450" cy="171450"/>
          </a:xfrm>
          <a:prstGeom prst="roundRect">
            <a:avLst>
              <a:gd fmla="val 16667" name="adj"/>
            </a:avLst>
          </a:prstGeom>
          <a:solidFill>
            <a:srgbClr val="214CB8">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8286750" y="5600700"/>
            <a:ext cx="171450" cy="171450"/>
          </a:xfrm>
          <a:prstGeom prst="roundRect">
            <a:avLst>
              <a:gd fmla="val 16667" name="adj"/>
            </a:avLst>
          </a:prstGeom>
          <a:solidFill>
            <a:srgbClr val="214CB8">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a:off x="8496300" y="5600700"/>
            <a:ext cx="171450" cy="171450"/>
          </a:xfrm>
          <a:prstGeom prst="roundRect">
            <a:avLst>
              <a:gd fmla="val 16667" name="adj"/>
            </a:avLst>
          </a:prstGeom>
          <a:solidFill>
            <a:srgbClr val="214CB8">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8705850" y="5600700"/>
            <a:ext cx="171450" cy="171450"/>
          </a:xfrm>
          <a:prstGeom prst="roundRect">
            <a:avLst>
              <a:gd fmla="val 16667" name="adj"/>
            </a:avLst>
          </a:prstGeom>
          <a:solidFill>
            <a:srgbClr val="214CB8">
              <a:alpha val="7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1228725" y="6200775"/>
            <a:ext cx="7985950" cy="31432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1500"/>
              <a:buFont typeface="Inter"/>
              <a:buNone/>
            </a:pPr>
            <a:r>
              <a:rPr b="0" i="0" lang="en-US" sz="1500" u="none" cap="none" strike="noStrike">
                <a:solidFill>
                  <a:srgbClr val="536171"/>
                </a:solidFill>
                <a:latin typeface="Inter"/>
                <a:ea typeface="Inter"/>
                <a:cs typeface="Inter"/>
                <a:sym typeface="Inter"/>
              </a:rPr>
              <a:t>The first two vectors look alike. The third doesn't. That's </a:t>
            </a:r>
            <a:r>
              <a:rPr b="0" i="1" lang="en-US" sz="1500" u="none" cap="none" strike="noStrike">
                <a:solidFill>
                  <a:srgbClr val="536171"/>
                </a:solidFill>
                <a:latin typeface="Inter"/>
                <a:ea typeface="Inter"/>
                <a:cs typeface="Inter"/>
                <a:sym typeface="Inter"/>
              </a:rPr>
              <a:t>semantic similarity</a:t>
            </a:r>
            <a:r>
              <a:rPr b="0" i="0" lang="en-US" sz="1500" u="none" cap="none" strike="noStrike">
                <a:solidFill>
                  <a:srgbClr val="536171"/>
                </a:solidFill>
                <a:latin typeface="Inter"/>
                <a:ea typeface="Inter"/>
                <a:cs typeface="Inter"/>
                <a:sym typeface="Inter"/>
              </a:rPr>
              <a:t>.</a:t>
            </a:r>
            <a:endParaRPr b="0" i="0" sz="1500" u="none" cap="none" strike="noStrike">
              <a:solidFill>
                <a:schemeClr val="dk1"/>
              </a:solidFill>
              <a:latin typeface="Calibri"/>
              <a:ea typeface="Calibri"/>
              <a:cs typeface="Calibri"/>
              <a:sym typeface="Calibri"/>
            </a:endParaRPr>
          </a:p>
        </p:txBody>
      </p:sp>
      <p:sp>
        <p:nvSpPr>
          <p:cNvPr id="209" name="Google Shape;209;p10"/>
          <p:cNvSpPr/>
          <p:nvPr/>
        </p:nvSpPr>
        <p:spPr>
          <a:xfrm>
            <a:off x="9753600" y="3619500"/>
            <a:ext cx="7620000" cy="161538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10067925" y="3933825"/>
            <a:ext cx="720109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DIMENSIONS</a:t>
            </a:r>
            <a:endParaRPr b="0" i="0" sz="1350" u="none" cap="none" strike="noStrike">
              <a:solidFill>
                <a:schemeClr val="dk1"/>
              </a:solidFill>
              <a:latin typeface="Calibri"/>
              <a:ea typeface="Calibri"/>
              <a:cs typeface="Calibri"/>
              <a:sym typeface="Calibri"/>
            </a:endParaRPr>
          </a:p>
        </p:txBody>
      </p:sp>
      <p:sp>
        <p:nvSpPr>
          <p:cNvPr id="211" name="Google Shape;211;p10"/>
          <p:cNvSpPr/>
          <p:nvPr/>
        </p:nvSpPr>
        <p:spPr>
          <a:xfrm>
            <a:off x="10067925" y="4257675"/>
            <a:ext cx="72010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Typically </a:t>
            </a:r>
            <a:r>
              <a:rPr b="0" i="0" lang="en-US" sz="1800" u="none" cap="none" strike="noStrike">
                <a:solidFill>
                  <a:srgbClr val="1D2B3A"/>
                </a:solidFill>
                <a:highlight>
                  <a:srgbClr val="E8E2D4"/>
                </a:highlight>
                <a:latin typeface="JetBrains Mono"/>
                <a:ea typeface="JetBrains Mono"/>
                <a:cs typeface="JetBrains Mono"/>
                <a:sym typeface="JetBrains Mono"/>
              </a:rPr>
              <a:t>768 </a:t>
            </a:r>
            <a:r>
              <a:rPr b="0" i="0" lang="en-US" sz="1800" u="none" cap="none" strike="noStrike">
                <a:solidFill>
                  <a:srgbClr val="1D2B3A"/>
                </a:solidFill>
                <a:latin typeface="Inter"/>
                <a:ea typeface="Inter"/>
                <a:cs typeface="Inter"/>
                <a:sym typeface="Inter"/>
              </a:rPr>
              <a:t>or </a:t>
            </a:r>
            <a:r>
              <a:rPr b="0" i="0" lang="en-US" sz="1800" u="none" cap="none" strike="noStrike">
                <a:solidFill>
                  <a:srgbClr val="1D2B3A"/>
                </a:solidFill>
                <a:highlight>
                  <a:srgbClr val="E8E2D4"/>
                </a:highlight>
                <a:latin typeface="JetBrains Mono"/>
                <a:ea typeface="JetBrains Mono"/>
                <a:cs typeface="JetBrains Mono"/>
                <a:sym typeface="JetBrains Mono"/>
              </a:rPr>
              <a:t>1536 </a:t>
            </a:r>
            <a:r>
              <a:rPr b="0" i="0" lang="en-US" sz="1800" u="none" cap="none" strike="noStrike">
                <a:solidFill>
                  <a:srgbClr val="1D2B3A"/>
                </a:solidFill>
                <a:latin typeface="Inter"/>
                <a:ea typeface="Inter"/>
                <a:cs typeface="Inter"/>
                <a:sym typeface="Inter"/>
              </a:rPr>
              <a:t>floats. More dims = finer distinctions, more storage.</a:t>
            </a:r>
            <a:endParaRPr b="0" i="0" sz="1800" u="none" cap="none" strike="noStrike">
              <a:solidFill>
                <a:schemeClr val="dk1"/>
              </a:solidFill>
              <a:latin typeface="Calibri"/>
              <a:ea typeface="Calibri"/>
              <a:cs typeface="Calibri"/>
              <a:sym typeface="Calibri"/>
            </a:endParaRPr>
          </a:p>
        </p:txBody>
      </p:sp>
      <p:sp>
        <p:nvSpPr>
          <p:cNvPr id="212" name="Google Shape;212;p10"/>
          <p:cNvSpPr/>
          <p:nvPr/>
        </p:nvSpPr>
        <p:spPr>
          <a:xfrm>
            <a:off x="9753600" y="5406330"/>
            <a:ext cx="7620000" cy="161538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10067925" y="5720655"/>
            <a:ext cx="720109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DISTANCE METRIC</a:t>
            </a:r>
            <a:endParaRPr b="0" i="0" sz="1350" u="none" cap="none" strike="noStrike">
              <a:solidFill>
                <a:schemeClr val="dk1"/>
              </a:solidFill>
              <a:latin typeface="Calibri"/>
              <a:ea typeface="Calibri"/>
              <a:cs typeface="Calibri"/>
              <a:sym typeface="Calibri"/>
            </a:endParaRPr>
          </a:p>
        </p:txBody>
      </p:sp>
      <p:sp>
        <p:nvSpPr>
          <p:cNvPr id="214" name="Google Shape;214;p10"/>
          <p:cNvSpPr/>
          <p:nvPr/>
        </p:nvSpPr>
        <p:spPr>
          <a:xfrm>
            <a:off x="10067925" y="6044505"/>
            <a:ext cx="72010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Cosine similarity for normalised vectors. Higher = more similar. Set this once on the collection.</a:t>
            </a:r>
            <a:endParaRPr b="0" i="0" sz="1800" u="none" cap="none" strike="noStrike">
              <a:solidFill>
                <a:schemeClr val="dk1"/>
              </a:solidFill>
              <a:latin typeface="Calibri"/>
              <a:ea typeface="Calibri"/>
              <a:cs typeface="Calibri"/>
              <a:sym typeface="Calibri"/>
            </a:endParaRPr>
          </a:p>
        </p:txBody>
      </p:sp>
      <p:sp>
        <p:nvSpPr>
          <p:cNvPr id="215" name="Google Shape;215;p10"/>
          <p:cNvSpPr/>
          <p:nvPr/>
        </p:nvSpPr>
        <p:spPr>
          <a:xfrm>
            <a:off x="9753600" y="7193161"/>
            <a:ext cx="7620000" cy="161538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10067925" y="7507486"/>
            <a:ext cx="720109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THE WHOLE POINT</a:t>
            </a:r>
            <a:endParaRPr b="0" i="0" sz="1350" u="none" cap="none" strike="noStrike">
              <a:solidFill>
                <a:schemeClr val="dk1"/>
              </a:solidFill>
              <a:latin typeface="Calibri"/>
              <a:ea typeface="Calibri"/>
              <a:cs typeface="Calibri"/>
              <a:sym typeface="Calibri"/>
            </a:endParaRPr>
          </a:p>
        </p:txBody>
      </p:sp>
      <p:sp>
        <p:nvSpPr>
          <p:cNvPr id="217" name="Google Shape;217;p10"/>
          <p:cNvSpPr/>
          <p:nvPr/>
        </p:nvSpPr>
        <p:spPr>
          <a:xfrm>
            <a:off x="10067925" y="7831336"/>
            <a:ext cx="72010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Search becomes nearest-neighbour lookup in vector space — fast, even at billions of points.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222" name="Shape 222"/>
        <p:cNvGrpSpPr/>
        <p:nvPr/>
      </p:nvGrpSpPr>
      <p:grpSpPr>
        <a:xfrm>
          <a:off x="0" y="0"/>
          <a:ext cx="0" cy="0"/>
          <a:chOff x="0" y="0"/>
          <a:chExt cx="0" cy="0"/>
        </a:xfrm>
      </p:grpSpPr>
      <p:sp>
        <p:nvSpPr>
          <p:cNvPr id="223" name="Google Shape;223;p11"/>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224" name="Google Shape;224;p11"/>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225" name="Google Shape;225;p11"/>
          <p:cNvSpPr/>
          <p:nvPr/>
        </p:nvSpPr>
        <p:spPr>
          <a:xfrm>
            <a:off x="16557575" y="457200"/>
            <a:ext cx="892225"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08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226" name="Google Shape;226;p11"/>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227" name="Google Shape;227;p11"/>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The embedding model is a one-way door</a:t>
            </a:r>
            <a:endParaRPr b="0" i="0" sz="3900" u="none" cap="none" strike="noStrike">
              <a:solidFill>
                <a:schemeClr val="dk1"/>
              </a:solidFill>
              <a:latin typeface="Calibri"/>
              <a:ea typeface="Calibri"/>
              <a:cs typeface="Calibri"/>
              <a:sym typeface="Calibri"/>
            </a:endParaRPr>
          </a:p>
        </p:txBody>
      </p:sp>
      <p:sp>
        <p:nvSpPr>
          <p:cNvPr id="228" name="Google Shape;228;p11"/>
          <p:cNvSpPr/>
          <p:nvPr/>
        </p:nvSpPr>
        <p:spPr>
          <a:xfrm>
            <a:off x="914400" y="2448967"/>
            <a:ext cx="13735050" cy="81141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Pick once. Use the </a:t>
            </a:r>
            <a:r>
              <a:rPr b="0" i="1" lang="en-US" sz="2100" u="none" cap="none" strike="noStrike">
                <a:solidFill>
                  <a:srgbClr val="536171"/>
                </a:solidFill>
                <a:latin typeface="Inter"/>
                <a:ea typeface="Inter"/>
                <a:cs typeface="Inter"/>
                <a:sym typeface="Inter"/>
              </a:rPr>
              <a:t>same </a:t>
            </a:r>
            <a:r>
              <a:rPr b="0" i="0" lang="en-US" sz="2100" u="none" cap="none" strike="noStrike">
                <a:solidFill>
                  <a:srgbClr val="536171"/>
                </a:solidFill>
                <a:latin typeface="Inter"/>
                <a:ea typeface="Inter"/>
                <a:cs typeface="Inter"/>
                <a:sym typeface="Inter"/>
              </a:rPr>
              <a:t>model at ingest and at query. Mixing models inside a collection breaks retrieval silently.</a:t>
            </a:r>
            <a:endParaRPr b="0" i="0" sz="2100" u="none" cap="none" strike="noStrike">
              <a:solidFill>
                <a:schemeClr val="dk1"/>
              </a:solidFill>
              <a:latin typeface="Calibri"/>
              <a:ea typeface="Calibri"/>
              <a:cs typeface="Calibri"/>
              <a:sym typeface="Calibri"/>
            </a:endParaRPr>
          </a:p>
        </p:txBody>
      </p:sp>
      <p:sp>
        <p:nvSpPr>
          <p:cNvPr id="229" name="Google Shape;229;p11"/>
          <p:cNvSpPr/>
          <p:nvPr/>
        </p:nvSpPr>
        <p:spPr>
          <a:xfrm>
            <a:off x="914400"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1228725"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DIMENSIONALITY</a:t>
            </a:r>
            <a:endParaRPr b="0" i="0" sz="1350" u="none" cap="none" strike="noStrike">
              <a:solidFill>
                <a:schemeClr val="dk1"/>
              </a:solidFill>
              <a:latin typeface="Calibri"/>
              <a:ea typeface="Calibri"/>
              <a:cs typeface="Calibri"/>
              <a:sym typeface="Calibri"/>
            </a:endParaRPr>
          </a:p>
        </p:txBody>
      </p:sp>
      <p:sp>
        <p:nvSpPr>
          <p:cNvPr id="231" name="Google Shape;231;p11"/>
          <p:cNvSpPr/>
          <p:nvPr/>
        </p:nvSpPr>
        <p:spPr>
          <a:xfrm>
            <a:off x="1228725" y="4257675"/>
            <a:ext cx="3384709" cy="169530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Locked at collection creation. </a:t>
            </a:r>
            <a:r>
              <a:rPr b="0" i="0" lang="en-US" sz="1800" u="none" cap="none" strike="noStrike">
                <a:solidFill>
                  <a:srgbClr val="1D2B3A"/>
                </a:solidFill>
                <a:highlight>
                  <a:srgbClr val="E8E2D4"/>
                </a:highlight>
                <a:latin typeface="JetBrains Mono"/>
                <a:ea typeface="JetBrains Mono"/>
                <a:cs typeface="JetBrains Mono"/>
                <a:sym typeface="JetBrains Mono"/>
              </a:rPr>
              <a:t>768 </a:t>
            </a:r>
            <a:r>
              <a:rPr b="0" i="0" lang="en-US" sz="1800" u="none" cap="none" strike="noStrike">
                <a:solidFill>
                  <a:srgbClr val="1D2B3A"/>
                </a:solidFill>
                <a:latin typeface="Inter"/>
                <a:ea typeface="Inter"/>
                <a:cs typeface="Inter"/>
                <a:sym typeface="Inter"/>
              </a:rPr>
              <a:t>for Gemini </a:t>
            </a:r>
            <a:r>
              <a:rPr b="0" i="0" lang="en-US" sz="1800" u="none" cap="none" strike="noStrike">
                <a:solidFill>
                  <a:srgbClr val="1D2B3A"/>
                </a:solidFill>
                <a:highlight>
                  <a:srgbClr val="E8E2D4"/>
                </a:highlight>
                <a:latin typeface="JetBrains Mono"/>
                <a:ea typeface="JetBrains Mono"/>
                <a:cs typeface="JetBrains Mono"/>
                <a:sym typeface="JetBrains Mono"/>
              </a:rPr>
              <a:t>text-embedding-004 </a:t>
            </a:r>
            <a:r>
              <a:rPr b="0" i="0" lang="en-US" sz="1800" u="none" cap="none" strike="noStrike">
                <a:solidFill>
                  <a:srgbClr val="1D2B3A"/>
                </a:solidFill>
                <a:latin typeface="Inter"/>
                <a:ea typeface="Inter"/>
                <a:cs typeface="Inter"/>
                <a:sym typeface="Inter"/>
              </a:rPr>
              <a:t>, </a:t>
            </a:r>
            <a:r>
              <a:rPr b="0" i="0" lang="en-US" sz="1800" u="none" cap="none" strike="noStrike">
                <a:solidFill>
                  <a:srgbClr val="1D2B3A"/>
                </a:solidFill>
                <a:highlight>
                  <a:srgbClr val="E8E2D4"/>
                </a:highlight>
                <a:latin typeface="JetBrains Mono"/>
                <a:ea typeface="JetBrains Mono"/>
                <a:cs typeface="JetBrains Mono"/>
                <a:sym typeface="JetBrains Mono"/>
              </a:rPr>
              <a:t>1536 </a:t>
            </a:r>
            <a:r>
              <a:rPr b="0" i="0" lang="en-US" sz="1800" u="none" cap="none" strike="noStrike">
                <a:solidFill>
                  <a:srgbClr val="1D2B3A"/>
                </a:solidFill>
                <a:latin typeface="Inter"/>
                <a:ea typeface="Inter"/>
                <a:cs typeface="Inter"/>
                <a:sym typeface="Inter"/>
              </a:rPr>
              <a:t>for OpenAI </a:t>
            </a:r>
            <a:r>
              <a:rPr b="0" i="0" lang="en-US" sz="1800" u="none" cap="none" strike="noStrike">
                <a:solidFill>
                  <a:srgbClr val="1D2B3A"/>
                </a:solidFill>
                <a:highlight>
                  <a:srgbClr val="E8E2D4"/>
                </a:highlight>
                <a:latin typeface="JetBrains Mono"/>
                <a:ea typeface="JetBrains Mono"/>
                <a:cs typeface="JetBrains Mono"/>
                <a:sym typeface="JetBrains Mono"/>
              </a:rPr>
              <a:t>text-embedding-3-small </a:t>
            </a:r>
            <a:r>
              <a:rPr b="0" i="0" lang="en-US" sz="1800" u="none" cap="none" strike="noStrike">
                <a:solidFill>
                  <a:srgbClr val="1D2B3A"/>
                </a:solidFill>
                <a:latin typeface="Inter"/>
                <a:ea typeface="Inter"/>
                <a:cs typeface="Inter"/>
                <a:sym typeface="Inter"/>
              </a:rPr>
              <a:t>.</a:t>
            </a:r>
            <a:endParaRPr b="0" i="0" sz="1800" u="none" cap="none" strike="noStrike">
              <a:solidFill>
                <a:schemeClr val="dk1"/>
              </a:solidFill>
              <a:latin typeface="Calibri"/>
              <a:ea typeface="Calibri"/>
              <a:cs typeface="Calibri"/>
              <a:sym typeface="Calibri"/>
            </a:endParaRPr>
          </a:p>
        </p:txBody>
      </p:sp>
      <p:sp>
        <p:nvSpPr>
          <p:cNvPr id="232" name="Google Shape;232;p11"/>
          <p:cNvSpPr/>
          <p:nvPr/>
        </p:nvSpPr>
        <p:spPr>
          <a:xfrm>
            <a:off x="5095875"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5410200"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QUALITY CEILING</a:t>
            </a:r>
            <a:endParaRPr b="0" i="0" sz="1350" u="none" cap="none" strike="noStrike">
              <a:solidFill>
                <a:schemeClr val="dk1"/>
              </a:solidFill>
              <a:latin typeface="Calibri"/>
              <a:ea typeface="Calibri"/>
              <a:cs typeface="Calibri"/>
              <a:sym typeface="Calibri"/>
            </a:endParaRPr>
          </a:p>
        </p:txBody>
      </p:sp>
      <p:sp>
        <p:nvSpPr>
          <p:cNvPr id="234" name="Google Shape;234;p11"/>
          <p:cNvSpPr/>
          <p:nvPr/>
        </p:nvSpPr>
        <p:spPr>
          <a:xfrm>
            <a:off x="5410200"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The model fixes how subtle a distinction retrieval can make. Above it, no amount of prompt tuning helps.</a:t>
            </a:r>
            <a:endParaRPr b="0" i="0" sz="1800" u="none" cap="none" strike="noStrike">
              <a:solidFill>
                <a:schemeClr val="dk1"/>
              </a:solidFill>
              <a:latin typeface="Calibri"/>
              <a:ea typeface="Calibri"/>
              <a:cs typeface="Calibri"/>
              <a:sym typeface="Calibri"/>
            </a:endParaRPr>
          </a:p>
        </p:txBody>
      </p:sp>
      <p:sp>
        <p:nvSpPr>
          <p:cNvPr id="235" name="Google Shape;235;p11"/>
          <p:cNvSpPr/>
          <p:nvPr/>
        </p:nvSpPr>
        <p:spPr>
          <a:xfrm>
            <a:off x="9277350"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9591675"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LANGUAGE COVERAGE</a:t>
            </a:r>
            <a:endParaRPr b="0" i="0" sz="1350" u="none" cap="none" strike="noStrike">
              <a:solidFill>
                <a:schemeClr val="dk1"/>
              </a:solidFill>
              <a:latin typeface="Calibri"/>
              <a:ea typeface="Calibri"/>
              <a:cs typeface="Calibri"/>
              <a:sym typeface="Calibri"/>
            </a:endParaRPr>
          </a:p>
        </p:txBody>
      </p:sp>
      <p:sp>
        <p:nvSpPr>
          <p:cNvPr id="237" name="Google Shape;237;p11"/>
          <p:cNvSpPr/>
          <p:nvPr/>
        </p:nvSpPr>
        <p:spPr>
          <a:xfrm>
            <a:off x="9591675"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Multilingual or English-only? Code-aware? Domain-tuned (clinical, legal)? Match this to your corpus.</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13458825"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13773150"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SAME MODEL BOTH SIDES</a:t>
            </a:r>
            <a:endParaRPr b="0" i="0" sz="1350" u="none" cap="none" strike="noStrike">
              <a:solidFill>
                <a:schemeClr val="dk1"/>
              </a:solidFill>
              <a:latin typeface="Calibri"/>
              <a:ea typeface="Calibri"/>
              <a:cs typeface="Calibri"/>
              <a:sym typeface="Calibri"/>
            </a:endParaRPr>
          </a:p>
        </p:txBody>
      </p:sp>
      <p:sp>
        <p:nvSpPr>
          <p:cNvPr id="240" name="Google Shape;240;p11"/>
          <p:cNvSpPr/>
          <p:nvPr/>
        </p:nvSpPr>
        <p:spPr>
          <a:xfrm>
            <a:off x="13773150"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Embed query with the </a:t>
            </a:r>
            <a:r>
              <a:rPr b="0" i="1" lang="en-US" sz="1800" u="none" cap="none" strike="noStrike">
                <a:solidFill>
                  <a:srgbClr val="1D2B3A"/>
                </a:solidFill>
                <a:latin typeface="Inter"/>
                <a:ea typeface="Inter"/>
                <a:cs typeface="Inter"/>
                <a:sym typeface="Inter"/>
              </a:rPr>
              <a:t>exact </a:t>
            </a:r>
            <a:r>
              <a:rPr b="0" i="0" lang="en-US" sz="1800" u="none" cap="none" strike="noStrike">
                <a:solidFill>
                  <a:srgbClr val="1D2B3A"/>
                </a:solidFill>
                <a:latin typeface="Inter"/>
                <a:ea typeface="Inter"/>
                <a:cs typeface="Inter"/>
                <a:sym typeface="Inter"/>
              </a:rPr>
              <a:t>model used at ingest. A different model = a different space = junk results.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245" name="Shape 245"/>
        <p:cNvGrpSpPr/>
        <p:nvPr/>
      </p:nvGrpSpPr>
      <p:grpSpPr>
        <a:xfrm>
          <a:off x="0" y="0"/>
          <a:ext cx="0" cy="0"/>
          <a:chOff x="0" y="0"/>
          <a:chExt cx="0" cy="0"/>
        </a:xfrm>
      </p:grpSpPr>
      <p:sp>
        <p:nvSpPr>
          <p:cNvPr id="246" name="Google Shape;246;p12"/>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247" name="Google Shape;247;p12"/>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248" name="Google Shape;248;p12"/>
          <p:cNvSpPr/>
          <p:nvPr/>
        </p:nvSpPr>
        <p:spPr>
          <a:xfrm>
            <a:off x="16557873" y="457200"/>
            <a:ext cx="891927"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09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249" name="Google Shape;249;p12"/>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250" name="Google Shape;250;p12"/>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Qdrant — the vector store</a:t>
            </a:r>
            <a:endParaRPr b="0" i="0" sz="3900" u="none" cap="none" strike="noStrike">
              <a:solidFill>
                <a:schemeClr val="dk1"/>
              </a:solidFill>
              <a:latin typeface="Calibri"/>
              <a:ea typeface="Calibri"/>
              <a:cs typeface="Calibri"/>
              <a:sym typeface="Calibri"/>
            </a:endParaRPr>
          </a:p>
        </p:txBody>
      </p:sp>
      <p:sp>
        <p:nvSpPr>
          <p:cNvPr id="251" name="Google Shape;251;p12"/>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Rust-fast nearest-neighbour search, native payload filtering, the same image in Docker and in production.</a:t>
            </a:r>
            <a:endParaRPr b="0" i="0" sz="2100" u="none" cap="none" strike="noStrike">
              <a:solidFill>
                <a:schemeClr val="dk1"/>
              </a:solidFill>
              <a:latin typeface="Calibri"/>
              <a:ea typeface="Calibri"/>
              <a:cs typeface="Calibri"/>
              <a:sym typeface="Calibri"/>
            </a:endParaRPr>
          </a:p>
        </p:txBody>
      </p:sp>
      <p:sp>
        <p:nvSpPr>
          <p:cNvPr id="252" name="Google Shape;252;p12"/>
          <p:cNvSpPr/>
          <p:nvPr/>
        </p:nvSpPr>
        <p:spPr>
          <a:xfrm>
            <a:off x="914400" y="4762500"/>
            <a:ext cx="5283101" cy="2497336"/>
          </a:xfrm>
          <a:prstGeom prst="roundRect">
            <a:avLst>
              <a:gd fmla="val 3051" name="adj"/>
            </a:avLst>
          </a:prstGeom>
          <a:solidFill>
            <a:srgbClr val="214CB8">
              <a:alpha val="3921"/>
            </a:srgbClr>
          </a:solidFill>
          <a:ln cap="flat" cmpd="sng" w="9525">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1228725" y="5076825"/>
            <a:ext cx="4794084"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COLLECTION</a:t>
            </a:r>
            <a:endParaRPr b="0" i="0" sz="1200" u="none" cap="none" strike="noStrike">
              <a:solidFill>
                <a:schemeClr val="dk1"/>
              </a:solidFill>
              <a:latin typeface="Calibri"/>
              <a:ea typeface="Calibri"/>
              <a:cs typeface="Calibri"/>
              <a:sym typeface="Calibri"/>
            </a:endParaRPr>
          </a:p>
        </p:txBody>
      </p:sp>
      <p:sp>
        <p:nvSpPr>
          <p:cNvPr id="254" name="Google Shape;254;p12"/>
          <p:cNvSpPr/>
          <p:nvPr/>
        </p:nvSpPr>
        <p:spPr>
          <a:xfrm>
            <a:off x="1228725" y="5343525"/>
            <a:ext cx="4794084" cy="678061"/>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D2B3A"/>
              </a:buClr>
              <a:buSzPts val="2100"/>
              <a:buFont typeface="Play"/>
              <a:buNone/>
            </a:pPr>
            <a:r>
              <a:rPr b="1" i="0" lang="en-US" sz="2100" u="none" cap="none" strike="noStrike">
                <a:solidFill>
                  <a:srgbClr val="1D2B3A"/>
                </a:solidFill>
                <a:latin typeface="Play"/>
                <a:ea typeface="Play"/>
                <a:cs typeface="Play"/>
                <a:sym typeface="Play"/>
              </a:rPr>
              <a:t>A namespace with a fixed vector config</a:t>
            </a:r>
            <a:endParaRPr b="0" i="0" sz="2100" u="none" cap="none" strike="noStrike">
              <a:solidFill>
                <a:schemeClr val="dk1"/>
              </a:solidFill>
              <a:latin typeface="Calibri"/>
              <a:ea typeface="Calibri"/>
              <a:cs typeface="Calibri"/>
              <a:sym typeface="Calibri"/>
            </a:endParaRPr>
          </a:p>
        </p:txBody>
      </p:sp>
      <p:sp>
        <p:nvSpPr>
          <p:cNvPr id="255" name="Google Shape;255;p12"/>
          <p:cNvSpPr/>
          <p:nvPr/>
        </p:nvSpPr>
        <p:spPr>
          <a:xfrm>
            <a:off x="1228725" y="6116836"/>
            <a:ext cx="4794084" cy="86677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1500"/>
              <a:buFont typeface="Inter"/>
              <a:buNone/>
            </a:pPr>
            <a:r>
              <a:rPr b="0" i="0" lang="en-US" sz="1500" u="none" cap="none" strike="noStrike">
                <a:solidFill>
                  <a:srgbClr val="536171"/>
                </a:solidFill>
                <a:latin typeface="Inter"/>
                <a:ea typeface="Inter"/>
                <a:cs typeface="Inter"/>
                <a:sym typeface="Inter"/>
              </a:rPr>
              <a:t>Dimensionality · distance metric · HNSW index parameters. Set once. Cannot change without re-ingesting.</a:t>
            </a:r>
            <a:endParaRPr b="0" i="0" sz="1500" u="none" cap="none" strike="noStrike">
              <a:solidFill>
                <a:schemeClr val="dk1"/>
              </a:solidFill>
              <a:latin typeface="Calibri"/>
              <a:ea typeface="Calibri"/>
              <a:cs typeface="Calibri"/>
              <a:sym typeface="Calibri"/>
            </a:endParaRPr>
          </a:p>
        </p:txBody>
      </p:sp>
      <p:sp>
        <p:nvSpPr>
          <p:cNvPr id="256" name="Google Shape;256;p12"/>
          <p:cNvSpPr/>
          <p:nvPr/>
        </p:nvSpPr>
        <p:spPr>
          <a:xfrm>
            <a:off x="6502301" y="4762500"/>
            <a:ext cx="5283250" cy="2497336"/>
          </a:xfrm>
          <a:prstGeom prst="roundRect">
            <a:avLst>
              <a:gd fmla="val 3051" name="adj"/>
            </a:avLst>
          </a:prstGeom>
          <a:solidFill>
            <a:srgbClr val="47B881">
              <a:alpha val="5098"/>
            </a:srgbClr>
          </a:solidFill>
          <a:ln cap="flat" cmpd="sng" w="9525">
            <a:solidFill>
              <a:srgbClr val="47B881"/>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p:nvPr/>
        </p:nvSpPr>
        <p:spPr>
          <a:xfrm>
            <a:off x="6816626" y="5076825"/>
            <a:ext cx="4794238"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200"/>
              <a:buFont typeface="Inter"/>
              <a:buNone/>
            </a:pPr>
            <a:r>
              <a:rPr b="1" i="0" lang="en-US" sz="1200" u="none" cap="none" strike="noStrike">
                <a:solidFill>
                  <a:srgbClr val="47B881"/>
                </a:solidFill>
                <a:latin typeface="Inter"/>
                <a:ea typeface="Inter"/>
                <a:cs typeface="Inter"/>
                <a:sym typeface="Inter"/>
              </a:rPr>
              <a:t>POINT</a:t>
            </a:r>
            <a:endParaRPr b="0" i="0" sz="1200" u="none" cap="none" strike="noStrike">
              <a:solidFill>
                <a:schemeClr val="dk1"/>
              </a:solidFill>
              <a:latin typeface="Calibri"/>
              <a:ea typeface="Calibri"/>
              <a:cs typeface="Calibri"/>
              <a:sym typeface="Calibri"/>
            </a:endParaRPr>
          </a:p>
        </p:txBody>
      </p:sp>
      <p:sp>
        <p:nvSpPr>
          <p:cNvPr id="258" name="Google Shape;258;p12"/>
          <p:cNvSpPr/>
          <p:nvPr/>
        </p:nvSpPr>
        <p:spPr>
          <a:xfrm>
            <a:off x="6816626" y="5343525"/>
            <a:ext cx="4794238" cy="3580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D2B3A"/>
              </a:buClr>
              <a:buSzPts val="2100"/>
              <a:buFont typeface="Play"/>
              <a:buNone/>
            </a:pPr>
            <a:r>
              <a:rPr b="1" i="0" lang="en-US" sz="2100" u="none" cap="none" strike="noStrike">
                <a:solidFill>
                  <a:srgbClr val="1D2B3A"/>
                </a:solidFill>
                <a:latin typeface="Play"/>
                <a:ea typeface="Play"/>
                <a:cs typeface="Play"/>
                <a:sym typeface="Play"/>
              </a:rPr>
              <a:t>One record: id + vector + payload</a:t>
            </a:r>
            <a:endParaRPr b="0" i="0" sz="2100" u="none" cap="none" strike="noStrike">
              <a:solidFill>
                <a:schemeClr val="dk1"/>
              </a:solidFill>
              <a:latin typeface="Calibri"/>
              <a:ea typeface="Calibri"/>
              <a:cs typeface="Calibri"/>
              <a:sym typeface="Calibri"/>
            </a:endParaRPr>
          </a:p>
        </p:txBody>
      </p:sp>
      <p:sp>
        <p:nvSpPr>
          <p:cNvPr id="259" name="Google Shape;259;p12"/>
          <p:cNvSpPr/>
          <p:nvPr/>
        </p:nvSpPr>
        <p:spPr>
          <a:xfrm>
            <a:off x="6816626" y="5796855"/>
            <a:ext cx="4794238" cy="59055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1500"/>
              <a:buFont typeface="Inter"/>
              <a:buNone/>
            </a:pPr>
            <a:r>
              <a:rPr b="0" i="0" lang="en-US" sz="1500" u="none" cap="none" strike="noStrike">
                <a:solidFill>
                  <a:srgbClr val="536171"/>
                </a:solidFill>
                <a:latin typeface="Inter"/>
                <a:ea typeface="Inter"/>
                <a:cs typeface="Inter"/>
                <a:sym typeface="Inter"/>
              </a:rPr>
              <a:t>Stable IDs let you upsert. Vectors hold meaning. Payload holds everything else.</a:t>
            </a:r>
            <a:endParaRPr b="0" i="0" sz="1500" u="none" cap="none" strike="noStrike">
              <a:solidFill>
                <a:schemeClr val="dk1"/>
              </a:solidFill>
              <a:latin typeface="Calibri"/>
              <a:ea typeface="Calibri"/>
              <a:cs typeface="Calibri"/>
              <a:sym typeface="Calibri"/>
            </a:endParaRPr>
          </a:p>
        </p:txBody>
      </p:sp>
      <p:sp>
        <p:nvSpPr>
          <p:cNvPr id="260" name="Google Shape;260;p12"/>
          <p:cNvSpPr/>
          <p:nvPr/>
        </p:nvSpPr>
        <p:spPr>
          <a:xfrm>
            <a:off x="12090350" y="4762500"/>
            <a:ext cx="5283250" cy="2497336"/>
          </a:xfrm>
          <a:prstGeom prst="roundRect">
            <a:avLst>
              <a:gd fmla="val 3051" name="adj"/>
            </a:avLst>
          </a:prstGeom>
          <a:solidFill>
            <a:srgbClr val="D49000">
              <a:alpha val="5098"/>
            </a:srgbClr>
          </a:solidFill>
          <a:ln cap="flat" cmpd="sng" w="9525">
            <a:solidFill>
              <a:srgbClr val="D49000"/>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12404675" y="5076825"/>
            <a:ext cx="4794238"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200"/>
              <a:buFont typeface="Inter"/>
              <a:buNone/>
            </a:pPr>
            <a:r>
              <a:rPr b="1" i="0" lang="en-US" sz="1200" u="none" cap="none" strike="noStrike">
                <a:solidFill>
                  <a:srgbClr val="D49000"/>
                </a:solidFill>
                <a:latin typeface="Inter"/>
                <a:ea typeface="Inter"/>
                <a:cs typeface="Inter"/>
                <a:sym typeface="Inter"/>
              </a:rPr>
              <a:t>PAYLOAD</a:t>
            </a:r>
            <a:endParaRPr b="0" i="0" sz="1200" u="none" cap="none" strike="noStrike">
              <a:solidFill>
                <a:schemeClr val="dk1"/>
              </a:solidFill>
              <a:latin typeface="Calibri"/>
              <a:ea typeface="Calibri"/>
              <a:cs typeface="Calibri"/>
              <a:sym typeface="Calibri"/>
            </a:endParaRPr>
          </a:p>
        </p:txBody>
      </p:sp>
      <p:sp>
        <p:nvSpPr>
          <p:cNvPr id="262" name="Google Shape;262;p12"/>
          <p:cNvSpPr/>
          <p:nvPr/>
        </p:nvSpPr>
        <p:spPr>
          <a:xfrm>
            <a:off x="12404675" y="5343525"/>
            <a:ext cx="4794238" cy="3580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D2B3A"/>
              </a:buClr>
              <a:buSzPts val="2100"/>
              <a:buFont typeface="Play"/>
              <a:buNone/>
            </a:pPr>
            <a:r>
              <a:rPr b="1" i="0" lang="en-US" sz="2100" u="none" cap="none" strike="noStrike">
                <a:solidFill>
                  <a:srgbClr val="1D2B3A"/>
                </a:solidFill>
                <a:latin typeface="Play"/>
                <a:ea typeface="Play"/>
                <a:cs typeface="Play"/>
                <a:sym typeface="Play"/>
              </a:rPr>
              <a:t>JSON metadata you filter on</a:t>
            </a:r>
            <a:endParaRPr b="0" i="0" sz="2100" u="none" cap="none" strike="noStrike">
              <a:solidFill>
                <a:schemeClr val="dk1"/>
              </a:solidFill>
              <a:latin typeface="Calibri"/>
              <a:ea typeface="Calibri"/>
              <a:cs typeface="Calibri"/>
              <a:sym typeface="Calibri"/>
            </a:endParaRPr>
          </a:p>
        </p:txBody>
      </p:sp>
      <p:sp>
        <p:nvSpPr>
          <p:cNvPr id="263" name="Google Shape;263;p12"/>
          <p:cNvSpPr/>
          <p:nvPr/>
        </p:nvSpPr>
        <p:spPr>
          <a:xfrm>
            <a:off x="12404675" y="5796855"/>
            <a:ext cx="4794238" cy="59055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1500"/>
              <a:buFont typeface="Inter"/>
              <a:buNone/>
            </a:pPr>
            <a:r>
              <a:rPr b="0" i="0" lang="en-US" sz="1500" u="none" cap="none" strike="noStrike">
                <a:solidFill>
                  <a:srgbClr val="536171"/>
                </a:solidFill>
                <a:latin typeface="Inter"/>
                <a:ea typeface="Inter"/>
                <a:cs typeface="Inter"/>
                <a:sym typeface="Inter"/>
              </a:rPr>
              <a:t>document_id · tenant_id · timestamp · source_url · the chunk text itself.</a:t>
            </a:r>
            <a:endParaRPr b="0" i="0" sz="1500" u="none" cap="none" strike="noStrike">
              <a:solidFill>
                <a:schemeClr val="dk1"/>
              </a:solidFill>
              <a:latin typeface="Calibri"/>
              <a:ea typeface="Calibri"/>
              <a:cs typeface="Calibri"/>
              <a:sym typeface="Calibri"/>
            </a:endParaRPr>
          </a:p>
        </p:txBody>
      </p:sp>
      <p:sp>
        <p:nvSpPr>
          <p:cNvPr id="264" name="Google Shape;264;p12"/>
          <p:cNvSpPr/>
          <p:nvPr/>
        </p:nvSpPr>
        <p:spPr>
          <a:xfrm>
            <a:off x="914400" y="7905750"/>
            <a:ext cx="4061650" cy="228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500"/>
              <a:buFont typeface="Inter"/>
              <a:buNone/>
            </a:pPr>
            <a:r>
              <a:rPr b="1" i="0" lang="en-US" sz="1500" u="none" cap="none" strike="noStrike">
                <a:solidFill>
                  <a:srgbClr val="1D2B3A"/>
                </a:solidFill>
                <a:latin typeface="Inter"/>
                <a:ea typeface="Inter"/>
                <a:cs typeface="Inter"/>
                <a:sym typeface="Inter"/>
              </a:rPr>
              <a:t>Open source</a:t>
            </a:r>
            <a:endParaRPr b="0" i="0" sz="1500" u="none" cap="none" strike="noStrike">
              <a:solidFill>
                <a:schemeClr val="dk1"/>
              </a:solidFill>
              <a:latin typeface="Calibri"/>
              <a:ea typeface="Calibri"/>
              <a:cs typeface="Calibri"/>
              <a:sym typeface="Calibri"/>
            </a:endParaRPr>
          </a:p>
        </p:txBody>
      </p:sp>
      <p:sp>
        <p:nvSpPr>
          <p:cNvPr id="265" name="Google Shape;265;p12"/>
          <p:cNvSpPr/>
          <p:nvPr/>
        </p:nvSpPr>
        <p:spPr>
          <a:xfrm>
            <a:off x="914400" y="8172450"/>
            <a:ext cx="4061650" cy="29140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Self-host or managed — same API.</a:t>
            </a:r>
            <a:endParaRPr b="0" i="0" sz="1425" u="none" cap="none" strike="noStrike">
              <a:solidFill>
                <a:schemeClr val="dk1"/>
              </a:solidFill>
              <a:latin typeface="Calibri"/>
              <a:ea typeface="Calibri"/>
              <a:cs typeface="Calibri"/>
              <a:sym typeface="Calibri"/>
            </a:endParaRPr>
          </a:p>
        </p:txBody>
      </p:sp>
      <p:sp>
        <p:nvSpPr>
          <p:cNvPr id="266" name="Google Shape;266;p12"/>
          <p:cNvSpPr/>
          <p:nvPr/>
        </p:nvSpPr>
        <p:spPr>
          <a:xfrm>
            <a:off x="5086350" y="7905750"/>
            <a:ext cx="4061650" cy="228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500"/>
              <a:buFont typeface="Inter"/>
              <a:buNone/>
            </a:pPr>
            <a:r>
              <a:rPr b="1" i="0" lang="en-US" sz="1500" u="none" cap="none" strike="noStrike">
                <a:solidFill>
                  <a:srgbClr val="1D2B3A"/>
                </a:solidFill>
                <a:latin typeface="Inter"/>
                <a:ea typeface="Inter"/>
                <a:cs typeface="Inter"/>
                <a:sym typeface="Inter"/>
              </a:rPr>
              <a:t>Fast at scale</a:t>
            </a:r>
            <a:endParaRPr b="0" i="0" sz="1500" u="none" cap="none" strike="noStrike">
              <a:solidFill>
                <a:schemeClr val="dk1"/>
              </a:solidFill>
              <a:latin typeface="Calibri"/>
              <a:ea typeface="Calibri"/>
              <a:cs typeface="Calibri"/>
              <a:sym typeface="Calibri"/>
            </a:endParaRPr>
          </a:p>
        </p:txBody>
      </p:sp>
      <p:sp>
        <p:nvSpPr>
          <p:cNvPr id="267" name="Google Shape;267;p12"/>
          <p:cNvSpPr/>
          <p:nvPr/>
        </p:nvSpPr>
        <p:spPr>
          <a:xfrm>
            <a:off x="5086350" y="8172450"/>
            <a:ext cx="4061650" cy="29140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Sub-100ms at billions of points.</a:t>
            </a:r>
            <a:endParaRPr b="0" i="0" sz="1425" u="none" cap="none" strike="noStrike">
              <a:solidFill>
                <a:schemeClr val="dk1"/>
              </a:solidFill>
              <a:latin typeface="Calibri"/>
              <a:ea typeface="Calibri"/>
              <a:cs typeface="Calibri"/>
              <a:sym typeface="Calibri"/>
            </a:endParaRPr>
          </a:p>
        </p:txBody>
      </p:sp>
      <p:sp>
        <p:nvSpPr>
          <p:cNvPr id="268" name="Google Shape;268;p12"/>
          <p:cNvSpPr/>
          <p:nvPr/>
        </p:nvSpPr>
        <p:spPr>
          <a:xfrm>
            <a:off x="9258300" y="7905750"/>
            <a:ext cx="4061650" cy="228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500"/>
              <a:buFont typeface="Inter"/>
              <a:buNone/>
            </a:pPr>
            <a:r>
              <a:rPr b="1" i="0" lang="en-US" sz="1500" u="none" cap="none" strike="noStrike">
                <a:solidFill>
                  <a:srgbClr val="1D2B3A"/>
                </a:solidFill>
                <a:latin typeface="Inter"/>
                <a:ea typeface="Inter"/>
                <a:cs typeface="Inter"/>
                <a:sym typeface="Inter"/>
              </a:rPr>
              <a:t>Filter-native</a:t>
            </a:r>
            <a:endParaRPr b="0" i="0" sz="1500" u="none" cap="none" strike="noStrike">
              <a:solidFill>
                <a:schemeClr val="dk1"/>
              </a:solidFill>
              <a:latin typeface="Calibri"/>
              <a:ea typeface="Calibri"/>
              <a:cs typeface="Calibri"/>
              <a:sym typeface="Calibri"/>
            </a:endParaRPr>
          </a:p>
        </p:txBody>
      </p:sp>
      <p:sp>
        <p:nvSpPr>
          <p:cNvPr id="269" name="Google Shape;269;p12"/>
          <p:cNvSpPr/>
          <p:nvPr/>
        </p:nvSpPr>
        <p:spPr>
          <a:xfrm>
            <a:off x="9258300" y="8172450"/>
            <a:ext cx="4061650" cy="29140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425"/>
              <a:buFont typeface="Inter"/>
              <a:buNone/>
            </a:pPr>
            <a:r>
              <a:rPr b="0" i="0" lang="en-US" sz="1425" u="none" cap="none" strike="noStrike">
                <a:solidFill>
                  <a:srgbClr val="536171"/>
                </a:solidFill>
                <a:latin typeface="Inter"/>
                <a:ea typeface="Inter"/>
                <a:cs typeface="Inter"/>
                <a:sym typeface="Inter"/>
              </a:rPr>
              <a:t>Boolean filters compose with vector search.</a:t>
            </a:r>
            <a:endParaRPr b="0" i="0" sz="1425" u="none" cap="none" strike="noStrike">
              <a:solidFill>
                <a:schemeClr val="dk1"/>
              </a:solidFill>
              <a:latin typeface="Calibri"/>
              <a:ea typeface="Calibri"/>
              <a:cs typeface="Calibri"/>
              <a:sym typeface="Calibri"/>
            </a:endParaRPr>
          </a:p>
        </p:txBody>
      </p:sp>
      <p:sp>
        <p:nvSpPr>
          <p:cNvPr id="270" name="Google Shape;270;p12"/>
          <p:cNvSpPr/>
          <p:nvPr/>
        </p:nvSpPr>
        <p:spPr>
          <a:xfrm>
            <a:off x="13430250" y="7905750"/>
            <a:ext cx="4061650" cy="228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500"/>
              <a:buFont typeface="Inter"/>
              <a:buNone/>
            </a:pPr>
            <a:r>
              <a:rPr b="1" i="0" lang="en-US" sz="1500" u="none" cap="none" strike="noStrike">
                <a:solidFill>
                  <a:srgbClr val="1D2B3A"/>
                </a:solidFill>
                <a:latin typeface="Inter"/>
                <a:ea typeface="Inter"/>
                <a:cs typeface="Inter"/>
                <a:sym typeface="Inter"/>
              </a:rPr>
              <a:t>Clean Python client</a:t>
            </a:r>
            <a:endParaRPr b="0" i="0" sz="1500" u="none" cap="none" strike="noStrike">
              <a:solidFill>
                <a:schemeClr val="dk1"/>
              </a:solidFill>
              <a:latin typeface="Calibri"/>
              <a:ea typeface="Calibri"/>
              <a:cs typeface="Calibri"/>
              <a:sym typeface="Calibri"/>
            </a:endParaRPr>
          </a:p>
        </p:txBody>
      </p:sp>
      <p:sp>
        <p:nvSpPr>
          <p:cNvPr id="271" name="Google Shape;271;p12"/>
          <p:cNvSpPr/>
          <p:nvPr/>
        </p:nvSpPr>
        <p:spPr>
          <a:xfrm>
            <a:off x="13430250" y="8172450"/>
            <a:ext cx="4061650" cy="29140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1425"/>
              <a:buFont typeface="JetBrains Mono"/>
              <a:buNone/>
            </a:pPr>
            <a:r>
              <a:rPr b="0" i="0" lang="en-US" sz="1425" u="none" cap="none" strike="noStrike">
                <a:solidFill>
                  <a:srgbClr val="1D2B3A"/>
                </a:solidFill>
                <a:highlight>
                  <a:srgbClr val="E8E2D4"/>
                </a:highlight>
                <a:latin typeface="JetBrains Mono"/>
                <a:ea typeface="JetBrains Mono"/>
                <a:cs typeface="JetBrains Mono"/>
                <a:sym typeface="JetBrains Mono"/>
              </a:rPr>
              <a:t>qdrant-client </a:t>
            </a:r>
            <a:r>
              <a:rPr b="0" i="0" lang="en-US" sz="1425" u="none" cap="none" strike="noStrike">
                <a:solidFill>
                  <a:srgbClr val="536171"/>
                </a:solidFill>
                <a:latin typeface="Inter"/>
                <a:ea typeface="Inter"/>
                <a:cs typeface="Inter"/>
                <a:sym typeface="Inter"/>
              </a:rPr>
              <a:t>— sync &amp; async.</a:t>
            </a:r>
            <a:endParaRPr b="0" i="0" sz="1425"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033"/>
        </a:solidFill>
      </p:bgPr>
    </p:bg>
    <p:spTree>
      <p:nvGrpSpPr>
        <p:cNvPr id="276" name="Shape 276"/>
        <p:cNvGrpSpPr/>
        <p:nvPr/>
      </p:nvGrpSpPr>
      <p:grpSpPr>
        <a:xfrm>
          <a:off x="0" y="0"/>
          <a:ext cx="0" cy="0"/>
          <a:chOff x="0" y="0"/>
          <a:chExt cx="0" cy="0"/>
        </a:xfrm>
      </p:grpSpPr>
      <p:sp>
        <p:nvSpPr>
          <p:cNvPr id="277" name="Google Shape;277;p13"/>
          <p:cNvSpPr/>
          <p:nvPr/>
        </p:nvSpPr>
        <p:spPr>
          <a:xfrm>
            <a:off x="914400" y="2667000"/>
            <a:ext cx="5702400" cy="3969900"/>
          </a:xfrm>
          <a:prstGeom prst="rect">
            <a:avLst/>
          </a:prstGeom>
          <a:noFill/>
          <a:ln>
            <a:noFill/>
          </a:ln>
        </p:spPr>
        <p:txBody>
          <a:bodyPr anchorCtr="0" anchor="t" bIns="25400" lIns="25400" spcFirstLastPara="1" rIns="25400" wrap="square" tIns="25400">
            <a:noAutofit/>
          </a:bodyPr>
          <a:lstStyle/>
          <a:p>
            <a:pPr indent="0" lvl="0" marL="0" marR="0" rtl="0" algn="l">
              <a:lnSpc>
                <a:spcPct val="86000"/>
              </a:lnSpc>
              <a:spcBef>
                <a:spcPts val="0"/>
              </a:spcBef>
              <a:spcAft>
                <a:spcPts val="0"/>
              </a:spcAft>
              <a:buClr>
                <a:srgbClr val="FFFFFF"/>
              </a:buClr>
              <a:buSzPts val="36000"/>
              <a:buFont typeface="Play"/>
              <a:buNone/>
            </a:pPr>
            <a:r>
              <a:rPr b="1" i="0" lang="en-US" sz="36000" u="none" cap="none" strike="noStrike">
                <a:solidFill>
                  <a:srgbClr val="FFFFFF"/>
                </a:solidFill>
                <a:latin typeface="Play"/>
                <a:ea typeface="Play"/>
                <a:cs typeface="Play"/>
                <a:sym typeface="Play"/>
              </a:rPr>
              <a:t>02</a:t>
            </a:r>
            <a:endParaRPr b="0" i="0" sz="36000" u="none" cap="none" strike="noStrike">
              <a:solidFill>
                <a:schemeClr val="dk1"/>
              </a:solidFill>
              <a:latin typeface="Calibri"/>
              <a:ea typeface="Calibri"/>
              <a:cs typeface="Calibri"/>
              <a:sym typeface="Calibri"/>
            </a:endParaRPr>
          </a:p>
        </p:txBody>
      </p:sp>
      <p:sp>
        <p:nvSpPr>
          <p:cNvPr id="278" name="Google Shape;278;p13"/>
          <p:cNvSpPr/>
          <p:nvPr/>
        </p:nvSpPr>
        <p:spPr>
          <a:xfrm>
            <a:off x="7239000" y="3619500"/>
            <a:ext cx="10438638"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PART 02</a:t>
            </a:r>
            <a:endParaRPr b="0" i="0" sz="1650" u="none" cap="none" strike="noStrike">
              <a:solidFill>
                <a:schemeClr val="dk1"/>
              </a:solidFill>
              <a:latin typeface="Calibri"/>
              <a:ea typeface="Calibri"/>
              <a:cs typeface="Calibri"/>
              <a:sym typeface="Calibri"/>
            </a:endParaRPr>
          </a:p>
        </p:txBody>
      </p:sp>
      <p:sp>
        <p:nvSpPr>
          <p:cNvPr id="279" name="Google Shape;279;p13"/>
          <p:cNvSpPr/>
          <p:nvPr/>
        </p:nvSpPr>
        <p:spPr>
          <a:xfrm>
            <a:off x="7239000" y="4057650"/>
            <a:ext cx="10438638" cy="918121"/>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FFFFFF"/>
              </a:buClr>
              <a:buSzPts val="6600"/>
              <a:buFont typeface="Play"/>
              <a:buNone/>
            </a:pPr>
            <a:r>
              <a:rPr b="1" i="0" lang="en-US" sz="6600" u="none" cap="none" strike="noStrike">
                <a:solidFill>
                  <a:srgbClr val="FFFFFF"/>
                </a:solidFill>
                <a:latin typeface="Play"/>
                <a:ea typeface="Play"/>
                <a:cs typeface="Play"/>
                <a:sym typeface="Play"/>
              </a:rPr>
              <a:t>Ingestion &amp; Search</a:t>
            </a:r>
            <a:endParaRPr b="0" i="0" sz="6600" u="none" cap="none" strike="noStrike">
              <a:solidFill>
                <a:schemeClr val="dk1"/>
              </a:solidFill>
              <a:latin typeface="Calibri"/>
              <a:ea typeface="Calibri"/>
              <a:cs typeface="Calibri"/>
              <a:sym typeface="Calibri"/>
            </a:endParaRPr>
          </a:p>
        </p:txBody>
      </p:sp>
      <p:sp>
        <p:nvSpPr>
          <p:cNvPr id="280" name="Google Shape;280;p13"/>
          <p:cNvSpPr/>
          <p:nvPr/>
        </p:nvSpPr>
        <p:spPr>
          <a:xfrm>
            <a:off x="7239000" y="5242471"/>
            <a:ext cx="8241030" cy="86677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C7D3DD"/>
              </a:buClr>
              <a:buSzPts val="2250"/>
              <a:buFont typeface="Inter"/>
              <a:buNone/>
            </a:pPr>
            <a:r>
              <a:rPr b="0" i="0" lang="en-US" sz="2250" u="none" cap="none" strike="noStrike">
                <a:solidFill>
                  <a:srgbClr val="C7D3DD"/>
                </a:solidFill>
                <a:latin typeface="Inter"/>
                <a:ea typeface="Inter"/>
                <a:cs typeface="Inter"/>
                <a:sym typeface="Inter"/>
              </a:rPr>
              <a:t>Most RAG projects succeed or fail at ingestion. Every stage has a knob.</a:t>
            </a:r>
            <a:endParaRPr b="0" i="0" sz="2250" u="none" cap="none" strike="noStrike">
              <a:solidFill>
                <a:schemeClr val="dk1"/>
              </a:solidFill>
              <a:latin typeface="Calibri"/>
              <a:ea typeface="Calibri"/>
              <a:cs typeface="Calibri"/>
              <a:sym typeface="Calibri"/>
            </a:endParaRPr>
          </a:p>
        </p:txBody>
      </p:sp>
      <p:sp>
        <p:nvSpPr>
          <p:cNvPr id="281" name="Google Shape;281;p13"/>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FA0AF"/>
              </a:buClr>
              <a:buSzPts val="1650"/>
              <a:buFont typeface="Inter"/>
              <a:buNone/>
            </a:pPr>
            <a:r>
              <a:rPr b="0" i="0" lang="en-US" sz="1650" u="none" cap="none" strike="noStrike">
                <a:solidFill>
                  <a:srgbClr val="8FA0AF"/>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282" name="Google Shape;282;p13"/>
          <p:cNvSpPr/>
          <p:nvPr/>
        </p:nvSpPr>
        <p:spPr>
          <a:xfrm>
            <a:off x="16603563" y="457200"/>
            <a:ext cx="846237"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1650"/>
              <a:buFont typeface="Inter"/>
              <a:buNone/>
            </a:pPr>
            <a:r>
              <a:rPr b="1" i="0" lang="en-US" sz="1650" u="none" cap="none" strike="noStrike">
                <a:solidFill>
                  <a:srgbClr val="FFFFFF"/>
                </a:solidFill>
                <a:latin typeface="Inter"/>
                <a:ea typeface="Inter"/>
                <a:cs typeface="Inter"/>
                <a:sym typeface="Inter"/>
              </a:rPr>
              <a:t>10 </a:t>
            </a:r>
            <a:r>
              <a:rPr b="0" i="0" lang="en-US" sz="1650" u="none" cap="none" strike="noStrike">
                <a:solidFill>
                  <a:srgbClr val="8FA0AF"/>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287" name="Shape 287"/>
        <p:cNvGrpSpPr/>
        <p:nvPr/>
      </p:nvGrpSpPr>
      <p:grpSpPr>
        <a:xfrm>
          <a:off x="0" y="0"/>
          <a:ext cx="0" cy="0"/>
          <a:chOff x="0" y="0"/>
          <a:chExt cx="0" cy="0"/>
        </a:xfrm>
      </p:grpSpPr>
      <p:sp>
        <p:nvSpPr>
          <p:cNvPr id="288" name="Google Shape;288;p14"/>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289" name="Google Shape;289;p14"/>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290" name="Google Shape;290;p14"/>
          <p:cNvSpPr/>
          <p:nvPr/>
        </p:nvSpPr>
        <p:spPr>
          <a:xfrm>
            <a:off x="16654463" y="457200"/>
            <a:ext cx="795338"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11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291" name="Google Shape;291;p14"/>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292" name="Google Shape;292;p14"/>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The ingestion pipeline, end to end</a:t>
            </a:r>
            <a:endParaRPr b="0" i="0" sz="3900" u="none" cap="none" strike="noStrike">
              <a:solidFill>
                <a:schemeClr val="dk1"/>
              </a:solidFill>
              <a:latin typeface="Calibri"/>
              <a:ea typeface="Calibri"/>
              <a:cs typeface="Calibri"/>
              <a:sym typeface="Calibri"/>
            </a:endParaRPr>
          </a:p>
        </p:txBody>
      </p:sp>
      <p:sp>
        <p:nvSpPr>
          <p:cNvPr id="293" name="Google Shape;293;p14"/>
          <p:cNvSpPr/>
          <p:nvPr/>
        </p:nvSpPr>
        <p:spPr>
          <a:xfrm>
            <a:off x="914400" y="2448967"/>
            <a:ext cx="13735050" cy="81141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Five stages from raw document to a queryable point in Qdrant — every stage has a knob that moves quality.</a:t>
            </a:r>
            <a:endParaRPr b="0" i="0" sz="2100" u="none" cap="none" strike="noStrike">
              <a:solidFill>
                <a:schemeClr val="dk1"/>
              </a:solidFill>
              <a:latin typeface="Calibri"/>
              <a:ea typeface="Calibri"/>
              <a:cs typeface="Calibri"/>
              <a:sym typeface="Calibri"/>
            </a:endParaRPr>
          </a:p>
        </p:txBody>
      </p:sp>
      <p:sp>
        <p:nvSpPr>
          <p:cNvPr id="294" name="Google Shape;294;p14"/>
          <p:cNvSpPr/>
          <p:nvPr/>
        </p:nvSpPr>
        <p:spPr>
          <a:xfrm>
            <a:off x="571500" y="4762500"/>
            <a:ext cx="3124200" cy="1268611"/>
          </a:xfrm>
          <a:prstGeom prst="roundRect">
            <a:avLst>
              <a:gd fmla="val 600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p:nvPr/>
        </p:nvSpPr>
        <p:spPr>
          <a:xfrm>
            <a:off x="750284" y="5000625"/>
            <a:ext cx="2766632"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SOURCE</a:t>
            </a:r>
            <a:endParaRPr b="0" i="0" sz="1200" u="none" cap="none" strike="noStrike">
              <a:solidFill>
                <a:schemeClr val="dk1"/>
              </a:solidFill>
              <a:latin typeface="Calibri"/>
              <a:ea typeface="Calibri"/>
              <a:cs typeface="Calibri"/>
              <a:sym typeface="Calibri"/>
            </a:endParaRPr>
          </a:p>
        </p:txBody>
      </p:sp>
      <p:sp>
        <p:nvSpPr>
          <p:cNvPr id="296" name="Google Shape;296;p14"/>
          <p:cNvSpPr/>
          <p:nvPr/>
        </p:nvSpPr>
        <p:spPr>
          <a:xfrm>
            <a:off x="750284" y="5267325"/>
            <a:ext cx="2766632" cy="563761"/>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PDF · HTML Markdown · API</a:t>
            </a:r>
            <a:endParaRPr b="0" i="0" sz="1800" u="none" cap="none" strike="noStrike">
              <a:solidFill>
                <a:schemeClr val="dk1"/>
              </a:solidFill>
              <a:latin typeface="Calibri"/>
              <a:ea typeface="Calibri"/>
              <a:cs typeface="Calibri"/>
              <a:sym typeface="Calibri"/>
            </a:endParaRPr>
          </a:p>
        </p:txBody>
      </p:sp>
      <p:sp>
        <p:nvSpPr>
          <p:cNvPr id="297" name="Google Shape;297;p14"/>
          <p:cNvSpPr/>
          <p:nvPr/>
        </p:nvSpPr>
        <p:spPr>
          <a:xfrm>
            <a:off x="3657600" y="5263455"/>
            <a:ext cx="4572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298" name="Google Shape;298;p14"/>
          <p:cNvSpPr/>
          <p:nvPr/>
        </p:nvSpPr>
        <p:spPr>
          <a:xfrm>
            <a:off x="4076700" y="4762500"/>
            <a:ext cx="3124200" cy="1268611"/>
          </a:xfrm>
          <a:prstGeom prst="roundRect">
            <a:avLst>
              <a:gd fmla="val 6007" name="adj"/>
            </a:avLst>
          </a:prstGeom>
          <a:solidFill>
            <a:srgbClr val="214CB8">
              <a:alpha val="3921"/>
            </a:srgbClr>
          </a:solidFill>
          <a:ln cap="flat" cmpd="sng" w="9525">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4"/>
          <p:cNvSpPr/>
          <p:nvPr/>
        </p:nvSpPr>
        <p:spPr>
          <a:xfrm>
            <a:off x="4255484" y="5000625"/>
            <a:ext cx="2766632"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EXTRACT</a:t>
            </a:r>
            <a:endParaRPr b="0" i="0" sz="1200" u="none" cap="none" strike="noStrike">
              <a:solidFill>
                <a:schemeClr val="dk1"/>
              </a:solidFill>
              <a:latin typeface="Calibri"/>
              <a:ea typeface="Calibri"/>
              <a:cs typeface="Calibri"/>
              <a:sym typeface="Calibri"/>
            </a:endParaRPr>
          </a:p>
        </p:txBody>
      </p:sp>
      <p:sp>
        <p:nvSpPr>
          <p:cNvPr id="300" name="Google Shape;300;p14"/>
          <p:cNvSpPr/>
          <p:nvPr/>
        </p:nvSpPr>
        <p:spPr>
          <a:xfrm>
            <a:off x="4255484" y="5267325"/>
            <a:ext cx="2766632" cy="563761"/>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Raw text + structure</a:t>
            </a:r>
            <a:endParaRPr b="0" i="0" sz="1800" u="none" cap="none" strike="noStrike">
              <a:solidFill>
                <a:schemeClr val="dk1"/>
              </a:solidFill>
              <a:latin typeface="Calibri"/>
              <a:ea typeface="Calibri"/>
              <a:cs typeface="Calibri"/>
              <a:sym typeface="Calibri"/>
            </a:endParaRPr>
          </a:p>
        </p:txBody>
      </p:sp>
      <p:sp>
        <p:nvSpPr>
          <p:cNvPr id="301" name="Google Shape;301;p14"/>
          <p:cNvSpPr/>
          <p:nvPr/>
        </p:nvSpPr>
        <p:spPr>
          <a:xfrm>
            <a:off x="7162800" y="5263455"/>
            <a:ext cx="4572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302" name="Google Shape;302;p14"/>
          <p:cNvSpPr/>
          <p:nvPr/>
        </p:nvSpPr>
        <p:spPr>
          <a:xfrm>
            <a:off x="7581900" y="4762500"/>
            <a:ext cx="3124200" cy="1268611"/>
          </a:xfrm>
          <a:prstGeom prst="roundRect">
            <a:avLst>
              <a:gd fmla="val 6007" name="adj"/>
            </a:avLst>
          </a:prstGeom>
          <a:solidFill>
            <a:srgbClr val="214CB8">
              <a:alpha val="3921"/>
            </a:srgbClr>
          </a:solidFill>
          <a:ln cap="flat" cmpd="sng" w="9525">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4"/>
          <p:cNvSpPr/>
          <p:nvPr/>
        </p:nvSpPr>
        <p:spPr>
          <a:xfrm>
            <a:off x="7760684" y="5000625"/>
            <a:ext cx="2766632"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CHUNK</a:t>
            </a:r>
            <a:endParaRPr b="0" i="0" sz="1200" u="none" cap="none" strike="noStrike">
              <a:solidFill>
                <a:schemeClr val="dk1"/>
              </a:solidFill>
              <a:latin typeface="Calibri"/>
              <a:ea typeface="Calibri"/>
              <a:cs typeface="Calibri"/>
              <a:sym typeface="Calibri"/>
            </a:endParaRPr>
          </a:p>
        </p:txBody>
      </p:sp>
      <p:sp>
        <p:nvSpPr>
          <p:cNvPr id="304" name="Google Shape;304;p14"/>
          <p:cNvSpPr/>
          <p:nvPr/>
        </p:nvSpPr>
        <p:spPr>
          <a:xfrm>
            <a:off x="7760684" y="5267325"/>
            <a:ext cx="2766632" cy="563761"/>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500–800 tok 10–15% overlap</a:t>
            </a:r>
            <a:endParaRPr b="0" i="0" sz="1800" u="none" cap="none" strike="noStrike">
              <a:solidFill>
                <a:schemeClr val="dk1"/>
              </a:solidFill>
              <a:latin typeface="Calibri"/>
              <a:ea typeface="Calibri"/>
              <a:cs typeface="Calibri"/>
              <a:sym typeface="Calibri"/>
            </a:endParaRPr>
          </a:p>
        </p:txBody>
      </p:sp>
      <p:sp>
        <p:nvSpPr>
          <p:cNvPr id="305" name="Google Shape;305;p14"/>
          <p:cNvSpPr/>
          <p:nvPr/>
        </p:nvSpPr>
        <p:spPr>
          <a:xfrm>
            <a:off x="10668000" y="5263455"/>
            <a:ext cx="4572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306" name="Google Shape;306;p14"/>
          <p:cNvSpPr/>
          <p:nvPr/>
        </p:nvSpPr>
        <p:spPr>
          <a:xfrm>
            <a:off x="11087100" y="4762500"/>
            <a:ext cx="3124200" cy="1268611"/>
          </a:xfrm>
          <a:prstGeom prst="roundRect">
            <a:avLst>
              <a:gd fmla="val 6007" name="adj"/>
            </a:avLst>
          </a:prstGeom>
          <a:solidFill>
            <a:srgbClr val="47B881">
              <a:alpha val="5098"/>
            </a:srgbClr>
          </a:solidFill>
          <a:ln cap="flat" cmpd="sng" w="9525">
            <a:solidFill>
              <a:srgbClr val="47B881"/>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11265884" y="5000625"/>
            <a:ext cx="2766632"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EMBED</a:t>
            </a:r>
            <a:endParaRPr b="0" i="0" sz="1200" u="none" cap="none" strike="noStrike">
              <a:solidFill>
                <a:schemeClr val="dk1"/>
              </a:solidFill>
              <a:latin typeface="Calibri"/>
              <a:ea typeface="Calibri"/>
              <a:cs typeface="Calibri"/>
              <a:sym typeface="Calibri"/>
            </a:endParaRPr>
          </a:p>
        </p:txBody>
      </p:sp>
      <p:sp>
        <p:nvSpPr>
          <p:cNvPr id="308" name="Google Shape;308;p14"/>
          <p:cNvSpPr/>
          <p:nvPr/>
        </p:nvSpPr>
        <p:spPr>
          <a:xfrm>
            <a:off x="11265884" y="5267325"/>
            <a:ext cx="2766632" cy="563761"/>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Batch · same model both sides</a:t>
            </a:r>
            <a:endParaRPr b="0" i="0" sz="1800" u="none" cap="none" strike="noStrike">
              <a:solidFill>
                <a:schemeClr val="dk1"/>
              </a:solidFill>
              <a:latin typeface="Calibri"/>
              <a:ea typeface="Calibri"/>
              <a:cs typeface="Calibri"/>
              <a:sym typeface="Calibri"/>
            </a:endParaRPr>
          </a:p>
        </p:txBody>
      </p:sp>
      <p:sp>
        <p:nvSpPr>
          <p:cNvPr id="309" name="Google Shape;309;p14"/>
          <p:cNvSpPr/>
          <p:nvPr/>
        </p:nvSpPr>
        <p:spPr>
          <a:xfrm>
            <a:off x="14173200" y="5263455"/>
            <a:ext cx="4572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310" name="Google Shape;310;p14"/>
          <p:cNvSpPr/>
          <p:nvPr/>
        </p:nvSpPr>
        <p:spPr>
          <a:xfrm>
            <a:off x="14592300" y="4762500"/>
            <a:ext cx="3124200" cy="1268611"/>
          </a:xfrm>
          <a:prstGeom prst="roundRect">
            <a:avLst>
              <a:gd fmla="val 6007" name="adj"/>
            </a:avLst>
          </a:prstGeom>
          <a:solidFill>
            <a:srgbClr val="D49000">
              <a:alpha val="5098"/>
            </a:srgbClr>
          </a:solidFill>
          <a:ln cap="flat" cmpd="sng" w="9525">
            <a:solidFill>
              <a:srgbClr val="D49000"/>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
          <p:cNvSpPr/>
          <p:nvPr/>
        </p:nvSpPr>
        <p:spPr>
          <a:xfrm>
            <a:off x="14771084" y="5000625"/>
            <a:ext cx="2766632"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UPSERT</a:t>
            </a:r>
            <a:endParaRPr b="0" i="0" sz="1200" u="none" cap="none" strike="noStrike">
              <a:solidFill>
                <a:schemeClr val="dk1"/>
              </a:solidFill>
              <a:latin typeface="Calibri"/>
              <a:ea typeface="Calibri"/>
              <a:cs typeface="Calibri"/>
              <a:sym typeface="Calibri"/>
            </a:endParaRPr>
          </a:p>
        </p:txBody>
      </p:sp>
      <p:sp>
        <p:nvSpPr>
          <p:cNvPr id="312" name="Google Shape;312;p14"/>
          <p:cNvSpPr/>
          <p:nvPr/>
        </p:nvSpPr>
        <p:spPr>
          <a:xfrm>
            <a:off x="14771084" y="5267325"/>
            <a:ext cx="2766632" cy="563761"/>
          </a:xfrm>
          <a:prstGeom prst="rect">
            <a:avLst/>
          </a:prstGeom>
          <a:noFill/>
          <a:ln>
            <a:noFill/>
          </a:ln>
        </p:spPr>
        <p:txBody>
          <a:bodyPr anchorCtr="0" anchor="t" bIns="25400" lIns="25400" spcFirstLastPara="1" rIns="25400" wrap="square" tIns="25400">
            <a:noAutofit/>
          </a:bodyPr>
          <a:lstStyle/>
          <a:p>
            <a:pPr indent="0" lvl="0" marL="0" marR="0" rtl="0" algn="ctr">
              <a:lnSpc>
                <a:spcPct val="115000"/>
              </a:lnSpc>
              <a:spcBef>
                <a:spcPts val="0"/>
              </a:spcBef>
              <a:spcAft>
                <a:spcPts val="0"/>
              </a:spcAft>
              <a:buClr>
                <a:srgbClr val="1D2B3A"/>
              </a:buClr>
              <a:buSzPts val="1800"/>
              <a:buFont typeface="Play"/>
              <a:buNone/>
            </a:pPr>
            <a:r>
              <a:rPr b="1" i="0" lang="en-US" sz="1800" u="none" cap="none" strike="noStrike">
                <a:solidFill>
                  <a:srgbClr val="1D2B3A"/>
                </a:solidFill>
                <a:latin typeface="Play"/>
                <a:ea typeface="Play"/>
                <a:cs typeface="Play"/>
                <a:sym typeface="Play"/>
              </a:rPr>
              <a:t>Qdrant point + payload</a:t>
            </a:r>
            <a:endParaRPr b="0" i="0" sz="1800" u="none" cap="none" strike="noStrike">
              <a:solidFill>
                <a:schemeClr val="dk1"/>
              </a:solidFill>
              <a:latin typeface="Calibri"/>
              <a:ea typeface="Calibri"/>
              <a:cs typeface="Calibri"/>
              <a:sym typeface="Calibri"/>
            </a:endParaRPr>
          </a:p>
        </p:txBody>
      </p:sp>
      <p:sp>
        <p:nvSpPr>
          <p:cNvPr id="313" name="Google Shape;313;p14"/>
          <p:cNvSpPr/>
          <p:nvPr/>
        </p:nvSpPr>
        <p:spPr>
          <a:xfrm>
            <a:off x="571500" y="7905750"/>
            <a:ext cx="3390534"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350"/>
              <a:buFont typeface="Inter"/>
              <a:buNone/>
            </a:pPr>
            <a:r>
              <a:rPr b="1" i="0" lang="en-US" sz="1350" u="none" cap="none" strike="noStrike">
                <a:solidFill>
                  <a:srgbClr val="1D2B3A"/>
                </a:solidFill>
                <a:latin typeface="Inter"/>
                <a:ea typeface="Inter"/>
                <a:cs typeface="Inter"/>
                <a:sym typeface="Inter"/>
              </a:rPr>
              <a:t>Knob</a:t>
            </a:r>
            <a:endParaRPr b="0" i="0" sz="1350" u="none" cap="none" strike="noStrike">
              <a:solidFill>
                <a:schemeClr val="dk1"/>
              </a:solidFill>
              <a:latin typeface="Calibri"/>
              <a:ea typeface="Calibri"/>
              <a:cs typeface="Calibri"/>
              <a:sym typeface="Calibri"/>
            </a:endParaRPr>
          </a:p>
        </p:txBody>
      </p:sp>
      <p:sp>
        <p:nvSpPr>
          <p:cNvPr id="314" name="Google Shape;314;p14"/>
          <p:cNvSpPr/>
          <p:nvPr/>
        </p:nvSpPr>
        <p:spPr>
          <a:xfrm>
            <a:off x="571500" y="8134350"/>
            <a:ext cx="3390534" cy="2780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350"/>
              <a:buFont typeface="Inter"/>
              <a:buNone/>
            </a:pPr>
            <a:r>
              <a:rPr b="0" i="0" lang="en-US" sz="1350" u="none" cap="none" strike="noStrike">
                <a:solidFill>
                  <a:srgbClr val="536171"/>
                </a:solidFill>
                <a:latin typeface="Inter"/>
                <a:ea typeface="Inter"/>
                <a:cs typeface="Inter"/>
                <a:sym typeface="Inter"/>
              </a:rPr>
              <a:t>Parser fidelity, OCR quality</a:t>
            </a:r>
            <a:endParaRPr b="0" i="0" sz="1350" u="none" cap="none" strike="noStrike">
              <a:solidFill>
                <a:schemeClr val="dk1"/>
              </a:solidFill>
              <a:latin typeface="Calibri"/>
              <a:ea typeface="Calibri"/>
              <a:cs typeface="Calibri"/>
              <a:sym typeface="Calibri"/>
            </a:endParaRPr>
          </a:p>
        </p:txBody>
      </p:sp>
      <p:sp>
        <p:nvSpPr>
          <p:cNvPr id="315" name="Google Shape;315;p14"/>
          <p:cNvSpPr/>
          <p:nvPr/>
        </p:nvSpPr>
        <p:spPr>
          <a:xfrm>
            <a:off x="4034730" y="7905750"/>
            <a:ext cx="3390534"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350"/>
              <a:buFont typeface="Inter"/>
              <a:buNone/>
            </a:pPr>
            <a:r>
              <a:rPr b="1" i="0" lang="en-US" sz="1350" u="none" cap="none" strike="noStrike">
                <a:solidFill>
                  <a:srgbClr val="1D2B3A"/>
                </a:solidFill>
                <a:latin typeface="Inter"/>
                <a:ea typeface="Inter"/>
                <a:cs typeface="Inter"/>
                <a:sym typeface="Inter"/>
              </a:rPr>
              <a:t>Knob</a:t>
            </a:r>
            <a:endParaRPr b="0" i="0" sz="1350" u="none" cap="none" strike="noStrike">
              <a:solidFill>
                <a:schemeClr val="dk1"/>
              </a:solidFill>
              <a:latin typeface="Calibri"/>
              <a:ea typeface="Calibri"/>
              <a:cs typeface="Calibri"/>
              <a:sym typeface="Calibri"/>
            </a:endParaRPr>
          </a:p>
        </p:txBody>
      </p:sp>
      <p:sp>
        <p:nvSpPr>
          <p:cNvPr id="316" name="Google Shape;316;p14"/>
          <p:cNvSpPr/>
          <p:nvPr/>
        </p:nvSpPr>
        <p:spPr>
          <a:xfrm>
            <a:off x="4034730" y="8134350"/>
            <a:ext cx="3390534" cy="2780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350"/>
              <a:buFont typeface="Inter"/>
              <a:buNone/>
            </a:pPr>
            <a:r>
              <a:rPr b="0" i="0" lang="en-US" sz="1350" u="none" cap="none" strike="noStrike">
                <a:solidFill>
                  <a:srgbClr val="536171"/>
                </a:solidFill>
                <a:latin typeface="Inter"/>
                <a:ea typeface="Inter"/>
                <a:cs typeface="Inter"/>
                <a:sym typeface="Inter"/>
              </a:rPr>
              <a:t>Boundary rules, table handling</a:t>
            </a:r>
            <a:endParaRPr b="0" i="0" sz="1350" u="none" cap="none" strike="noStrike">
              <a:solidFill>
                <a:schemeClr val="dk1"/>
              </a:solidFill>
              <a:latin typeface="Calibri"/>
              <a:ea typeface="Calibri"/>
              <a:cs typeface="Calibri"/>
              <a:sym typeface="Calibri"/>
            </a:endParaRPr>
          </a:p>
        </p:txBody>
      </p:sp>
      <p:sp>
        <p:nvSpPr>
          <p:cNvPr id="317" name="Google Shape;317;p14"/>
          <p:cNvSpPr/>
          <p:nvPr/>
        </p:nvSpPr>
        <p:spPr>
          <a:xfrm>
            <a:off x="7497961" y="7905750"/>
            <a:ext cx="3390687"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350"/>
              <a:buFont typeface="Inter"/>
              <a:buNone/>
            </a:pPr>
            <a:r>
              <a:rPr b="1" i="0" lang="en-US" sz="1350" u="none" cap="none" strike="noStrike">
                <a:solidFill>
                  <a:srgbClr val="1D2B3A"/>
                </a:solidFill>
                <a:latin typeface="Inter"/>
                <a:ea typeface="Inter"/>
                <a:cs typeface="Inter"/>
                <a:sym typeface="Inter"/>
              </a:rPr>
              <a:t>Knob</a:t>
            </a:r>
            <a:endParaRPr b="0" i="0" sz="1350" u="none" cap="none" strike="noStrike">
              <a:solidFill>
                <a:schemeClr val="dk1"/>
              </a:solidFill>
              <a:latin typeface="Calibri"/>
              <a:ea typeface="Calibri"/>
              <a:cs typeface="Calibri"/>
              <a:sym typeface="Calibri"/>
            </a:endParaRPr>
          </a:p>
        </p:txBody>
      </p:sp>
      <p:sp>
        <p:nvSpPr>
          <p:cNvPr id="318" name="Google Shape;318;p14"/>
          <p:cNvSpPr/>
          <p:nvPr/>
        </p:nvSpPr>
        <p:spPr>
          <a:xfrm>
            <a:off x="7497961" y="8134350"/>
            <a:ext cx="3390687" cy="2780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350"/>
              <a:buFont typeface="Inter"/>
              <a:buNone/>
            </a:pPr>
            <a:r>
              <a:rPr b="0" i="0" lang="en-US" sz="1350" u="none" cap="none" strike="noStrike">
                <a:solidFill>
                  <a:srgbClr val="536171"/>
                </a:solidFill>
                <a:latin typeface="Inter"/>
                <a:ea typeface="Inter"/>
                <a:cs typeface="Inter"/>
                <a:sym typeface="Inter"/>
              </a:rPr>
              <a:t>Chunk size, overlap, splitter</a:t>
            </a:r>
            <a:endParaRPr b="0" i="0" sz="1350" u="none" cap="none" strike="noStrike">
              <a:solidFill>
                <a:schemeClr val="dk1"/>
              </a:solidFill>
              <a:latin typeface="Calibri"/>
              <a:ea typeface="Calibri"/>
              <a:cs typeface="Calibri"/>
              <a:sym typeface="Calibri"/>
            </a:endParaRPr>
          </a:p>
        </p:txBody>
      </p:sp>
      <p:sp>
        <p:nvSpPr>
          <p:cNvPr id="319" name="Google Shape;319;p14"/>
          <p:cNvSpPr/>
          <p:nvPr/>
        </p:nvSpPr>
        <p:spPr>
          <a:xfrm>
            <a:off x="10961340" y="7905750"/>
            <a:ext cx="3390534"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350"/>
              <a:buFont typeface="Inter"/>
              <a:buNone/>
            </a:pPr>
            <a:r>
              <a:rPr b="1" i="0" lang="en-US" sz="1350" u="none" cap="none" strike="noStrike">
                <a:solidFill>
                  <a:srgbClr val="1D2B3A"/>
                </a:solidFill>
                <a:latin typeface="Inter"/>
                <a:ea typeface="Inter"/>
                <a:cs typeface="Inter"/>
                <a:sym typeface="Inter"/>
              </a:rPr>
              <a:t>Knob</a:t>
            </a:r>
            <a:endParaRPr b="0" i="0" sz="1350" u="none" cap="none" strike="noStrike">
              <a:solidFill>
                <a:schemeClr val="dk1"/>
              </a:solidFill>
              <a:latin typeface="Calibri"/>
              <a:ea typeface="Calibri"/>
              <a:cs typeface="Calibri"/>
              <a:sym typeface="Calibri"/>
            </a:endParaRPr>
          </a:p>
        </p:txBody>
      </p:sp>
      <p:sp>
        <p:nvSpPr>
          <p:cNvPr id="320" name="Google Shape;320;p14"/>
          <p:cNvSpPr/>
          <p:nvPr/>
        </p:nvSpPr>
        <p:spPr>
          <a:xfrm>
            <a:off x="10961340" y="8134350"/>
            <a:ext cx="3390534" cy="2780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350"/>
              <a:buFont typeface="Inter"/>
              <a:buNone/>
            </a:pPr>
            <a:r>
              <a:rPr b="0" i="0" lang="en-US" sz="1350" u="none" cap="none" strike="noStrike">
                <a:solidFill>
                  <a:srgbClr val="536171"/>
                </a:solidFill>
                <a:latin typeface="Inter"/>
                <a:ea typeface="Inter"/>
                <a:cs typeface="Inter"/>
                <a:sym typeface="Inter"/>
              </a:rPr>
              <a:t>Batch size, retries, model choice</a:t>
            </a:r>
            <a:endParaRPr b="0" i="0" sz="1350" u="none" cap="none" strike="noStrike">
              <a:solidFill>
                <a:schemeClr val="dk1"/>
              </a:solidFill>
              <a:latin typeface="Calibri"/>
              <a:ea typeface="Calibri"/>
              <a:cs typeface="Calibri"/>
              <a:sym typeface="Calibri"/>
            </a:endParaRPr>
          </a:p>
        </p:txBody>
      </p:sp>
      <p:sp>
        <p:nvSpPr>
          <p:cNvPr id="321" name="Google Shape;321;p14"/>
          <p:cNvSpPr/>
          <p:nvPr/>
        </p:nvSpPr>
        <p:spPr>
          <a:xfrm>
            <a:off x="14424571" y="7905750"/>
            <a:ext cx="3390687"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350"/>
              <a:buFont typeface="Inter"/>
              <a:buNone/>
            </a:pPr>
            <a:r>
              <a:rPr b="1" i="0" lang="en-US" sz="1350" u="none" cap="none" strike="noStrike">
                <a:solidFill>
                  <a:srgbClr val="1D2B3A"/>
                </a:solidFill>
                <a:latin typeface="Inter"/>
                <a:ea typeface="Inter"/>
                <a:cs typeface="Inter"/>
                <a:sym typeface="Inter"/>
              </a:rPr>
              <a:t>Knob</a:t>
            </a:r>
            <a:endParaRPr b="0" i="0" sz="1350" u="none" cap="none" strike="noStrike">
              <a:solidFill>
                <a:schemeClr val="dk1"/>
              </a:solidFill>
              <a:latin typeface="Calibri"/>
              <a:ea typeface="Calibri"/>
              <a:cs typeface="Calibri"/>
              <a:sym typeface="Calibri"/>
            </a:endParaRPr>
          </a:p>
        </p:txBody>
      </p:sp>
      <p:sp>
        <p:nvSpPr>
          <p:cNvPr id="322" name="Google Shape;322;p14"/>
          <p:cNvSpPr/>
          <p:nvPr/>
        </p:nvSpPr>
        <p:spPr>
          <a:xfrm>
            <a:off x="14424571" y="8134350"/>
            <a:ext cx="3390687" cy="27801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350"/>
              <a:buFont typeface="Inter"/>
              <a:buNone/>
            </a:pPr>
            <a:r>
              <a:rPr b="0" i="0" lang="en-US" sz="1350" u="none" cap="none" strike="noStrike">
                <a:solidFill>
                  <a:srgbClr val="536171"/>
                </a:solidFill>
                <a:latin typeface="Inter"/>
                <a:ea typeface="Inter"/>
                <a:cs typeface="Inter"/>
                <a:sym typeface="Inter"/>
              </a:rPr>
              <a:t>Payload schema, stable IDs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327" name="Shape 327"/>
        <p:cNvGrpSpPr/>
        <p:nvPr/>
      </p:nvGrpSpPr>
      <p:grpSpPr>
        <a:xfrm>
          <a:off x="0" y="0"/>
          <a:ext cx="0" cy="0"/>
          <a:chOff x="0" y="0"/>
          <a:chExt cx="0" cy="0"/>
        </a:xfrm>
      </p:grpSpPr>
      <p:sp>
        <p:nvSpPr>
          <p:cNvPr id="328" name="Google Shape;328;p15"/>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329" name="Google Shape;329;p15"/>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330" name="Google Shape;330;p15"/>
          <p:cNvSpPr/>
          <p:nvPr/>
        </p:nvSpPr>
        <p:spPr>
          <a:xfrm>
            <a:off x="16612939" y="457200"/>
            <a:ext cx="836861"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12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331" name="Google Shape;331;p15"/>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332" name="Google Shape;332;p15"/>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Chunking — the single biggest quality lever</a:t>
            </a:r>
            <a:endParaRPr b="0" i="0" sz="3900" u="none" cap="none" strike="noStrike">
              <a:solidFill>
                <a:schemeClr val="dk1"/>
              </a:solidFill>
              <a:latin typeface="Calibri"/>
              <a:ea typeface="Calibri"/>
              <a:cs typeface="Calibri"/>
              <a:sym typeface="Calibri"/>
            </a:endParaRPr>
          </a:p>
        </p:txBody>
      </p:sp>
      <p:sp>
        <p:nvSpPr>
          <p:cNvPr id="333" name="Google Shape;333;p15"/>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Too large dilutes meaning. Too small loses context. Get this right and the rest is gravy.</a:t>
            </a:r>
            <a:endParaRPr b="0" i="0" sz="2100" u="none" cap="none" strike="noStrike">
              <a:solidFill>
                <a:schemeClr val="dk1"/>
              </a:solidFill>
              <a:latin typeface="Calibri"/>
              <a:ea typeface="Calibri"/>
              <a:cs typeface="Calibri"/>
              <a:sym typeface="Calibri"/>
            </a:endParaRPr>
          </a:p>
        </p:txBody>
      </p:sp>
      <p:sp>
        <p:nvSpPr>
          <p:cNvPr id="334" name="Google Shape;334;p15"/>
          <p:cNvSpPr/>
          <p:nvPr/>
        </p:nvSpPr>
        <p:spPr>
          <a:xfrm>
            <a:off x="914400"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1228725"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CHUNK SIZE</a:t>
            </a:r>
            <a:endParaRPr b="0" i="0" sz="1350" u="none" cap="none" strike="noStrike">
              <a:solidFill>
                <a:schemeClr val="dk1"/>
              </a:solidFill>
              <a:latin typeface="Calibri"/>
              <a:ea typeface="Calibri"/>
              <a:cs typeface="Calibri"/>
              <a:sym typeface="Calibri"/>
            </a:endParaRPr>
          </a:p>
        </p:txBody>
      </p:sp>
      <p:sp>
        <p:nvSpPr>
          <p:cNvPr id="336" name="Google Shape;336;p15"/>
          <p:cNvSpPr/>
          <p:nvPr/>
        </p:nvSpPr>
        <p:spPr>
          <a:xfrm>
            <a:off x="1228725" y="4257675"/>
            <a:ext cx="3384709" cy="169530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Aim for </a:t>
            </a:r>
            <a:r>
              <a:rPr b="0" i="0" lang="en-US" sz="1800" u="none" cap="none" strike="noStrike">
                <a:solidFill>
                  <a:srgbClr val="1D2B3A"/>
                </a:solidFill>
                <a:highlight>
                  <a:srgbClr val="E8E2D4"/>
                </a:highlight>
                <a:latin typeface="JetBrains Mono"/>
                <a:ea typeface="JetBrains Mono"/>
                <a:cs typeface="JetBrains Mono"/>
                <a:sym typeface="JetBrains Mono"/>
              </a:rPr>
              <a:t>500–800 tokens </a:t>
            </a:r>
            <a:r>
              <a:rPr b="0" i="0" lang="en-US" sz="1800" u="none" cap="none" strike="noStrike">
                <a:solidFill>
                  <a:srgbClr val="1D2B3A"/>
                </a:solidFill>
                <a:latin typeface="Inter"/>
                <a:ea typeface="Inter"/>
                <a:cs typeface="Inter"/>
                <a:sym typeface="Inter"/>
              </a:rPr>
              <a:t>. Measured in </a:t>
            </a:r>
            <a:r>
              <a:rPr b="0" i="1" lang="en-US" sz="1800" u="none" cap="none" strike="noStrike">
                <a:solidFill>
                  <a:srgbClr val="1D2B3A"/>
                </a:solidFill>
                <a:latin typeface="Inter"/>
                <a:ea typeface="Inter"/>
                <a:cs typeface="Inter"/>
                <a:sym typeface="Inter"/>
              </a:rPr>
              <a:t>tokens </a:t>
            </a:r>
            <a:r>
              <a:rPr b="0" i="0" lang="en-US" sz="1800" u="none" cap="none" strike="noStrike">
                <a:solidFill>
                  <a:srgbClr val="1D2B3A"/>
                </a:solidFill>
                <a:latin typeface="Inter"/>
                <a:ea typeface="Inter"/>
                <a:cs typeface="Inter"/>
                <a:sym typeface="Inter"/>
              </a:rPr>
              <a:t>, not characters — a tokenizer-aware splitter is non-negotiable.</a:t>
            </a:r>
            <a:endParaRPr b="0" i="0" sz="1800" u="none" cap="none" strike="noStrike">
              <a:solidFill>
                <a:schemeClr val="dk1"/>
              </a:solidFill>
              <a:latin typeface="Calibri"/>
              <a:ea typeface="Calibri"/>
              <a:cs typeface="Calibri"/>
              <a:sym typeface="Calibri"/>
            </a:endParaRPr>
          </a:p>
        </p:txBody>
      </p:sp>
      <p:sp>
        <p:nvSpPr>
          <p:cNvPr id="337" name="Google Shape;337;p15"/>
          <p:cNvSpPr/>
          <p:nvPr/>
        </p:nvSpPr>
        <p:spPr>
          <a:xfrm>
            <a:off x="5095875"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5410200"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OVERLAP</a:t>
            </a:r>
            <a:endParaRPr b="0" i="0" sz="1350" u="none" cap="none" strike="noStrike">
              <a:solidFill>
                <a:schemeClr val="dk1"/>
              </a:solidFill>
              <a:latin typeface="Calibri"/>
              <a:ea typeface="Calibri"/>
              <a:cs typeface="Calibri"/>
              <a:sym typeface="Calibri"/>
            </a:endParaRPr>
          </a:p>
        </p:txBody>
      </p:sp>
      <p:sp>
        <p:nvSpPr>
          <p:cNvPr id="339" name="Google Shape;339;p15"/>
          <p:cNvSpPr/>
          <p:nvPr/>
        </p:nvSpPr>
        <p:spPr>
          <a:xfrm>
            <a:off x="5410200"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JetBrains Mono"/>
              <a:buNone/>
            </a:pPr>
            <a:r>
              <a:rPr b="0" i="0" lang="en-US" sz="1800" u="none" cap="none" strike="noStrike">
                <a:solidFill>
                  <a:srgbClr val="1D2B3A"/>
                </a:solidFill>
                <a:highlight>
                  <a:srgbClr val="E8E2D4"/>
                </a:highlight>
                <a:latin typeface="JetBrains Mono"/>
                <a:ea typeface="JetBrains Mono"/>
                <a:cs typeface="JetBrains Mono"/>
                <a:sym typeface="JetBrains Mono"/>
              </a:rPr>
              <a:t>10–15% </a:t>
            </a:r>
            <a:r>
              <a:rPr b="0" i="0" lang="en-US" sz="1800" u="none" cap="none" strike="noStrike">
                <a:solidFill>
                  <a:srgbClr val="1D2B3A"/>
                </a:solidFill>
                <a:latin typeface="Inter"/>
                <a:ea typeface="Inter"/>
                <a:cs typeface="Inter"/>
                <a:sym typeface="Inter"/>
              </a:rPr>
              <a:t>overlap between adjacent chunks. Stops a sentence from being orphaned at the boundary.</a:t>
            </a:r>
            <a:endParaRPr b="0" i="0" sz="1800" u="none" cap="none" strike="noStrike">
              <a:solidFill>
                <a:schemeClr val="dk1"/>
              </a:solidFill>
              <a:latin typeface="Calibri"/>
              <a:ea typeface="Calibri"/>
              <a:cs typeface="Calibri"/>
              <a:sym typeface="Calibri"/>
            </a:endParaRPr>
          </a:p>
        </p:txBody>
      </p:sp>
      <p:sp>
        <p:nvSpPr>
          <p:cNvPr id="340" name="Google Shape;340;p15"/>
          <p:cNvSpPr/>
          <p:nvPr/>
        </p:nvSpPr>
        <p:spPr>
          <a:xfrm>
            <a:off x="9277350"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9591675"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NATURAL BOUNDARIES</a:t>
            </a:r>
            <a:endParaRPr b="0" i="0" sz="1350" u="none" cap="none" strike="noStrike">
              <a:solidFill>
                <a:schemeClr val="dk1"/>
              </a:solidFill>
              <a:latin typeface="Calibri"/>
              <a:ea typeface="Calibri"/>
              <a:cs typeface="Calibri"/>
              <a:sym typeface="Calibri"/>
            </a:endParaRPr>
          </a:p>
        </p:txBody>
      </p:sp>
      <p:sp>
        <p:nvSpPr>
          <p:cNvPr id="342" name="Google Shape;342;p15"/>
          <p:cNvSpPr/>
          <p:nvPr/>
        </p:nvSpPr>
        <p:spPr>
          <a:xfrm>
            <a:off x="9591675"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Split on paragraph, heading, then sentence — never mid-sentence. Markdown structure beats blind length.</a:t>
            </a:r>
            <a:endParaRPr b="0" i="0" sz="1800" u="none" cap="none" strike="noStrike">
              <a:solidFill>
                <a:schemeClr val="dk1"/>
              </a:solidFill>
              <a:latin typeface="Calibri"/>
              <a:ea typeface="Calibri"/>
              <a:cs typeface="Calibri"/>
              <a:sym typeface="Calibri"/>
            </a:endParaRPr>
          </a:p>
        </p:txBody>
      </p:sp>
      <p:sp>
        <p:nvSpPr>
          <p:cNvPr id="343" name="Google Shape;343;p15"/>
          <p:cNvSpPr/>
          <p:nvPr/>
        </p:nvSpPr>
        <p:spPr>
          <a:xfrm>
            <a:off x="13458825"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13773150"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SPECIAL CONTENT</a:t>
            </a:r>
            <a:endParaRPr b="0" i="0" sz="1350" u="none" cap="none" strike="noStrike">
              <a:solidFill>
                <a:schemeClr val="dk1"/>
              </a:solidFill>
              <a:latin typeface="Calibri"/>
              <a:ea typeface="Calibri"/>
              <a:cs typeface="Calibri"/>
              <a:sym typeface="Calibri"/>
            </a:endParaRPr>
          </a:p>
        </p:txBody>
      </p:sp>
      <p:sp>
        <p:nvSpPr>
          <p:cNvPr id="345" name="Google Shape;345;p15"/>
          <p:cNvSpPr/>
          <p:nvPr/>
        </p:nvSpPr>
        <p:spPr>
          <a:xfrm>
            <a:off x="13773150"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Code blocks and tables stay whole. Don't shred a function or a row across chunks — it kills retrieval.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350" name="Shape 350"/>
        <p:cNvGrpSpPr/>
        <p:nvPr/>
      </p:nvGrpSpPr>
      <p:grpSpPr>
        <a:xfrm>
          <a:off x="0" y="0"/>
          <a:ext cx="0" cy="0"/>
          <a:chOff x="0" y="0"/>
          <a:chExt cx="0" cy="0"/>
        </a:xfrm>
      </p:grpSpPr>
      <p:sp>
        <p:nvSpPr>
          <p:cNvPr id="351" name="Google Shape;351;p16"/>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352" name="Google Shape;352;p16"/>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353" name="Google Shape;353;p16"/>
          <p:cNvSpPr/>
          <p:nvPr/>
        </p:nvSpPr>
        <p:spPr>
          <a:xfrm>
            <a:off x="16609665" y="457200"/>
            <a:ext cx="840135"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13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354" name="Google Shape;354;p16"/>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355" name="Google Shape;355;p16"/>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Payload — metadata is what makes search useful</a:t>
            </a:r>
            <a:endParaRPr b="0" i="0" sz="3900" u="none" cap="none" strike="noStrike">
              <a:solidFill>
                <a:schemeClr val="dk1"/>
              </a:solidFill>
              <a:latin typeface="Calibri"/>
              <a:ea typeface="Calibri"/>
              <a:cs typeface="Calibri"/>
              <a:sym typeface="Calibri"/>
            </a:endParaRPr>
          </a:p>
        </p:txBody>
      </p:sp>
      <p:sp>
        <p:nvSpPr>
          <p:cNvPr id="356" name="Google Shape;356;p16"/>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Filters and vector search compose. Plan your payload </a:t>
            </a:r>
            <a:r>
              <a:rPr b="0" i="1" lang="en-US" sz="2100" u="none" cap="none" strike="noStrike">
                <a:solidFill>
                  <a:srgbClr val="536171"/>
                </a:solidFill>
                <a:latin typeface="Inter"/>
                <a:ea typeface="Inter"/>
                <a:cs typeface="Inter"/>
                <a:sym typeface="Inter"/>
              </a:rPr>
              <a:t>before </a:t>
            </a:r>
            <a:r>
              <a:rPr b="0" i="0" lang="en-US" sz="2100" u="none" cap="none" strike="noStrike">
                <a:solidFill>
                  <a:srgbClr val="536171"/>
                </a:solidFill>
                <a:latin typeface="Inter"/>
                <a:ea typeface="Inter"/>
                <a:cs typeface="Inter"/>
                <a:sym typeface="Inter"/>
              </a:rPr>
              <a:t>you ingest a single document.</a:t>
            </a:r>
            <a:endParaRPr b="0" i="0" sz="2100" u="none" cap="none" strike="noStrike">
              <a:solidFill>
                <a:schemeClr val="dk1"/>
              </a:solidFill>
              <a:latin typeface="Calibri"/>
              <a:ea typeface="Calibri"/>
              <a:cs typeface="Calibri"/>
              <a:sym typeface="Calibri"/>
            </a:endParaRPr>
          </a:p>
        </p:txBody>
      </p:sp>
      <p:sp>
        <p:nvSpPr>
          <p:cNvPr id="357" name="Google Shape;357;p16"/>
          <p:cNvSpPr/>
          <p:nvPr/>
        </p:nvSpPr>
        <p:spPr>
          <a:xfrm>
            <a:off x="914400" y="3429000"/>
            <a:ext cx="8382000" cy="5751000"/>
          </a:xfrm>
          <a:prstGeom prst="roundRect">
            <a:avLst>
              <a:gd fmla="val 1491" name="adj"/>
            </a:avLst>
          </a:prstGeom>
          <a:solidFill>
            <a:srgbClr val="1D2B3A"/>
          </a:solidFill>
          <a:ln>
            <a:noFill/>
          </a:ln>
          <a:effectLst>
            <a:outerShdw blurRad="304800" rotWithShape="0" algn="bl" dir="5400000" dist="114300">
              <a:srgbClr val="030A1C">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p:nvPr/>
        </p:nvSpPr>
        <p:spPr>
          <a:xfrm>
            <a:off x="1219200" y="3733800"/>
            <a:ext cx="8023860" cy="453866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FA0AF"/>
              </a:buClr>
              <a:buSzPts val="1575"/>
              <a:buFont typeface="JetBrains Mono"/>
              <a:buNone/>
            </a:pPr>
            <a:r>
              <a:rPr b="0" i="1" lang="en-US" sz="1375" u="none" cap="none" strike="noStrike">
                <a:solidFill>
                  <a:srgbClr val="8FA0AF"/>
                </a:solidFill>
                <a:latin typeface="JetBrains Mono"/>
                <a:ea typeface="JetBrains Mono"/>
                <a:cs typeface="JetBrains Mono"/>
                <a:sym typeface="JetBrains Mono"/>
              </a:rPr>
              <a:t># the shape of one Qdrant point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"id"</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47B881"/>
                </a:solidFill>
                <a:latin typeface="JetBrains Mono"/>
                <a:ea typeface="JetBrains Mono"/>
                <a:cs typeface="JetBrains Mono"/>
                <a:sym typeface="JetBrains Mono"/>
              </a:rPr>
              <a:t>"doc-4f2a__chunk-007"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"vector"</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D49000"/>
                </a:solidFill>
                <a:latin typeface="JetBrains Mono"/>
                <a:ea typeface="JetBrains Mono"/>
                <a:cs typeface="JetBrains Mono"/>
                <a:sym typeface="JetBrains Mono"/>
              </a:rPr>
              <a:t>0.012</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D49000"/>
                </a:solidFill>
                <a:latin typeface="JetBrains Mono"/>
                <a:ea typeface="JetBrains Mono"/>
                <a:cs typeface="JetBrains Mono"/>
                <a:sym typeface="JetBrains Mono"/>
              </a:rPr>
              <a:t>-0.341</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D49000"/>
                </a:solidFill>
                <a:latin typeface="JetBrains Mono"/>
                <a:ea typeface="JetBrains Mono"/>
                <a:cs typeface="JetBrains Mono"/>
                <a:sym typeface="JetBrains Mono"/>
              </a:rPr>
              <a:t>0.207</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1" lang="en-US" sz="1375" u="none" cap="none" strike="noStrike">
                <a:solidFill>
                  <a:srgbClr val="8FA0AF"/>
                </a:solidFill>
                <a:latin typeface="JetBrains Mono"/>
                <a:ea typeface="JetBrains Mono"/>
                <a:cs typeface="JetBrains Mono"/>
                <a:sym typeface="JetBrains Mono"/>
              </a:rPr>
              <a:t>... 768 floats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"payload" </a:t>
            </a: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"document_id"</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47B881"/>
                </a:solidFill>
                <a:latin typeface="JetBrains Mono"/>
                <a:ea typeface="JetBrains Mono"/>
                <a:cs typeface="JetBrains Mono"/>
                <a:sym typeface="JetBrains Mono"/>
              </a:rPr>
              <a:t>"doc-4f2a"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"chunk_index"</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D49000"/>
                </a:solidFill>
                <a:latin typeface="JetBrains Mono"/>
                <a:ea typeface="JetBrains Mono"/>
                <a:cs typeface="JetBrains Mono"/>
                <a:sym typeface="JetBrains Mono"/>
              </a:rPr>
              <a:t>7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"tenant_id"</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47B881"/>
                </a:solidFill>
                <a:latin typeface="JetBrains Mono"/>
                <a:ea typeface="JetBrains Mono"/>
                <a:cs typeface="JetBrains Mono"/>
                <a:sym typeface="JetBrains Mono"/>
              </a:rPr>
              <a:t>"acme-corp"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"source_url"</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47B881"/>
                </a:solidFill>
                <a:latin typeface="JetBrains Mono"/>
                <a:ea typeface="JetBrains Mono"/>
                <a:cs typeface="JetBrains Mono"/>
                <a:sym typeface="JetBrains Mono"/>
              </a:rPr>
              <a:t>"https://kb.acme/q3-financials.pdf"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"timestamp"</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47B881"/>
                </a:solidFill>
                <a:latin typeface="JetBrains Mono"/>
                <a:ea typeface="JetBrains Mono"/>
                <a:cs typeface="JetBrains Mono"/>
                <a:sym typeface="JetBrains Mono"/>
              </a:rPr>
              <a:t>"2025-10-14T09:31:00Z"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"section_title"</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47B881"/>
                </a:solidFill>
                <a:latin typeface="JetBrains Mono"/>
                <a:ea typeface="JetBrains Mono"/>
                <a:cs typeface="JetBrains Mono"/>
                <a:sym typeface="JetBrains Mono"/>
              </a:rPr>
              <a:t>"Q3 Revenue Breakdown"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"language"</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47B881"/>
                </a:solidFill>
                <a:latin typeface="JetBrains Mono"/>
                <a:ea typeface="JetBrains Mono"/>
                <a:cs typeface="JetBrains Mono"/>
                <a:sym typeface="JetBrains Mono"/>
              </a:rPr>
              <a:t>"en" </a:t>
            </a: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7B881"/>
              </a:buClr>
              <a:buSzPts val="1575"/>
              <a:buFont typeface="JetBrains Mono"/>
              <a:buNone/>
            </a:pPr>
            <a:r>
              <a:rPr b="0" i="0" lang="en-US" sz="1375" u="none" cap="none" strike="noStrike">
                <a:solidFill>
                  <a:srgbClr val="47B881"/>
                </a:solidFill>
                <a:latin typeface="JetBrains Mono"/>
                <a:ea typeface="JetBrains Mono"/>
                <a:cs typeface="JetBrains Mono"/>
                <a:sym typeface="JetBrains Mono"/>
              </a:rPr>
              <a:t>"text"</a:t>
            </a:r>
            <a:r>
              <a:rPr b="0" i="0" lang="en-US" sz="1375" u="none" cap="none" strike="noStrike">
                <a:solidFill>
                  <a:srgbClr val="E8E2D4"/>
                </a:solidFill>
                <a:highlight>
                  <a:srgbClr val="1D2B3A"/>
                </a:highlight>
                <a:latin typeface="JetBrains Mono"/>
                <a:ea typeface="JetBrains Mono"/>
                <a:cs typeface="JetBrains Mono"/>
                <a:sym typeface="JetBrains Mono"/>
              </a:rPr>
              <a:t>: </a:t>
            </a:r>
            <a:r>
              <a:rPr b="0" i="0" lang="en-US" sz="1375" u="none" cap="none" strike="noStrike">
                <a:solidFill>
                  <a:srgbClr val="47B881"/>
                </a:solidFill>
                <a:latin typeface="JetBrains Mono"/>
                <a:ea typeface="JetBrains Mono"/>
                <a:cs typeface="JetBrains Mono"/>
                <a:sym typeface="JetBrains Mono"/>
              </a:rPr>
              <a:t>"Total revenue grew 14% YoY, driven by..." </a:t>
            </a:r>
            <a:r>
              <a:rPr b="0" i="0" lang="en-US" sz="1375" u="none" cap="none" strike="noStrike">
                <a:solidFill>
                  <a:srgbClr val="E8E2D4"/>
                </a:solidFill>
                <a:highlight>
                  <a:srgbClr val="1D2B3A"/>
                </a:highlight>
                <a:latin typeface="JetBrains Mono"/>
                <a:ea typeface="JetBrains Mono"/>
                <a:cs typeface="JetBrains Mono"/>
                <a:sym typeface="JetBrains Mono"/>
              </a:rPr>
              <a:t>  }</a:t>
            </a:r>
            <a:endParaRPr b="0" i="0" sz="137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8E2D4"/>
              </a:buClr>
              <a:buSzPts val="1575"/>
              <a:buFont typeface="JetBrains Mono"/>
              <a:buNone/>
            </a:pPr>
            <a:r>
              <a:rPr b="0" i="0" lang="en-US" sz="1375" u="none" cap="none" strike="noStrike">
                <a:solidFill>
                  <a:srgbClr val="E8E2D4"/>
                </a:solidFill>
                <a:highlight>
                  <a:srgbClr val="1D2B3A"/>
                </a:highlight>
                <a:latin typeface="JetBrains Mono"/>
                <a:ea typeface="JetBrains Mono"/>
                <a:cs typeface="JetBrains Mono"/>
                <a:sym typeface="JetBrains Mono"/>
              </a:rPr>
              <a:t>}</a:t>
            </a:r>
            <a:endParaRPr b="0" i="0" sz="1375" u="none" cap="none" strike="noStrike">
              <a:solidFill>
                <a:schemeClr val="dk1"/>
              </a:solidFill>
              <a:latin typeface="Calibri"/>
              <a:ea typeface="Calibri"/>
              <a:cs typeface="Calibri"/>
              <a:sym typeface="Calibri"/>
            </a:endParaRPr>
          </a:p>
        </p:txBody>
      </p:sp>
      <p:sp>
        <p:nvSpPr>
          <p:cNvPr id="359" name="Google Shape;359;p16"/>
          <p:cNvSpPr/>
          <p:nvPr/>
        </p:nvSpPr>
        <p:spPr>
          <a:xfrm>
            <a:off x="9753600" y="3505200"/>
            <a:ext cx="7620000" cy="161538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p:nvPr/>
        </p:nvSpPr>
        <p:spPr>
          <a:xfrm>
            <a:off x="10067925" y="3819525"/>
            <a:ext cx="720109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STABLE IDS</a:t>
            </a:r>
            <a:endParaRPr b="0" i="0" sz="1350" u="none" cap="none" strike="noStrike">
              <a:solidFill>
                <a:schemeClr val="dk1"/>
              </a:solidFill>
              <a:latin typeface="Calibri"/>
              <a:ea typeface="Calibri"/>
              <a:cs typeface="Calibri"/>
              <a:sym typeface="Calibri"/>
            </a:endParaRPr>
          </a:p>
        </p:txBody>
      </p:sp>
      <p:sp>
        <p:nvSpPr>
          <p:cNvPr id="361" name="Google Shape;361;p16"/>
          <p:cNvSpPr/>
          <p:nvPr/>
        </p:nvSpPr>
        <p:spPr>
          <a:xfrm>
            <a:off x="10067925" y="4143375"/>
            <a:ext cx="72010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JetBrains Mono"/>
              <a:buNone/>
            </a:pPr>
            <a:r>
              <a:rPr b="0" i="0" lang="en-US" sz="1800" u="none" cap="none" strike="noStrike">
                <a:solidFill>
                  <a:srgbClr val="1D2B3A"/>
                </a:solidFill>
                <a:highlight>
                  <a:srgbClr val="E8E2D4"/>
                </a:highlight>
                <a:latin typeface="JetBrains Mono"/>
                <a:ea typeface="JetBrains Mono"/>
                <a:cs typeface="JetBrains Mono"/>
                <a:sym typeface="JetBrains Mono"/>
              </a:rPr>
              <a:t>document_id + chunk_index </a:t>
            </a:r>
            <a:r>
              <a:rPr b="0" i="0" lang="en-US" sz="1800" u="none" cap="none" strike="noStrike">
                <a:solidFill>
                  <a:srgbClr val="1D2B3A"/>
                </a:solidFill>
                <a:latin typeface="Inter"/>
                <a:ea typeface="Inter"/>
                <a:cs typeface="Inter"/>
                <a:sym typeface="Inter"/>
              </a:rPr>
              <a:t>— re-ingestion upserts in place.</a:t>
            </a:r>
            <a:endParaRPr b="0" i="0" sz="1800" u="none" cap="none" strike="noStrike">
              <a:solidFill>
                <a:schemeClr val="dk1"/>
              </a:solidFill>
              <a:latin typeface="Calibri"/>
              <a:ea typeface="Calibri"/>
              <a:cs typeface="Calibri"/>
              <a:sym typeface="Calibri"/>
            </a:endParaRPr>
          </a:p>
        </p:txBody>
      </p:sp>
      <p:sp>
        <p:nvSpPr>
          <p:cNvPr id="362" name="Google Shape;362;p16"/>
          <p:cNvSpPr/>
          <p:nvPr/>
        </p:nvSpPr>
        <p:spPr>
          <a:xfrm>
            <a:off x="9753600" y="5292030"/>
            <a:ext cx="7620000" cy="161538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p:nvPr/>
        </p:nvSpPr>
        <p:spPr>
          <a:xfrm>
            <a:off x="10067925" y="5606355"/>
            <a:ext cx="720109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TENANT ISOLATION</a:t>
            </a:r>
            <a:endParaRPr b="0" i="0" sz="1350" u="none" cap="none" strike="noStrike">
              <a:solidFill>
                <a:schemeClr val="dk1"/>
              </a:solidFill>
              <a:latin typeface="Calibri"/>
              <a:ea typeface="Calibri"/>
              <a:cs typeface="Calibri"/>
              <a:sym typeface="Calibri"/>
            </a:endParaRPr>
          </a:p>
        </p:txBody>
      </p:sp>
      <p:sp>
        <p:nvSpPr>
          <p:cNvPr id="364" name="Google Shape;364;p16"/>
          <p:cNvSpPr/>
          <p:nvPr/>
        </p:nvSpPr>
        <p:spPr>
          <a:xfrm>
            <a:off x="10067925" y="5930205"/>
            <a:ext cx="72010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Every query MUST filter on </a:t>
            </a:r>
            <a:r>
              <a:rPr b="0" i="0" lang="en-US" sz="1800" u="none" cap="none" strike="noStrike">
                <a:solidFill>
                  <a:srgbClr val="1D2B3A"/>
                </a:solidFill>
                <a:highlight>
                  <a:srgbClr val="E8E2D4"/>
                </a:highlight>
                <a:latin typeface="JetBrains Mono"/>
                <a:ea typeface="JetBrains Mono"/>
                <a:cs typeface="JetBrains Mono"/>
                <a:sym typeface="JetBrains Mono"/>
              </a:rPr>
              <a:t>tenant_id </a:t>
            </a:r>
            <a:r>
              <a:rPr b="0" i="0" lang="en-US" sz="1800" u="none" cap="none" strike="noStrike">
                <a:solidFill>
                  <a:srgbClr val="1D2B3A"/>
                </a:solidFill>
                <a:latin typeface="Inter"/>
                <a:ea typeface="Inter"/>
                <a:cs typeface="Inter"/>
                <a:sym typeface="Inter"/>
              </a:rPr>
              <a:t>. Multi-tenant safety starts here.</a:t>
            </a:r>
            <a:endParaRPr b="0" i="0" sz="1800" u="none" cap="none" strike="noStrike">
              <a:solidFill>
                <a:schemeClr val="dk1"/>
              </a:solidFill>
              <a:latin typeface="Calibri"/>
              <a:ea typeface="Calibri"/>
              <a:cs typeface="Calibri"/>
              <a:sym typeface="Calibri"/>
            </a:endParaRPr>
          </a:p>
        </p:txBody>
      </p:sp>
      <p:sp>
        <p:nvSpPr>
          <p:cNvPr id="365" name="Google Shape;365;p16"/>
          <p:cNvSpPr/>
          <p:nvPr/>
        </p:nvSpPr>
        <p:spPr>
          <a:xfrm>
            <a:off x="9753600" y="7078861"/>
            <a:ext cx="7620000" cy="161538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p:nvPr/>
        </p:nvSpPr>
        <p:spPr>
          <a:xfrm>
            <a:off x="10067925" y="7393186"/>
            <a:ext cx="720109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RECENCY &amp; SCOPE</a:t>
            </a:r>
            <a:endParaRPr b="0" i="0" sz="1350" u="none" cap="none" strike="noStrike">
              <a:solidFill>
                <a:schemeClr val="dk1"/>
              </a:solidFill>
              <a:latin typeface="Calibri"/>
              <a:ea typeface="Calibri"/>
              <a:cs typeface="Calibri"/>
              <a:sym typeface="Calibri"/>
            </a:endParaRPr>
          </a:p>
        </p:txBody>
      </p:sp>
      <p:sp>
        <p:nvSpPr>
          <p:cNvPr id="367" name="Google Shape;367;p16"/>
          <p:cNvSpPr/>
          <p:nvPr/>
        </p:nvSpPr>
        <p:spPr>
          <a:xfrm>
            <a:off x="10067925" y="7717036"/>
            <a:ext cx="72010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Filter by </a:t>
            </a:r>
            <a:r>
              <a:rPr b="0" i="0" lang="en-US" sz="1800" u="none" cap="none" strike="noStrike">
                <a:solidFill>
                  <a:srgbClr val="1D2B3A"/>
                </a:solidFill>
                <a:highlight>
                  <a:srgbClr val="E8E2D4"/>
                </a:highlight>
                <a:latin typeface="JetBrains Mono"/>
                <a:ea typeface="JetBrains Mono"/>
                <a:cs typeface="JetBrains Mono"/>
                <a:sym typeface="JetBrains Mono"/>
              </a:rPr>
              <a:t>timestamp </a:t>
            </a:r>
            <a:r>
              <a:rPr b="0" i="0" lang="en-US" sz="1800" u="none" cap="none" strike="noStrike">
                <a:solidFill>
                  <a:srgbClr val="1D2B3A"/>
                </a:solidFill>
                <a:latin typeface="Inter"/>
                <a:ea typeface="Inter"/>
                <a:cs typeface="Inter"/>
                <a:sym typeface="Inter"/>
              </a:rPr>
              <a:t>or </a:t>
            </a:r>
            <a:r>
              <a:rPr b="0" i="0" lang="en-US" sz="1800" u="none" cap="none" strike="noStrike">
                <a:solidFill>
                  <a:srgbClr val="1D2B3A"/>
                </a:solidFill>
                <a:highlight>
                  <a:srgbClr val="E8E2D4"/>
                </a:highlight>
                <a:latin typeface="JetBrains Mono"/>
                <a:ea typeface="JetBrains Mono"/>
                <a:cs typeface="JetBrains Mono"/>
                <a:sym typeface="JetBrains Mono"/>
              </a:rPr>
              <a:t>doc_type </a:t>
            </a:r>
            <a:r>
              <a:rPr b="0" i="0" lang="en-US" sz="1800" u="none" cap="none" strike="noStrike">
                <a:solidFill>
                  <a:srgbClr val="1D2B3A"/>
                </a:solidFill>
                <a:latin typeface="Inter"/>
                <a:ea typeface="Inter"/>
                <a:cs typeface="Inter"/>
                <a:sym typeface="Inter"/>
              </a:rPr>
              <a:t>— Q3 questions shouldn't see Q1 chunks.</a:t>
            </a:r>
            <a:endParaRPr b="0" i="0" sz="1800" u="none" cap="none" strike="noStrike">
              <a:solidFill>
                <a:schemeClr val="dk1"/>
              </a:solidFill>
              <a:latin typeface="Calibri"/>
              <a:ea typeface="Calibri"/>
              <a:cs typeface="Calibri"/>
              <a:sym typeface="Calibri"/>
            </a:endParaRPr>
          </a:p>
        </p:txBody>
      </p:sp>
      <p:sp>
        <p:nvSpPr>
          <p:cNvPr id="368" name="Google Shape;368;p16"/>
          <p:cNvSpPr/>
          <p:nvPr/>
        </p:nvSpPr>
        <p:spPr>
          <a:xfrm>
            <a:off x="9753600" y="8865691"/>
            <a:ext cx="7620000" cy="161538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6"/>
          <p:cNvSpPr/>
          <p:nvPr/>
        </p:nvSpPr>
        <p:spPr>
          <a:xfrm>
            <a:off x="10067925" y="9180016"/>
            <a:ext cx="7201091"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TEXT LIVES HERE</a:t>
            </a:r>
            <a:endParaRPr b="0" i="0" sz="1350" u="none" cap="none" strike="noStrike">
              <a:solidFill>
                <a:schemeClr val="dk1"/>
              </a:solidFill>
              <a:latin typeface="Calibri"/>
              <a:ea typeface="Calibri"/>
              <a:cs typeface="Calibri"/>
              <a:sym typeface="Calibri"/>
            </a:endParaRPr>
          </a:p>
        </p:txBody>
      </p:sp>
      <p:sp>
        <p:nvSpPr>
          <p:cNvPr id="370" name="Google Shape;370;p16"/>
          <p:cNvSpPr/>
          <p:nvPr/>
        </p:nvSpPr>
        <p:spPr>
          <a:xfrm>
            <a:off x="10067925" y="9503866"/>
            <a:ext cx="72010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Store the chunk text in the payload. Qdrant returns it on search — one round-trip.</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375" name="Shape 375"/>
        <p:cNvGrpSpPr/>
        <p:nvPr/>
      </p:nvGrpSpPr>
      <p:grpSpPr>
        <a:xfrm>
          <a:off x="0" y="0"/>
          <a:ext cx="0" cy="0"/>
          <a:chOff x="0" y="0"/>
          <a:chExt cx="0" cy="0"/>
        </a:xfrm>
      </p:grpSpPr>
      <p:sp>
        <p:nvSpPr>
          <p:cNvPr id="376" name="Google Shape;376;p17"/>
          <p:cNvSpPr/>
          <p:nvPr/>
        </p:nvSpPr>
        <p:spPr>
          <a:xfrm>
            <a:off x="914400" y="45720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377" name="Google Shape;377;p17"/>
          <p:cNvSpPr/>
          <p:nvPr/>
        </p:nvSpPr>
        <p:spPr>
          <a:xfrm>
            <a:off x="914400" y="74295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378" name="Google Shape;378;p17"/>
          <p:cNvSpPr/>
          <p:nvPr/>
        </p:nvSpPr>
        <p:spPr>
          <a:xfrm>
            <a:off x="16603117" y="457200"/>
            <a:ext cx="8466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14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379" name="Google Shape;379;p17"/>
          <p:cNvSpPr/>
          <p:nvPr/>
        </p:nvSpPr>
        <p:spPr>
          <a:xfrm>
            <a:off x="914400" y="9620250"/>
            <a:ext cx="52557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380" name="Google Shape;380;p17"/>
          <p:cNvSpPr/>
          <p:nvPr/>
        </p:nvSpPr>
        <p:spPr>
          <a:xfrm>
            <a:off x="914400" y="1714500"/>
            <a:ext cx="16953000" cy="563100"/>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Ingestion — chunk, batch-embed, upsert</a:t>
            </a:r>
            <a:endParaRPr b="0" i="0" sz="3900" u="none" cap="none" strike="noStrike">
              <a:solidFill>
                <a:schemeClr val="dk1"/>
              </a:solidFill>
              <a:latin typeface="Calibri"/>
              <a:ea typeface="Calibri"/>
              <a:cs typeface="Calibri"/>
              <a:sym typeface="Calibri"/>
            </a:endParaRPr>
          </a:p>
        </p:txBody>
      </p:sp>
      <p:sp>
        <p:nvSpPr>
          <p:cNvPr id="381" name="Google Shape;381;p17"/>
          <p:cNvSpPr/>
          <p:nvPr/>
        </p:nvSpPr>
        <p:spPr>
          <a:xfrm>
            <a:off x="914400" y="2448963"/>
            <a:ext cx="16953000" cy="4248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lang="en-US" sz="2100">
                <a:solidFill>
                  <a:srgbClr val="536171"/>
                </a:solidFill>
                <a:latin typeface="Inter"/>
                <a:ea typeface="Inter"/>
                <a:cs typeface="Inter"/>
                <a:sym typeface="Inter"/>
              </a:rPr>
              <a:t>One HTTP call per 100 chunks, stable IDs for clean re-ingest, payload attached at write time.</a:t>
            </a:r>
            <a:endParaRPr b="0" sz="2100">
              <a:solidFill>
                <a:srgbClr val="536171"/>
              </a:solidFill>
              <a:latin typeface="Inter"/>
              <a:ea typeface="Inter"/>
              <a:cs typeface="Inter"/>
              <a:sym typeface="Inter"/>
            </a:endParaRPr>
          </a:p>
        </p:txBody>
      </p:sp>
      <p:sp>
        <p:nvSpPr>
          <p:cNvPr id="382" name="Google Shape;382;p17"/>
          <p:cNvSpPr/>
          <p:nvPr/>
        </p:nvSpPr>
        <p:spPr>
          <a:xfrm>
            <a:off x="914400" y="3238500"/>
            <a:ext cx="9715500" cy="5846100"/>
          </a:xfrm>
          <a:prstGeom prst="roundRect">
            <a:avLst>
              <a:gd fmla="val 1303" name="adj"/>
            </a:avLst>
          </a:prstGeom>
          <a:solidFill>
            <a:srgbClr val="1D2B3A"/>
          </a:solidFill>
          <a:ln>
            <a:noFill/>
          </a:ln>
          <a:effectLst>
            <a:outerShdw blurRad="304800" rotWithShape="0" algn="bl" dir="5400000" dist="114300">
              <a:srgbClr val="030A1C">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17"/>
          <p:cNvSpPr/>
          <p:nvPr/>
        </p:nvSpPr>
        <p:spPr>
          <a:xfrm>
            <a:off x="1219200" y="3524250"/>
            <a:ext cx="9105900" cy="5274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1" lang="en-US" sz="1550">
                <a:solidFill>
                  <a:srgbClr val="8FA0AF"/>
                </a:solidFill>
                <a:latin typeface="JetBrains Mono"/>
                <a:ea typeface="JetBrains Mono"/>
                <a:cs typeface="JetBrains Mono"/>
                <a:sym typeface="JetBrains Mono"/>
              </a:rPr>
              <a:t># ingest/pipeline.py</a:t>
            </a:r>
            <a:endParaRPr b="0" i="1" sz="15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50">
                <a:solidFill>
                  <a:srgbClr val="FACC15"/>
                </a:solidFill>
                <a:latin typeface="JetBrains Mono"/>
                <a:ea typeface="JetBrains Mono"/>
                <a:cs typeface="JetBrains Mono"/>
                <a:sym typeface="JetBrains Mono"/>
              </a:rPr>
              <a:t>from</a:t>
            </a:r>
            <a:r>
              <a:rPr b="0" i="0" lang="en-US" sz="1550">
                <a:solidFill>
                  <a:srgbClr val="E8E2D4"/>
                </a:solidFill>
                <a:latin typeface="JetBrains Mono"/>
                <a:ea typeface="JetBrains Mono"/>
                <a:cs typeface="JetBrains Mono"/>
                <a:sym typeface="JetBrains Mono"/>
              </a:rPr>
              <a:t> langchain_text_splitters </a:t>
            </a:r>
            <a:r>
              <a:rPr b="0" i="0" lang="en-US" sz="1550">
                <a:solidFill>
                  <a:srgbClr val="FACC15"/>
                </a:solidFill>
                <a:latin typeface="JetBrains Mono"/>
                <a:ea typeface="JetBrains Mono"/>
                <a:cs typeface="JetBrains Mono"/>
                <a:sym typeface="JetBrains Mono"/>
              </a:rPr>
              <a:t>import</a:t>
            </a:r>
            <a:r>
              <a:rPr b="0" i="0" lang="en-US" sz="1550">
                <a:solidFill>
                  <a:srgbClr val="E8E2D4"/>
                </a:solidFill>
                <a:latin typeface="JetBrains Mono"/>
                <a:ea typeface="JetBrains Mono"/>
                <a:cs typeface="JetBrains Mono"/>
                <a:sym typeface="JetBrains Mono"/>
              </a:rPr>
              <a:t> RecursiveCharacterTextSplitter</a:t>
            </a:r>
            <a:endParaRPr b="0" i="1" sz="15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50">
                <a:solidFill>
                  <a:srgbClr val="FACC15"/>
                </a:solidFill>
                <a:latin typeface="JetBrains Mono"/>
                <a:ea typeface="JetBrains Mono"/>
                <a:cs typeface="JetBrains Mono"/>
                <a:sym typeface="JetBrains Mono"/>
              </a:rPr>
              <a:t>from</a:t>
            </a:r>
            <a:r>
              <a:rPr b="0" i="0" lang="en-US" sz="1550">
                <a:solidFill>
                  <a:srgbClr val="E8E2D4"/>
                </a:solidFill>
                <a:latin typeface="JetBrains Mono"/>
                <a:ea typeface="JetBrains Mono"/>
                <a:cs typeface="JetBrains Mono"/>
                <a:sym typeface="JetBrains Mono"/>
              </a:rPr>
              <a:t> langchain_google_genai </a:t>
            </a:r>
            <a:r>
              <a:rPr b="0" i="0" lang="en-US" sz="1550">
                <a:solidFill>
                  <a:srgbClr val="FACC15"/>
                </a:solidFill>
                <a:latin typeface="JetBrains Mono"/>
                <a:ea typeface="JetBrains Mono"/>
                <a:cs typeface="JetBrains Mono"/>
                <a:sym typeface="JetBrains Mono"/>
              </a:rPr>
              <a:t>import</a:t>
            </a:r>
            <a:r>
              <a:rPr b="0" i="0" lang="en-US" sz="1550">
                <a:solidFill>
                  <a:srgbClr val="E8E2D4"/>
                </a:solidFill>
                <a:latin typeface="JetBrains Mono"/>
                <a:ea typeface="JetBrains Mono"/>
                <a:cs typeface="JetBrains Mono"/>
                <a:sym typeface="JetBrains Mono"/>
              </a:rPr>
              <a:t> GoogleGenerativeAIEmbeddings</a:t>
            </a:r>
            <a:endParaRPr b="0" i="1" sz="15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50">
                <a:solidFill>
                  <a:srgbClr val="FACC15"/>
                </a:solidFill>
                <a:latin typeface="JetBrains Mono"/>
                <a:ea typeface="JetBrains Mono"/>
                <a:cs typeface="JetBrains Mono"/>
                <a:sym typeface="JetBrains Mono"/>
              </a:rPr>
              <a:t>from</a:t>
            </a:r>
            <a:r>
              <a:rPr b="0" i="0" lang="en-US" sz="1550">
                <a:solidFill>
                  <a:srgbClr val="E8E2D4"/>
                </a:solidFill>
                <a:latin typeface="JetBrains Mono"/>
                <a:ea typeface="JetBrains Mono"/>
                <a:cs typeface="JetBrains Mono"/>
                <a:sym typeface="JetBrains Mono"/>
              </a:rPr>
              <a:t> qdrant_client </a:t>
            </a:r>
            <a:r>
              <a:rPr b="0" i="0" lang="en-US" sz="1550">
                <a:solidFill>
                  <a:srgbClr val="FACC15"/>
                </a:solidFill>
                <a:latin typeface="JetBrains Mono"/>
                <a:ea typeface="JetBrains Mono"/>
                <a:cs typeface="JetBrains Mono"/>
                <a:sym typeface="JetBrains Mono"/>
              </a:rPr>
              <a:t>import</a:t>
            </a:r>
            <a:r>
              <a:rPr b="0" i="0" lang="en-US" sz="1550">
                <a:solidFill>
                  <a:srgbClr val="E8E2D4"/>
                </a:solidFill>
                <a:latin typeface="JetBrains Mono"/>
                <a:ea typeface="JetBrains Mono"/>
                <a:cs typeface="JetBrains Mono"/>
                <a:sym typeface="JetBrains Mono"/>
              </a:rPr>
              <a:t> QdrantClient, models</a:t>
            </a:r>
            <a:endParaRPr b="0" i="1" sz="155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550">
                <a:solidFill>
                  <a:srgbClr val="E8E2D4"/>
                </a:solidFill>
                <a:latin typeface="JetBrains Mono"/>
                <a:ea typeface="JetBrains Mono"/>
                <a:cs typeface="JetBrains Mono"/>
                <a:sym typeface="JetBrains Mono"/>
              </a:rPr>
              <a:t>splitter = </a:t>
            </a:r>
            <a:r>
              <a:rPr b="0" i="0" lang="en-US" sz="1550">
                <a:solidFill>
                  <a:srgbClr val="6D8BE8"/>
                </a:solidFill>
                <a:latin typeface="JetBrains Mono"/>
                <a:ea typeface="JetBrains Mono"/>
                <a:cs typeface="JetBrains Mono"/>
                <a:sym typeface="JetBrains Mono"/>
              </a:rPr>
              <a:t>RecursiveCharacterTextSplitter</a:t>
            </a:r>
            <a:r>
              <a:rPr b="0" i="0" lang="en-US" sz="1550">
                <a:solidFill>
                  <a:srgbClr val="E8E2D4"/>
                </a:solidFill>
                <a:latin typeface="JetBrains Mono"/>
                <a:ea typeface="JetBrains Mono"/>
                <a:cs typeface="JetBrains Mono"/>
                <a:sym typeface="JetBrains Mono"/>
              </a:rPr>
              <a:t>(chunk_size=</a:t>
            </a:r>
            <a:r>
              <a:rPr b="0" i="0" lang="en-US" sz="1550">
                <a:solidFill>
                  <a:srgbClr val="D49000"/>
                </a:solidFill>
                <a:latin typeface="JetBrains Mono"/>
                <a:ea typeface="JetBrains Mono"/>
                <a:cs typeface="JetBrains Mono"/>
                <a:sym typeface="JetBrains Mono"/>
              </a:rPr>
              <a:t>3000</a:t>
            </a:r>
            <a:r>
              <a:rPr b="0" i="0" lang="en-US" sz="1550">
                <a:solidFill>
                  <a:srgbClr val="E8E2D4"/>
                </a:solidFill>
                <a:latin typeface="JetBrains Mono"/>
                <a:ea typeface="JetBrains Mono"/>
                <a:cs typeface="JetBrains Mono"/>
                <a:sym typeface="JetBrains Mono"/>
              </a:rPr>
              <a:t>, chunk_overlap=</a:t>
            </a:r>
            <a:r>
              <a:rPr b="0" i="0" lang="en-US" sz="1550">
                <a:solidFill>
                  <a:srgbClr val="D49000"/>
                </a:solidFill>
                <a:latin typeface="JetBrains Mono"/>
                <a:ea typeface="JetBrains Mono"/>
                <a:cs typeface="JetBrains Mono"/>
                <a:sym typeface="JetBrains Mono"/>
              </a:rPr>
              <a:t>400</a:t>
            </a:r>
            <a:r>
              <a:rPr b="0" i="0" lang="en-US" sz="1550">
                <a:solidFill>
                  <a:srgbClr val="E8E2D4"/>
                </a:solidFill>
                <a:latin typeface="JetBrains Mono"/>
                <a:ea typeface="JetBrains Mono"/>
                <a:cs typeface="JetBrains Mono"/>
                <a:sym typeface="JetBrains Mono"/>
              </a:rPr>
              <a:t>)</a:t>
            </a:r>
            <a:endParaRPr b="0" i="1" sz="15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50">
                <a:solidFill>
                  <a:srgbClr val="E8E2D4"/>
                </a:solidFill>
                <a:latin typeface="JetBrains Mono"/>
                <a:ea typeface="JetBrains Mono"/>
                <a:cs typeface="JetBrains Mono"/>
                <a:sym typeface="JetBrains Mono"/>
              </a:rPr>
              <a:t>embedder = </a:t>
            </a:r>
            <a:r>
              <a:rPr b="0" i="0" lang="en-US" sz="1550">
                <a:solidFill>
                  <a:srgbClr val="6D8BE8"/>
                </a:solidFill>
                <a:latin typeface="JetBrains Mono"/>
                <a:ea typeface="JetBrains Mono"/>
                <a:cs typeface="JetBrains Mono"/>
                <a:sym typeface="JetBrains Mono"/>
              </a:rPr>
              <a:t>GoogleGenerativeAIEmbeddings</a:t>
            </a:r>
            <a:r>
              <a:rPr b="0" i="0" lang="en-US" sz="1550">
                <a:solidFill>
                  <a:srgbClr val="E8E2D4"/>
                </a:solidFill>
                <a:latin typeface="JetBrains Mono"/>
                <a:ea typeface="JetBrains Mono"/>
                <a:cs typeface="JetBrains Mono"/>
                <a:sym typeface="JetBrains Mono"/>
              </a:rPr>
              <a:t>(model=</a:t>
            </a:r>
            <a:r>
              <a:rPr b="0" i="0" lang="en-US" sz="1550">
                <a:solidFill>
                  <a:srgbClr val="47B881"/>
                </a:solidFill>
                <a:latin typeface="JetBrains Mono"/>
                <a:ea typeface="JetBrains Mono"/>
                <a:cs typeface="JetBrains Mono"/>
                <a:sym typeface="JetBrains Mono"/>
              </a:rPr>
              <a:t>"models/text-embedding-004"</a:t>
            </a:r>
            <a:r>
              <a:rPr b="0" i="0" lang="en-US" sz="1550">
                <a:solidFill>
                  <a:srgbClr val="E8E2D4"/>
                </a:solidFill>
                <a:latin typeface="JetBrains Mono"/>
                <a:ea typeface="JetBrains Mono"/>
                <a:cs typeface="JetBrains Mono"/>
                <a:sym typeface="JetBrains Mono"/>
              </a:rPr>
              <a:t>)</a:t>
            </a:r>
            <a:endParaRPr b="0" i="1" sz="15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50">
                <a:solidFill>
                  <a:srgbClr val="E8E2D4"/>
                </a:solidFill>
                <a:latin typeface="JetBrains Mono"/>
                <a:ea typeface="JetBrains Mono"/>
                <a:cs typeface="JetBrains Mono"/>
                <a:sym typeface="JetBrains Mono"/>
              </a:rPr>
              <a:t>qdrant = </a:t>
            </a:r>
            <a:r>
              <a:rPr b="0" i="0" lang="en-US" sz="1550">
                <a:solidFill>
                  <a:srgbClr val="6D8BE8"/>
                </a:solidFill>
                <a:latin typeface="JetBrains Mono"/>
                <a:ea typeface="JetBrains Mono"/>
                <a:cs typeface="JetBrains Mono"/>
                <a:sym typeface="JetBrains Mono"/>
              </a:rPr>
              <a:t>QdrantClient</a:t>
            </a:r>
            <a:r>
              <a:rPr b="0" i="0" lang="en-US" sz="1550">
                <a:solidFill>
                  <a:srgbClr val="E8E2D4"/>
                </a:solidFill>
                <a:latin typeface="JetBrains Mono"/>
                <a:ea typeface="JetBrains Mono"/>
                <a:cs typeface="JetBrains Mono"/>
                <a:sym typeface="JetBrains Mono"/>
              </a:rPr>
              <a:t>(url=QDRANT_URL, api_key=QDRANT_KEY)</a:t>
            </a:r>
            <a:endParaRPr b="0" i="1" sz="155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550">
                <a:solidFill>
                  <a:srgbClr val="FACC15"/>
                </a:solidFill>
                <a:latin typeface="JetBrains Mono"/>
                <a:ea typeface="JetBrains Mono"/>
                <a:cs typeface="JetBrains Mono"/>
                <a:sym typeface="JetBrains Mono"/>
              </a:rPr>
              <a:t>def</a:t>
            </a:r>
            <a:r>
              <a:rPr b="0" i="0" lang="en-US" sz="1550">
                <a:solidFill>
                  <a:srgbClr val="6D8BE8"/>
                </a:solidFill>
                <a:latin typeface="JetBrains Mono"/>
                <a:ea typeface="JetBrains Mono"/>
                <a:cs typeface="JetBrains Mono"/>
                <a:sym typeface="JetBrains Mono"/>
              </a:rPr>
              <a:t> ingest_document</a:t>
            </a:r>
            <a:r>
              <a:rPr b="0" i="0" lang="en-US" sz="1550">
                <a:solidFill>
                  <a:srgbClr val="E8E2D4"/>
                </a:solidFill>
                <a:latin typeface="JetBrains Mono"/>
                <a:ea typeface="JetBrains Mono"/>
                <a:cs typeface="JetBrains Mono"/>
                <a:sym typeface="JetBrains Mono"/>
              </a:rPr>
              <a:t>(doc_id: </a:t>
            </a:r>
            <a:r>
              <a:rPr b="0" i="0" lang="en-US" sz="1550">
                <a:solidFill>
                  <a:srgbClr val="FACC15"/>
                </a:solidFill>
                <a:latin typeface="JetBrains Mono"/>
                <a:ea typeface="JetBrains Mono"/>
                <a:cs typeface="JetBrains Mono"/>
                <a:sym typeface="JetBrains Mono"/>
              </a:rPr>
              <a:t>str</a:t>
            </a:r>
            <a:r>
              <a:rPr b="0" i="0" lang="en-US" sz="1550">
                <a:solidFill>
                  <a:srgbClr val="E8E2D4"/>
                </a:solidFill>
                <a:latin typeface="JetBrains Mono"/>
                <a:ea typeface="JetBrains Mono"/>
                <a:cs typeface="JetBrains Mono"/>
                <a:sym typeface="JetBrains Mono"/>
              </a:rPr>
              <a:t>, text: </a:t>
            </a:r>
            <a:r>
              <a:rPr b="0" i="0" lang="en-US" sz="1550">
                <a:solidFill>
                  <a:srgbClr val="FACC15"/>
                </a:solidFill>
                <a:latin typeface="JetBrains Mono"/>
                <a:ea typeface="JetBrains Mono"/>
                <a:cs typeface="JetBrains Mono"/>
                <a:sym typeface="JetBrains Mono"/>
              </a:rPr>
              <a:t>str</a:t>
            </a:r>
            <a:r>
              <a:rPr b="0" i="0" lang="en-US" sz="1550">
                <a:solidFill>
                  <a:srgbClr val="E8E2D4"/>
                </a:solidFill>
                <a:latin typeface="JetBrains Mono"/>
                <a:ea typeface="JetBrains Mono"/>
                <a:cs typeface="JetBrains Mono"/>
                <a:sym typeface="JetBrains Mono"/>
              </a:rPr>
              <a:t>, meta: </a:t>
            </a:r>
            <a:r>
              <a:rPr b="0" i="0" lang="en-US" sz="1550">
                <a:solidFill>
                  <a:srgbClr val="FACC15"/>
                </a:solidFill>
                <a:latin typeface="JetBrains Mono"/>
                <a:ea typeface="JetBrains Mono"/>
                <a:cs typeface="JetBrains Mono"/>
                <a:sym typeface="JetBrains Mono"/>
              </a:rPr>
              <a:t>dict</a:t>
            </a:r>
            <a:r>
              <a:rPr b="0" i="0" lang="en-US" sz="1550">
                <a:solidFill>
                  <a:srgbClr val="E8E2D4"/>
                </a:solidFill>
                <a:latin typeface="JetBrains Mono"/>
                <a:ea typeface="JetBrains Mono"/>
                <a:cs typeface="JetBrains Mono"/>
                <a:sym typeface="JetBrains Mono"/>
              </a:rPr>
              <a:t>):</a:t>
            </a:r>
            <a:endParaRPr b="0" i="1" sz="1550">
              <a:solidFill>
                <a:srgbClr val="8FA0AF"/>
              </a:solidFill>
              <a:latin typeface="JetBrains Mono"/>
              <a:ea typeface="JetBrains Mono"/>
              <a:cs typeface="JetBrains Mono"/>
              <a:sym typeface="JetBrains Mono"/>
            </a:endParaRPr>
          </a:p>
          <a:p>
            <a:pPr indent="0" lvl="0" marL="457200" rtl="0" algn="l">
              <a:spcBef>
                <a:spcPts val="0"/>
              </a:spcBef>
              <a:spcAft>
                <a:spcPts val="0"/>
              </a:spcAft>
              <a:buNone/>
            </a:pPr>
            <a:r>
              <a:rPr b="0" i="0" lang="en-US" sz="1550">
                <a:solidFill>
                  <a:srgbClr val="E8E2D4"/>
                </a:solidFill>
                <a:latin typeface="JetBrains Mono"/>
                <a:ea typeface="JetBrains Mono"/>
                <a:cs typeface="JetBrains Mono"/>
                <a:sym typeface="JetBrains Mono"/>
              </a:rPr>
              <a:t>chunks = splitter.</a:t>
            </a:r>
            <a:r>
              <a:rPr b="0" i="0" lang="en-US" sz="1550">
                <a:solidFill>
                  <a:srgbClr val="6D8BE8"/>
                </a:solidFill>
                <a:latin typeface="JetBrains Mono"/>
                <a:ea typeface="JetBrains Mono"/>
                <a:cs typeface="JetBrains Mono"/>
                <a:sym typeface="JetBrains Mono"/>
              </a:rPr>
              <a:t>split_text</a:t>
            </a:r>
            <a:r>
              <a:rPr b="0" i="0" lang="en-US" sz="1550">
                <a:solidFill>
                  <a:srgbClr val="E8E2D4"/>
                </a:solidFill>
                <a:latin typeface="JetBrains Mono"/>
                <a:ea typeface="JetBrains Mono"/>
                <a:cs typeface="JetBrains Mono"/>
                <a:sym typeface="JetBrains Mono"/>
              </a:rPr>
              <a:t>(text)</a:t>
            </a:r>
            <a:endParaRPr b="0" i="1" sz="1550">
              <a:solidFill>
                <a:srgbClr val="8FA0AF"/>
              </a:solidFill>
              <a:latin typeface="JetBrains Mono"/>
              <a:ea typeface="JetBrains Mono"/>
              <a:cs typeface="JetBrains Mono"/>
              <a:sym typeface="JetBrains Mono"/>
            </a:endParaRPr>
          </a:p>
          <a:p>
            <a:pPr indent="0" lvl="0" marL="457200" rtl="0" algn="l">
              <a:spcBef>
                <a:spcPts val="0"/>
              </a:spcBef>
              <a:spcAft>
                <a:spcPts val="0"/>
              </a:spcAft>
              <a:buNone/>
            </a:pPr>
            <a:r>
              <a:rPr b="0" i="0" lang="en-US" sz="1550">
                <a:solidFill>
                  <a:srgbClr val="E8E2D4"/>
                </a:solidFill>
                <a:latin typeface="JetBrains Mono"/>
                <a:ea typeface="JetBrains Mono"/>
                <a:cs typeface="JetBrains Mono"/>
                <a:sym typeface="JetBrains Mono"/>
              </a:rPr>
              <a:t>vectors = embedder.</a:t>
            </a:r>
            <a:r>
              <a:rPr b="0" i="0" lang="en-US" sz="1550">
                <a:solidFill>
                  <a:srgbClr val="6D8BE8"/>
                </a:solidFill>
                <a:latin typeface="JetBrains Mono"/>
                <a:ea typeface="JetBrains Mono"/>
                <a:cs typeface="JetBrains Mono"/>
                <a:sym typeface="JetBrains Mono"/>
              </a:rPr>
              <a:t>embed_documents</a:t>
            </a:r>
            <a:r>
              <a:rPr b="0" i="0" lang="en-US" sz="1550">
                <a:solidFill>
                  <a:srgbClr val="E8E2D4"/>
                </a:solidFill>
                <a:latin typeface="JetBrains Mono"/>
                <a:ea typeface="JetBrains Mono"/>
                <a:cs typeface="JetBrains Mono"/>
                <a:sym typeface="JetBrains Mono"/>
              </a:rPr>
              <a:t>(chunks) </a:t>
            </a:r>
            <a:r>
              <a:rPr b="0" i="1" lang="en-US" sz="1550">
                <a:solidFill>
                  <a:srgbClr val="8FA0AF"/>
                </a:solidFill>
                <a:latin typeface="JetBrains Mono"/>
                <a:ea typeface="JetBrains Mono"/>
                <a:cs typeface="JetBrains Mono"/>
                <a:sym typeface="JetBrains Mono"/>
              </a:rPr>
              <a:t># batched HTTP</a:t>
            </a:r>
            <a:endParaRPr b="0" i="1" sz="1550">
              <a:solidFill>
                <a:srgbClr val="8FA0AF"/>
              </a:solidFill>
              <a:latin typeface="JetBrains Mono"/>
              <a:ea typeface="JetBrains Mono"/>
              <a:cs typeface="JetBrains Mono"/>
              <a:sym typeface="JetBrains Mono"/>
            </a:endParaRPr>
          </a:p>
          <a:p>
            <a:pPr indent="0" lvl="0" marL="457200" rtl="0" algn="l">
              <a:spcBef>
                <a:spcPts val="750"/>
              </a:spcBef>
              <a:spcAft>
                <a:spcPts val="0"/>
              </a:spcAft>
              <a:buNone/>
            </a:pPr>
            <a:r>
              <a:rPr b="0" i="0" lang="en-US" sz="1550">
                <a:solidFill>
                  <a:srgbClr val="E8E2D4"/>
                </a:solidFill>
                <a:latin typeface="JetBrains Mono"/>
                <a:ea typeface="JetBrains Mono"/>
                <a:cs typeface="JetBrains Mono"/>
                <a:sym typeface="JetBrains Mono"/>
              </a:rPr>
              <a:t>points = [</a:t>
            </a:r>
            <a:endParaRPr b="0" i="1" sz="1550">
              <a:solidFill>
                <a:srgbClr val="8FA0AF"/>
              </a:solidFill>
              <a:latin typeface="JetBrains Mono"/>
              <a:ea typeface="JetBrains Mono"/>
              <a:cs typeface="JetBrains Mono"/>
              <a:sym typeface="JetBrains Mono"/>
            </a:endParaRPr>
          </a:p>
          <a:p>
            <a:pPr indent="0" lvl="0" marL="914400" rtl="0" algn="l">
              <a:spcBef>
                <a:spcPts val="0"/>
              </a:spcBef>
              <a:spcAft>
                <a:spcPts val="0"/>
              </a:spcAft>
              <a:buNone/>
            </a:pPr>
            <a:r>
              <a:rPr b="0" i="0" lang="en-US" sz="1550">
                <a:solidFill>
                  <a:srgbClr val="E8E2D4"/>
                </a:solidFill>
                <a:latin typeface="JetBrains Mono"/>
                <a:ea typeface="JetBrains Mono"/>
                <a:cs typeface="JetBrains Mono"/>
                <a:sym typeface="JetBrains Mono"/>
              </a:rPr>
              <a:t>models.</a:t>
            </a:r>
            <a:r>
              <a:rPr b="0" i="0" lang="en-US" sz="1550">
                <a:solidFill>
                  <a:srgbClr val="6D8BE8"/>
                </a:solidFill>
                <a:latin typeface="JetBrains Mono"/>
                <a:ea typeface="JetBrains Mono"/>
                <a:cs typeface="JetBrains Mono"/>
                <a:sym typeface="JetBrains Mono"/>
              </a:rPr>
              <a:t>PointStruct</a:t>
            </a:r>
            <a:r>
              <a:rPr b="0" i="0" lang="en-US" sz="1550">
                <a:solidFill>
                  <a:srgbClr val="E8E2D4"/>
                </a:solidFill>
                <a:latin typeface="JetBrains Mono"/>
                <a:ea typeface="JetBrains Mono"/>
                <a:cs typeface="JetBrains Mono"/>
                <a:sym typeface="JetBrains Mono"/>
              </a:rPr>
              <a:t>(</a:t>
            </a:r>
            <a:endParaRPr b="0" i="1" sz="1550">
              <a:solidFill>
                <a:srgbClr val="8FA0AF"/>
              </a:solidFill>
              <a:latin typeface="JetBrains Mono"/>
              <a:ea typeface="JetBrains Mono"/>
              <a:cs typeface="JetBrains Mono"/>
              <a:sym typeface="JetBrains Mono"/>
            </a:endParaRPr>
          </a:p>
          <a:p>
            <a:pPr indent="0" lvl="0" marL="1371600" rtl="0" algn="l">
              <a:spcBef>
                <a:spcPts val="0"/>
              </a:spcBef>
              <a:spcAft>
                <a:spcPts val="0"/>
              </a:spcAft>
              <a:buNone/>
            </a:pPr>
            <a:r>
              <a:rPr b="0" i="0" lang="en-US" sz="1550">
                <a:solidFill>
                  <a:srgbClr val="E8E2D4"/>
                </a:solidFill>
                <a:latin typeface="JetBrains Mono"/>
                <a:ea typeface="JetBrains Mono"/>
                <a:cs typeface="JetBrains Mono"/>
                <a:sym typeface="JetBrains Mono"/>
              </a:rPr>
              <a:t>id=</a:t>
            </a:r>
            <a:r>
              <a:rPr b="0" i="0" lang="en-US" sz="1550">
                <a:solidFill>
                  <a:srgbClr val="6D8BE8"/>
                </a:solidFill>
                <a:latin typeface="JetBrains Mono"/>
                <a:ea typeface="JetBrains Mono"/>
                <a:cs typeface="JetBrains Mono"/>
                <a:sym typeface="JetBrains Mono"/>
              </a:rPr>
              <a:t>f</a:t>
            </a:r>
            <a:r>
              <a:rPr b="0" i="0" lang="en-US" sz="1550">
                <a:solidFill>
                  <a:srgbClr val="47B881"/>
                </a:solidFill>
                <a:latin typeface="JetBrains Mono"/>
                <a:ea typeface="JetBrains Mono"/>
                <a:cs typeface="JetBrains Mono"/>
                <a:sym typeface="JetBrains Mono"/>
              </a:rPr>
              <a:t>"{doc_id}__chunk-{i:04d}"</a:t>
            </a:r>
            <a:r>
              <a:rPr b="0" i="0" lang="en-US" sz="1550">
                <a:solidFill>
                  <a:srgbClr val="E8E2D4"/>
                </a:solidFill>
                <a:latin typeface="JetBrains Mono"/>
                <a:ea typeface="JetBrains Mono"/>
                <a:cs typeface="JetBrains Mono"/>
                <a:sym typeface="JetBrains Mono"/>
              </a:rPr>
              <a:t>, </a:t>
            </a:r>
            <a:r>
              <a:rPr b="0" i="1" lang="en-US" sz="1550">
                <a:solidFill>
                  <a:srgbClr val="8FA0AF"/>
                </a:solidFill>
                <a:latin typeface="JetBrains Mono"/>
                <a:ea typeface="JetBrains Mono"/>
                <a:cs typeface="JetBrains Mono"/>
                <a:sym typeface="JetBrains Mono"/>
              </a:rPr>
              <a:t># stable → upsert-safe</a:t>
            </a:r>
            <a:endParaRPr b="0" i="1" sz="1550">
              <a:solidFill>
                <a:srgbClr val="8FA0AF"/>
              </a:solidFill>
              <a:latin typeface="JetBrains Mono"/>
              <a:ea typeface="JetBrains Mono"/>
              <a:cs typeface="JetBrains Mono"/>
              <a:sym typeface="JetBrains Mono"/>
            </a:endParaRPr>
          </a:p>
          <a:p>
            <a:pPr indent="0" lvl="0" marL="1371600" rtl="0" algn="l">
              <a:spcBef>
                <a:spcPts val="0"/>
              </a:spcBef>
              <a:spcAft>
                <a:spcPts val="0"/>
              </a:spcAft>
              <a:buNone/>
            </a:pPr>
            <a:r>
              <a:rPr b="0" i="0" lang="en-US" sz="1550">
                <a:solidFill>
                  <a:srgbClr val="E8E2D4"/>
                </a:solidFill>
                <a:latin typeface="JetBrains Mono"/>
                <a:ea typeface="JetBrains Mono"/>
                <a:cs typeface="JetBrains Mono"/>
                <a:sym typeface="JetBrains Mono"/>
              </a:rPr>
              <a:t>vector=v,</a:t>
            </a:r>
            <a:endParaRPr b="0" i="1" sz="1550">
              <a:solidFill>
                <a:srgbClr val="8FA0AF"/>
              </a:solidFill>
              <a:latin typeface="JetBrains Mono"/>
              <a:ea typeface="JetBrains Mono"/>
              <a:cs typeface="JetBrains Mono"/>
              <a:sym typeface="JetBrains Mono"/>
            </a:endParaRPr>
          </a:p>
          <a:p>
            <a:pPr indent="0" lvl="0" marL="1371600" rtl="0" algn="l">
              <a:spcBef>
                <a:spcPts val="0"/>
              </a:spcBef>
              <a:spcAft>
                <a:spcPts val="0"/>
              </a:spcAft>
              <a:buNone/>
            </a:pPr>
            <a:r>
              <a:rPr b="0" i="0" lang="en-US" sz="1550">
                <a:solidFill>
                  <a:srgbClr val="E8E2D4"/>
                </a:solidFill>
                <a:latin typeface="JetBrains Mono"/>
                <a:ea typeface="JetBrains Mono"/>
                <a:cs typeface="JetBrains Mono"/>
                <a:sym typeface="JetBrains Mono"/>
              </a:rPr>
              <a:t>payload={**meta, </a:t>
            </a:r>
            <a:r>
              <a:rPr b="0" i="0" lang="en-US" sz="1550">
                <a:solidFill>
                  <a:srgbClr val="47B881"/>
                </a:solidFill>
                <a:latin typeface="JetBrains Mono"/>
                <a:ea typeface="JetBrains Mono"/>
                <a:cs typeface="JetBrains Mono"/>
                <a:sym typeface="JetBrains Mono"/>
              </a:rPr>
              <a:t>"chunk_index"</a:t>
            </a:r>
            <a:r>
              <a:rPr b="0" i="0" lang="en-US" sz="1550">
                <a:solidFill>
                  <a:srgbClr val="E8E2D4"/>
                </a:solidFill>
                <a:latin typeface="JetBrains Mono"/>
                <a:ea typeface="JetBrains Mono"/>
                <a:cs typeface="JetBrains Mono"/>
                <a:sym typeface="JetBrains Mono"/>
              </a:rPr>
              <a:t>: i, </a:t>
            </a:r>
            <a:r>
              <a:rPr b="0" i="0" lang="en-US" sz="1550">
                <a:solidFill>
                  <a:srgbClr val="47B881"/>
                </a:solidFill>
                <a:latin typeface="JetBrains Mono"/>
                <a:ea typeface="JetBrains Mono"/>
                <a:cs typeface="JetBrains Mono"/>
                <a:sym typeface="JetBrains Mono"/>
              </a:rPr>
              <a:t>"text"</a:t>
            </a:r>
            <a:r>
              <a:rPr b="0" i="0" lang="en-US" sz="1550">
                <a:solidFill>
                  <a:srgbClr val="E8E2D4"/>
                </a:solidFill>
                <a:latin typeface="JetBrains Mono"/>
                <a:ea typeface="JetBrains Mono"/>
                <a:cs typeface="JetBrains Mono"/>
                <a:sym typeface="JetBrains Mono"/>
              </a:rPr>
              <a:t>: c},</a:t>
            </a:r>
            <a:endParaRPr b="0" i="1" sz="1550">
              <a:solidFill>
                <a:srgbClr val="8FA0AF"/>
              </a:solidFill>
              <a:latin typeface="JetBrains Mono"/>
              <a:ea typeface="JetBrains Mono"/>
              <a:cs typeface="JetBrains Mono"/>
              <a:sym typeface="JetBrains Mono"/>
            </a:endParaRPr>
          </a:p>
          <a:p>
            <a:pPr indent="0" lvl="0" marL="914400" rtl="0" algn="l">
              <a:spcBef>
                <a:spcPts val="0"/>
              </a:spcBef>
              <a:spcAft>
                <a:spcPts val="0"/>
              </a:spcAft>
              <a:buNone/>
            </a:pPr>
            <a:r>
              <a:rPr b="0" i="0" lang="en-US" sz="1550">
                <a:solidFill>
                  <a:srgbClr val="E8E2D4"/>
                </a:solidFill>
                <a:latin typeface="JetBrains Mono"/>
                <a:ea typeface="JetBrains Mono"/>
                <a:cs typeface="JetBrains Mono"/>
                <a:sym typeface="JetBrains Mono"/>
              </a:rPr>
              <a:t>) </a:t>
            </a:r>
            <a:endParaRPr b="0" i="0" sz="1550">
              <a:solidFill>
                <a:srgbClr val="E8E2D4"/>
              </a:solidFill>
              <a:latin typeface="JetBrains Mono"/>
              <a:ea typeface="JetBrains Mono"/>
              <a:cs typeface="JetBrains Mono"/>
              <a:sym typeface="JetBrains Mono"/>
            </a:endParaRPr>
          </a:p>
          <a:p>
            <a:pPr indent="0" lvl="0" marL="914400" rtl="0" algn="l">
              <a:spcBef>
                <a:spcPts val="0"/>
              </a:spcBef>
              <a:spcAft>
                <a:spcPts val="0"/>
              </a:spcAft>
              <a:buNone/>
            </a:pPr>
            <a:r>
              <a:rPr b="0" i="0" lang="en-US" sz="1550">
                <a:solidFill>
                  <a:srgbClr val="FACC15"/>
                </a:solidFill>
                <a:latin typeface="JetBrains Mono"/>
                <a:ea typeface="JetBrains Mono"/>
                <a:cs typeface="JetBrains Mono"/>
                <a:sym typeface="JetBrains Mono"/>
              </a:rPr>
              <a:t>for</a:t>
            </a:r>
            <a:r>
              <a:rPr b="0" i="0" lang="en-US" sz="1550">
                <a:solidFill>
                  <a:srgbClr val="E8E2D4"/>
                </a:solidFill>
                <a:latin typeface="JetBrains Mono"/>
                <a:ea typeface="JetBrains Mono"/>
                <a:cs typeface="JetBrains Mono"/>
                <a:sym typeface="JetBrains Mono"/>
              </a:rPr>
              <a:t> i, (c, v) </a:t>
            </a:r>
            <a:r>
              <a:rPr b="0" i="0" lang="en-US" sz="1550">
                <a:solidFill>
                  <a:srgbClr val="FACC15"/>
                </a:solidFill>
                <a:latin typeface="JetBrains Mono"/>
                <a:ea typeface="JetBrains Mono"/>
                <a:cs typeface="JetBrains Mono"/>
                <a:sym typeface="JetBrains Mono"/>
              </a:rPr>
              <a:t>in</a:t>
            </a:r>
            <a:r>
              <a:rPr b="0" i="0" lang="en-US" sz="1550">
                <a:solidFill>
                  <a:srgbClr val="6D8BE8"/>
                </a:solidFill>
                <a:latin typeface="JetBrains Mono"/>
                <a:ea typeface="JetBrains Mono"/>
                <a:cs typeface="JetBrains Mono"/>
                <a:sym typeface="JetBrains Mono"/>
              </a:rPr>
              <a:t> enumerate</a:t>
            </a:r>
            <a:r>
              <a:rPr b="0" i="0" lang="en-US" sz="1550">
                <a:solidFill>
                  <a:srgbClr val="E8E2D4"/>
                </a:solidFill>
                <a:latin typeface="JetBrains Mono"/>
                <a:ea typeface="JetBrains Mono"/>
                <a:cs typeface="JetBrains Mono"/>
                <a:sym typeface="JetBrains Mono"/>
              </a:rPr>
              <a:t>(</a:t>
            </a:r>
            <a:r>
              <a:rPr b="0" i="0" lang="en-US" sz="1550">
                <a:solidFill>
                  <a:srgbClr val="6D8BE8"/>
                </a:solidFill>
                <a:latin typeface="JetBrains Mono"/>
                <a:ea typeface="JetBrains Mono"/>
                <a:cs typeface="JetBrains Mono"/>
                <a:sym typeface="JetBrains Mono"/>
              </a:rPr>
              <a:t>zip</a:t>
            </a:r>
            <a:r>
              <a:rPr b="0" i="0" lang="en-US" sz="1550">
                <a:solidFill>
                  <a:srgbClr val="E8E2D4"/>
                </a:solidFill>
                <a:latin typeface="JetBrains Mono"/>
                <a:ea typeface="JetBrains Mono"/>
                <a:cs typeface="JetBrains Mono"/>
                <a:sym typeface="JetBrains Mono"/>
              </a:rPr>
              <a:t>(chunks, vectors))</a:t>
            </a:r>
            <a:endParaRPr b="0" i="1" sz="1550">
              <a:solidFill>
                <a:srgbClr val="8FA0AF"/>
              </a:solidFill>
              <a:latin typeface="JetBrains Mono"/>
              <a:ea typeface="JetBrains Mono"/>
              <a:cs typeface="JetBrains Mono"/>
              <a:sym typeface="JetBrains Mono"/>
            </a:endParaRPr>
          </a:p>
          <a:p>
            <a:pPr indent="0" lvl="0" marL="457200" rtl="0" algn="l">
              <a:spcBef>
                <a:spcPts val="0"/>
              </a:spcBef>
              <a:spcAft>
                <a:spcPts val="0"/>
              </a:spcAft>
              <a:buNone/>
            </a:pPr>
            <a:r>
              <a:rPr b="0" i="0" lang="en-US" sz="1550">
                <a:solidFill>
                  <a:srgbClr val="E8E2D4"/>
                </a:solidFill>
                <a:latin typeface="JetBrains Mono"/>
                <a:ea typeface="JetBrains Mono"/>
                <a:cs typeface="JetBrains Mono"/>
                <a:sym typeface="JetBrains Mono"/>
              </a:rPr>
              <a:t>]</a:t>
            </a:r>
            <a:endParaRPr b="0" i="1" sz="1550">
              <a:solidFill>
                <a:srgbClr val="8FA0AF"/>
              </a:solidFill>
              <a:latin typeface="JetBrains Mono"/>
              <a:ea typeface="JetBrains Mono"/>
              <a:cs typeface="JetBrains Mono"/>
              <a:sym typeface="JetBrains Mono"/>
            </a:endParaRPr>
          </a:p>
          <a:p>
            <a:pPr indent="457200" lvl="0" marL="0" rtl="0" algn="l">
              <a:spcBef>
                <a:spcPts val="750"/>
              </a:spcBef>
              <a:spcAft>
                <a:spcPts val="0"/>
              </a:spcAft>
              <a:buNone/>
            </a:pPr>
            <a:r>
              <a:rPr b="0" i="0" lang="en-US" sz="1550">
                <a:solidFill>
                  <a:srgbClr val="E8E2D4"/>
                </a:solidFill>
                <a:latin typeface="JetBrains Mono"/>
                <a:ea typeface="JetBrains Mono"/>
                <a:cs typeface="JetBrains Mono"/>
                <a:sym typeface="JetBrains Mono"/>
              </a:rPr>
              <a:t>qdrant.</a:t>
            </a:r>
            <a:r>
              <a:rPr b="0" i="0" lang="en-US" sz="1550">
                <a:solidFill>
                  <a:srgbClr val="6D8BE8"/>
                </a:solidFill>
                <a:latin typeface="JetBrains Mono"/>
                <a:ea typeface="JetBrains Mono"/>
                <a:cs typeface="JetBrains Mono"/>
                <a:sym typeface="JetBrains Mono"/>
              </a:rPr>
              <a:t>upsert</a:t>
            </a:r>
            <a:r>
              <a:rPr b="0" i="0" lang="en-US" sz="1550">
                <a:solidFill>
                  <a:srgbClr val="E8E2D4"/>
                </a:solidFill>
                <a:latin typeface="JetBrains Mono"/>
                <a:ea typeface="JetBrains Mono"/>
                <a:cs typeface="JetBrains Mono"/>
                <a:sym typeface="JetBrains Mono"/>
              </a:rPr>
              <a:t>(collection_name=</a:t>
            </a:r>
            <a:r>
              <a:rPr b="0" i="0" lang="en-US" sz="1550">
                <a:solidFill>
                  <a:srgbClr val="47B881"/>
                </a:solidFill>
                <a:latin typeface="JetBrains Mono"/>
                <a:ea typeface="JetBrains Mono"/>
                <a:cs typeface="JetBrains Mono"/>
                <a:sym typeface="JetBrains Mono"/>
              </a:rPr>
              <a:t>"kb"</a:t>
            </a:r>
            <a:r>
              <a:rPr b="0" i="0" lang="en-US" sz="1550">
                <a:solidFill>
                  <a:srgbClr val="E8E2D4"/>
                </a:solidFill>
                <a:latin typeface="JetBrains Mono"/>
                <a:ea typeface="JetBrains Mono"/>
                <a:cs typeface="JetBrains Mono"/>
                <a:sym typeface="JetBrains Mono"/>
              </a:rPr>
              <a:t>, points=points, wait=</a:t>
            </a:r>
            <a:r>
              <a:rPr b="0" i="0" lang="en-US" sz="1550">
                <a:solidFill>
                  <a:srgbClr val="FACC15"/>
                </a:solidFill>
                <a:latin typeface="JetBrains Mono"/>
                <a:ea typeface="JetBrains Mono"/>
                <a:cs typeface="JetBrains Mono"/>
                <a:sym typeface="JetBrains Mono"/>
              </a:rPr>
              <a:t>True</a:t>
            </a:r>
            <a:r>
              <a:rPr b="0" i="0" lang="en-US" sz="1550">
                <a:solidFill>
                  <a:srgbClr val="E8E2D4"/>
                </a:solidFill>
                <a:latin typeface="JetBrains Mono"/>
                <a:ea typeface="JetBrains Mono"/>
                <a:cs typeface="JetBrains Mono"/>
                <a:sym typeface="JetBrains Mono"/>
              </a:rPr>
              <a:t>)</a:t>
            </a:r>
            <a:endParaRPr b="0" i="1" sz="1550">
              <a:solidFill>
                <a:srgbClr val="8FA0AF"/>
              </a:solidFill>
              <a:latin typeface="JetBrains Mono"/>
              <a:ea typeface="JetBrains Mono"/>
              <a:cs typeface="JetBrains Mono"/>
              <a:sym typeface="JetBrains Mono"/>
            </a:endParaRPr>
          </a:p>
        </p:txBody>
      </p:sp>
      <p:sp>
        <p:nvSpPr>
          <p:cNvPr id="384" name="Google Shape;384;p17"/>
          <p:cNvSpPr/>
          <p:nvPr/>
        </p:nvSpPr>
        <p:spPr>
          <a:xfrm>
            <a:off x="11087100" y="3238500"/>
            <a:ext cx="6286500" cy="1354500"/>
          </a:xfrm>
          <a:prstGeom prst="roundRect">
            <a:avLst>
              <a:gd fmla="val 562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17"/>
          <p:cNvSpPr/>
          <p:nvPr/>
        </p:nvSpPr>
        <p:spPr>
          <a:xfrm>
            <a:off x="11372850" y="3238500"/>
            <a:ext cx="5715000" cy="135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45">
                <a:solidFill>
                  <a:srgbClr val="214CB8"/>
                </a:solidFill>
                <a:latin typeface="Inter"/>
                <a:ea typeface="Inter"/>
                <a:cs typeface="Inter"/>
                <a:sym typeface="Inter"/>
              </a:rPr>
              <a:t>BATCH EMBEDDINGS</a:t>
            </a:r>
            <a:endParaRPr b="1" sz="1445">
              <a:solidFill>
                <a:srgbClr val="214CB8"/>
              </a:solidFill>
              <a:latin typeface="Inter"/>
              <a:ea typeface="Inter"/>
              <a:cs typeface="Inter"/>
              <a:sym typeface="Inter"/>
            </a:endParaRPr>
          </a:p>
          <a:p>
            <a:pPr indent="0" lvl="0" marL="0" rtl="0" algn="l">
              <a:spcBef>
                <a:spcPts val="600"/>
              </a:spcBef>
              <a:spcAft>
                <a:spcPts val="0"/>
              </a:spcAft>
              <a:buNone/>
            </a:pPr>
            <a:r>
              <a:rPr b="0" lang="en-US" sz="1665">
                <a:solidFill>
                  <a:srgbClr val="1D2B3A"/>
                </a:solidFill>
                <a:latin typeface="Inter"/>
                <a:ea typeface="Inter"/>
                <a:cs typeface="Inter"/>
                <a:sym typeface="Inter"/>
              </a:rPr>
              <a:t>One call per ~100 chunks. Per-chunk calls will quietly bankrupt you.</a:t>
            </a:r>
            <a:endParaRPr b="0" sz="1665">
              <a:solidFill>
                <a:srgbClr val="1D2B3A"/>
              </a:solidFill>
              <a:latin typeface="Inter"/>
              <a:ea typeface="Inter"/>
              <a:cs typeface="Inter"/>
              <a:sym typeface="Inter"/>
            </a:endParaRPr>
          </a:p>
        </p:txBody>
      </p:sp>
      <p:sp>
        <p:nvSpPr>
          <p:cNvPr id="386" name="Google Shape;386;p17"/>
          <p:cNvSpPr/>
          <p:nvPr/>
        </p:nvSpPr>
        <p:spPr>
          <a:xfrm>
            <a:off x="11087100" y="4735725"/>
            <a:ext cx="6286500" cy="1354500"/>
          </a:xfrm>
          <a:prstGeom prst="roundRect">
            <a:avLst>
              <a:gd fmla="val 562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17"/>
          <p:cNvSpPr/>
          <p:nvPr/>
        </p:nvSpPr>
        <p:spPr>
          <a:xfrm>
            <a:off x="11372850" y="4735725"/>
            <a:ext cx="5715000" cy="135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45">
                <a:solidFill>
                  <a:srgbClr val="47B881"/>
                </a:solidFill>
                <a:latin typeface="Inter"/>
                <a:ea typeface="Inter"/>
                <a:cs typeface="Inter"/>
                <a:sym typeface="Inter"/>
              </a:rPr>
              <a:t>STABLE POINT ID</a:t>
            </a:r>
            <a:endParaRPr b="1" sz="1445">
              <a:solidFill>
                <a:srgbClr val="47B881"/>
              </a:solidFill>
              <a:latin typeface="Inter"/>
              <a:ea typeface="Inter"/>
              <a:cs typeface="Inter"/>
              <a:sym typeface="Inter"/>
            </a:endParaRPr>
          </a:p>
          <a:p>
            <a:pPr indent="0" lvl="0" marL="0" rtl="0" algn="l">
              <a:spcBef>
                <a:spcPts val="600"/>
              </a:spcBef>
              <a:spcAft>
                <a:spcPts val="0"/>
              </a:spcAft>
              <a:buNone/>
            </a:pPr>
            <a:r>
              <a:rPr b="0" lang="en-US" sz="1665">
                <a:solidFill>
                  <a:srgbClr val="1D2B3A"/>
                </a:solidFill>
                <a:highlight>
                  <a:srgbClr val="E8E2D4"/>
                </a:highlight>
                <a:latin typeface="JetBrains Mono"/>
                <a:ea typeface="JetBrains Mono"/>
                <a:cs typeface="JetBrains Mono"/>
                <a:sym typeface="JetBrains Mono"/>
              </a:rPr>
              <a:t>doc_id + chunk_index</a:t>
            </a:r>
            <a:r>
              <a:rPr b="0" lang="en-US" sz="1665">
                <a:solidFill>
                  <a:srgbClr val="1D2B3A"/>
                </a:solidFill>
                <a:latin typeface="Inter"/>
                <a:ea typeface="Inter"/>
                <a:cs typeface="Inter"/>
                <a:sym typeface="Inter"/>
              </a:rPr>
              <a:t> — re-running the pipeline upserts cleanly.</a:t>
            </a:r>
            <a:endParaRPr b="0" sz="1665">
              <a:solidFill>
                <a:srgbClr val="1D2B3A"/>
              </a:solidFill>
              <a:latin typeface="JetBrains Mono"/>
              <a:ea typeface="JetBrains Mono"/>
              <a:cs typeface="JetBrains Mono"/>
              <a:sym typeface="JetBrains Mono"/>
            </a:endParaRPr>
          </a:p>
        </p:txBody>
      </p:sp>
      <p:sp>
        <p:nvSpPr>
          <p:cNvPr id="388" name="Google Shape;388;p17"/>
          <p:cNvSpPr/>
          <p:nvPr/>
        </p:nvSpPr>
        <p:spPr>
          <a:xfrm>
            <a:off x="11087100" y="6232950"/>
            <a:ext cx="6286500" cy="1354500"/>
          </a:xfrm>
          <a:prstGeom prst="roundRect">
            <a:avLst>
              <a:gd fmla="val 562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17"/>
          <p:cNvSpPr/>
          <p:nvPr/>
        </p:nvSpPr>
        <p:spPr>
          <a:xfrm>
            <a:off x="11372850" y="6232950"/>
            <a:ext cx="5715000" cy="135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45">
                <a:solidFill>
                  <a:srgbClr val="D49000"/>
                </a:solidFill>
                <a:latin typeface="Inter"/>
                <a:ea typeface="Inter"/>
                <a:cs typeface="Inter"/>
                <a:sym typeface="Inter"/>
              </a:rPr>
              <a:t>PAYLOAD AT WRITE</a:t>
            </a:r>
            <a:endParaRPr b="1" sz="1445">
              <a:solidFill>
                <a:srgbClr val="D49000"/>
              </a:solidFill>
              <a:latin typeface="Inter"/>
              <a:ea typeface="Inter"/>
              <a:cs typeface="Inter"/>
              <a:sym typeface="Inter"/>
            </a:endParaRPr>
          </a:p>
          <a:p>
            <a:pPr indent="0" lvl="0" marL="0" rtl="0" algn="l">
              <a:spcBef>
                <a:spcPts val="600"/>
              </a:spcBef>
              <a:spcAft>
                <a:spcPts val="0"/>
              </a:spcAft>
              <a:buNone/>
            </a:pPr>
            <a:r>
              <a:rPr b="0" lang="en-US" sz="1665">
                <a:solidFill>
                  <a:srgbClr val="1D2B3A"/>
                </a:solidFill>
                <a:latin typeface="Inter"/>
                <a:ea typeface="Inter"/>
                <a:cs typeface="Inter"/>
                <a:sym typeface="Inter"/>
              </a:rPr>
              <a:t>No separate document store. Qdrant returns the text on search.</a:t>
            </a:r>
            <a:endParaRPr b="0" sz="1665">
              <a:solidFill>
                <a:srgbClr val="1D2B3A"/>
              </a:solidFill>
              <a:latin typeface="Inter"/>
              <a:ea typeface="Inter"/>
              <a:cs typeface="Inter"/>
              <a:sym typeface="Inter"/>
            </a:endParaRPr>
          </a:p>
        </p:txBody>
      </p:sp>
      <p:sp>
        <p:nvSpPr>
          <p:cNvPr id="390" name="Google Shape;390;p17"/>
          <p:cNvSpPr/>
          <p:nvPr/>
        </p:nvSpPr>
        <p:spPr>
          <a:xfrm>
            <a:off x="11087100" y="7730176"/>
            <a:ext cx="6286500" cy="1354200"/>
          </a:xfrm>
          <a:prstGeom prst="roundRect">
            <a:avLst>
              <a:gd fmla="val 562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17"/>
          <p:cNvSpPr/>
          <p:nvPr/>
        </p:nvSpPr>
        <p:spPr>
          <a:xfrm>
            <a:off x="11372850" y="7730176"/>
            <a:ext cx="5715000" cy="1354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45">
                <a:solidFill>
                  <a:srgbClr val="7A4BD9"/>
                </a:solidFill>
                <a:latin typeface="Inter"/>
                <a:ea typeface="Inter"/>
                <a:cs typeface="Inter"/>
                <a:sym typeface="Inter"/>
              </a:rPr>
              <a:t>WAIT = TRUE</a:t>
            </a:r>
            <a:endParaRPr b="1" sz="1445">
              <a:solidFill>
                <a:srgbClr val="7A4BD9"/>
              </a:solidFill>
              <a:latin typeface="Inter"/>
              <a:ea typeface="Inter"/>
              <a:cs typeface="Inter"/>
              <a:sym typeface="Inter"/>
            </a:endParaRPr>
          </a:p>
          <a:p>
            <a:pPr indent="0" lvl="0" marL="0" rtl="0" algn="l">
              <a:spcBef>
                <a:spcPts val="600"/>
              </a:spcBef>
              <a:spcAft>
                <a:spcPts val="0"/>
              </a:spcAft>
              <a:buNone/>
            </a:pPr>
            <a:r>
              <a:rPr b="0" lang="en-US" sz="1665">
                <a:solidFill>
                  <a:srgbClr val="1D2B3A"/>
                </a:solidFill>
                <a:latin typeface="Inter"/>
                <a:ea typeface="Inter"/>
                <a:cs typeface="Inter"/>
                <a:sym typeface="Inter"/>
              </a:rPr>
              <a:t>For ingest jobs you want the write durable before returning.</a:t>
            </a:r>
            <a:endParaRPr b="0" sz="1665">
              <a:solidFill>
                <a:srgbClr val="1D2B3A"/>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396" name="Shape 396"/>
        <p:cNvGrpSpPr/>
        <p:nvPr/>
      </p:nvGrpSpPr>
      <p:grpSpPr>
        <a:xfrm>
          <a:off x="0" y="0"/>
          <a:ext cx="0" cy="0"/>
          <a:chOff x="0" y="0"/>
          <a:chExt cx="0" cy="0"/>
        </a:xfrm>
      </p:grpSpPr>
      <p:sp>
        <p:nvSpPr>
          <p:cNvPr id="397" name="Google Shape;397;p18"/>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398" name="Google Shape;398;p18"/>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399" name="Google Shape;399;p18"/>
          <p:cNvSpPr/>
          <p:nvPr/>
        </p:nvSpPr>
        <p:spPr>
          <a:xfrm>
            <a:off x="16614577" y="457200"/>
            <a:ext cx="835223"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15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400" name="Google Shape;400;p18"/>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401" name="Google Shape;401;p18"/>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Four search modes in Qdrant</a:t>
            </a:r>
            <a:endParaRPr b="0" i="0" sz="3900" u="none" cap="none" strike="noStrike">
              <a:solidFill>
                <a:schemeClr val="dk1"/>
              </a:solidFill>
              <a:latin typeface="Calibri"/>
              <a:ea typeface="Calibri"/>
              <a:cs typeface="Calibri"/>
              <a:sym typeface="Calibri"/>
            </a:endParaRPr>
          </a:p>
        </p:txBody>
      </p:sp>
      <p:sp>
        <p:nvSpPr>
          <p:cNvPr id="402" name="Google Shape;402;p18"/>
          <p:cNvSpPr/>
          <p:nvPr/>
        </p:nvSpPr>
        <p:spPr>
          <a:xfrm>
            <a:off x="914400" y="2448967"/>
            <a:ext cx="13735050" cy="81141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Dense alone misses acronyms. Sparse alone misses paraphrase. Hybrid plus filters is the production default.</a:t>
            </a:r>
            <a:endParaRPr b="0" i="0" sz="2100" u="none" cap="none" strike="noStrike">
              <a:solidFill>
                <a:schemeClr val="dk1"/>
              </a:solidFill>
              <a:latin typeface="Calibri"/>
              <a:ea typeface="Calibri"/>
              <a:cs typeface="Calibri"/>
              <a:sym typeface="Calibri"/>
            </a:endParaRPr>
          </a:p>
        </p:txBody>
      </p:sp>
      <p:sp>
        <p:nvSpPr>
          <p:cNvPr id="403" name="Google Shape;403;p18"/>
          <p:cNvSpPr/>
          <p:nvPr/>
        </p:nvSpPr>
        <p:spPr>
          <a:xfrm>
            <a:off x="914400"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8"/>
          <p:cNvSpPr/>
          <p:nvPr/>
        </p:nvSpPr>
        <p:spPr>
          <a:xfrm>
            <a:off x="1228725"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DENSE</a:t>
            </a:r>
            <a:endParaRPr b="0" i="0" sz="1350" u="none" cap="none" strike="noStrike">
              <a:solidFill>
                <a:schemeClr val="dk1"/>
              </a:solidFill>
              <a:latin typeface="Calibri"/>
              <a:ea typeface="Calibri"/>
              <a:cs typeface="Calibri"/>
              <a:sym typeface="Calibri"/>
            </a:endParaRPr>
          </a:p>
        </p:txBody>
      </p:sp>
      <p:sp>
        <p:nvSpPr>
          <p:cNvPr id="405" name="Google Shape;405;p18"/>
          <p:cNvSpPr/>
          <p:nvPr/>
        </p:nvSpPr>
        <p:spPr>
          <a:xfrm>
            <a:off x="1228725"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Embedding similarity. Catches </a:t>
            </a:r>
            <a:r>
              <a:rPr b="0" i="1" lang="en-US" sz="1800" u="none" cap="none" strike="noStrike">
                <a:solidFill>
                  <a:srgbClr val="1D2B3A"/>
                </a:solidFill>
                <a:latin typeface="Inter"/>
                <a:ea typeface="Inter"/>
                <a:cs typeface="Inter"/>
                <a:sym typeface="Inter"/>
              </a:rPr>
              <a:t>meaning </a:t>
            </a:r>
            <a:r>
              <a:rPr b="0" i="0" lang="en-US" sz="1800" u="none" cap="none" strike="noStrike">
                <a:solidFill>
                  <a:srgbClr val="1D2B3A"/>
                </a:solidFill>
                <a:latin typeface="Inter"/>
                <a:ea typeface="Inter"/>
                <a:cs typeface="Inter"/>
                <a:sym typeface="Inter"/>
              </a:rPr>
              <a:t>— paraphrases, synonyms, intent. Misses rare exact tokens.</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5095875"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8"/>
          <p:cNvSpPr/>
          <p:nvPr/>
        </p:nvSpPr>
        <p:spPr>
          <a:xfrm>
            <a:off x="5410200"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SPARSE</a:t>
            </a:r>
            <a:endParaRPr b="0" i="0" sz="1350" u="none" cap="none" strike="noStrike">
              <a:solidFill>
                <a:schemeClr val="dk1"/>
              </a:solidFill>
              <a:latin typeface="Calibri"/>
              <a:ea typeface="Calibri"/>
              <a:cs typeface="Calibri"/>
              <a:sym typeface="Calibri"/>
            </a:endParaRPr>
          </a:p>
        </p:txBody>
      </p:sp>
      <p:sp>
        <p:nvSpPr>
          <p:cNvPr id="408" name="Google Shape;408;p18"/>
          <p:cNvSpPr/>
          <p:nvPr/>
        </p:nvSpPr>
        <p:spPr>
          <a:xfrm>
            <a:off x="5410200"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BM25-style lexical match (e.g. SPLADE). Catches </a:t>
            </a:r>
            <a:r>
              <a:rPr b="0" i="1" lang="en-US" sz="1800" u="none" cap="none" strike="noStrike">
                <a:solidFill>
                  <a:srgbClr val="1D2B3A"/>
                </a:solidFill>
                <a:latin typeface="Inter"/>
                <a:ea typeface="Inter"/>
                <a:cs typeface="Inter"/>
                <a:sym typeface="Inter"/>
              </a:rPr>
              <a:t>exact strings </a:t>
            </a:r>
            <a:r>
              <a:rPr b="0" i="0" lang="en-US" sz="1800" u="none" cap="none" strike="noStrike">
                <a:solidFill>
                  <a:srgbClr val="1D2B3A"/>
                </a:solidFill>
                <a:latin typeface="Inter"/>
                <a:ea typeface="Inter"/>
                <a:cs typeface="Inter"/>
                <a:sym typeface="Inter"/>
              </a:rPr>
              <a:t>— CVEs, error codes, product SKUs, names.</a:t>
            </a:r>
            <a:endParaRPr b="0" i="0" sz="1800" u="none" cap="none" strike="noStrike">
              <a:solidFill>
                <a:schemeClr val="dk1"/>
              </a:solidFill>
              <a:latin typeface="Calibri"/>
              <a:ea typeface="Calibri"/>
              <a:cs typeface="Calibri"/>
              <a:sym typeface="Calibri"/>
            </a:endParaRPr>
          </a:p>
        </p:txBody>
      </p:sp>
      <p:sp>
        <p:nvSpPr>
          <p:cNvPr id="409" name="Google Shape;409;p18"/>
          <p:cNvSpPr/>
          <p:nvPr/>
        </p:nvSpPr>
        <p:spPr>
          <a:xfrm>
            <a:off x="9277350"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8"/>
          <p:cNvSpPr/>
          <p:nvPr/>
        </p:nvSpPr>
        <p:spPr>
          <a:xfrm>
            <a:off x="9591675"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HYBRID</a:t>
            </a:r>
            <a:endParaRPr b="0" i="0" sz="1350" u="none" cap="none" strike="noStrike">
              <a:solidFill>
                <a:schemeClr val="dk1"/>
              </a:solidFill>
              <a:latin typeface="Calibri"/>
              <a:ea typeface="Calibri"/>
              <a:cs typeface="Calibri"/>
              <a:sym typeface="Calibri"/>
            </a:endParaRPr>
          </a:p>
        </p:txBody>
      </p:sp>
      <p:sp>
        <p:nvSpPr>
          <p:cNvPr id="411" name="Google Shape;411;p18"/>
          <p:cNvSpPr/>
          <p:nvPr/>
        </p:nvSpPr>
        <p:spPr>
          <a:xfrm>
            <a:off x="9591675"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Run both in one request. Qdrant fuses scores with RRF and returns one ranked list. The production default.</a:t>
            </a:r>
            <a:endParaRPr b="0" i="0" sz="1800" u="none" cap="none" strike="noStrike">
              <a:solidFill>
                <a:schemeClr val="dk1"/>
              </a:solidFill>
              <a:latin typeface="Calibri"/>
              <a:ea typeface="Calibri"/>
              <a:cs typeface="Calibri"/>
              <a:sym typeface="Calibri"/>
            </a:endParaRPr>
          </a:p>
        </p:txBody>
      </p:sp>
      <p:sp>
        <p:nvSpPr>
          <p:cNvPr id="412" name="Google Shape;412;p18"/>
          <p:cNvSpPr/>
          <p:nvPr/>
        </p:nvSpPr>
        <p:spPr>
          <a:xfrm>
            <a:off x="13458825"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8"/>
          <p:cNvSpPr/>
          <p:nvPr/>
        </p:nvSpPr>
        <p:spPr>
          <a:xfrm>
            <a:off x="13773150"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FILTERED</a:t>
            </a:r>
            <a:endParaRPr b="0" i="0" sz="1350" u="none" cap="none" strike="noStrike">
              <a:solidFill>
                <a:schemeClr val="dk1"/>
              </a:solidFill>
              <a:latin typeface="Calibri"/>
              <a:ea typeface="Calibri"/>
              <a:cs typeface="Calibri"/>
              <a:sym typeface="Calibri"/>
            </a:endParaRPr>
          </a:p>
        </p:txBody>
      </p:sp>
      <p:sp>
        <p:nvSpPr>
          <p:cNvPr id="414" name="Google Shape;414;p18"/>
          <p:cNvSpPr/>
          <p:nvPr/>
        </p:nvSpPr>
        <p:spPr>
          <a:xfrm>
            <a:off x="13773150"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Compose any of the above with a payload </a:t>
            </a:r>
            <a:r>
              <a:rPr b="0" i="0" lang="en-US" sz="1800" u="none" cap="none" strike="noStrike">
                <a:solidFill>
                  <a:srgbClr val="1D2B3A"/>
                </a:solidFill>
                <a:highlight>
                  <a:srgbClr val="E8E2D4"/>
                </a:highlight>
                <a:latin typeface="JetBrains Mono"/>
                <a:ea typeface="JetBrains Mono"/>
                <a:cs typeface="JetBrains Mono"/>
                <a:sym typeface="JetBrains Mono"/>
              </a:rPr>
              <a:t>Filter </a:t>
            </a:r>
            <a:r>
              <a:rPr b="0" i="0" lang="en-US" sz="1800" u="none" cap="none" strike="noStrike">
                <a:solidFill>
                  <a:srgbClr val="1D2B3A"/>
                </a:solidFill>
                <a:latin typeface="Inter"/>
                <a:ea typeface="Inter"/>
                <a:cs typeface="Inter"/>
                <a:sym typeface="Inter"/>
              </a:rPr>
              <a:t>. Tenant, date range, doc type — narrow first, then rank.</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419" name="Shape 419"/>
        <p:cNvGrpSpPr/>
        <p:nvPr/>
      </p:nvGrpSpPr>
      <p:grpSpPr>
        <a:xfrm>
          <a:off x="0" y="0"/>
          <a:ext cx="0" cy="0"/>
          <a:chOff x="0" y="0"/>
          <a:chExt cx="0" cy="0"/>
        </a:xfrm>
      </p:grpSpPr>
      <p:sp>
        <p:nvSpPr>
          <p:cNvPr id="420" name="Google Shape;420;p19"/>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421" name="Google Shape;421;p19"/>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422" name="Google Shape;422;p19"/>
          <p:cNvSpPr/>
          <p:nvPr/>
        </p:nvSpPr>
        <p:spPr>
          <a:xfrm>
            <a:off x="16608772" y="457200"/>
            <a:ext cx="841028"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16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423" name="Google Shape;423;p19"/>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424" name="Google Shape;424;p19"/>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Dense vs sparse vs hybrid — and why we pick hybrid</a:t>
            </a:r>
            <a:endParaRPr b="0" i="0" sz="3900" u="none" cap="none" strike="noStrike">
              <a:solidFill>
                <a:schemeClr val="dk1"/>
              </a:solidFill>
              <a:latin typeface="Calibri"/>
              <a:ea typeface="Calibri"/>
              <a:cs typeface="Calibri"/>
              <a:sym typeface="Calibri"/>
            </a:endParaRPr>
          </a:p>
        </p:txBody>
      </p:sp>
      <p:sp>
        <p:nvSpPr>
          <p:cNvPr id="425" name="Google Shape;425;p19"/>
          <p:cNvSpPr/>
          <p:nvPr/>
        </p:nvSpPr>
        <p:spPr>
          <a:xfrm>
            <a:off x="914400" y="2448967"/>
            <a:ext cx="14716125"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Query: </a:t>
            </a:r>
            <a:r>
              <a:rPr b="0" i="0" lang="en-US" sz="1650" u="none" cap="none" strike="noStrike">
                <a:solidFill>
                  <a:srgbClr val="1D2B3A"/>
                </a:solidFill>
                <a:highlight>
                  <a:srgbClr val="E8E2D4"/>
                </a:highlight>
                <a:latin typeface="JetBrains Mono"/>
                <a:ea typeface="JetBrains Mono"/>
                <a:cs typeface="JetBrains Mono"/>
                <a:sym typeface="JetBrains Mono"/>
              </a:rPr>
              <a:t>"CVE-2024-3094 mitigation steps" </a:t>
            </a:r>
            <a:r>
              <a:rPr b="0" i="0" lang="en-US" sz="2100" u="none" cap="none" strike="noStrike">
                <a:solidFill>
                  <a:srgbClr val="536171"/>
                </a:solidFill>
                <a:latin typeface="Inter"/>
                <a:ea typeface="Inter"/>
                <a:cs typeface="Inter"/>
                <a:sym typeface="Inter"/>
              </a:rPr>
              <a:t>— meaning </a:t>
            </a:r>
            <a:r>
              <a:rPr b="0" i="1" lang="en-US" sz="2100" u="none" cap="none" strike="noStrike">
                <a:solidFill>
                  <a:srgbClr val="536171"/>
                </a:solidFill>
                <a:latin typeface="Inter"/>
                <a:ea typeface="Inter"/>
                <a:cs typeface="Inter"/>
                <a:sym typeface="Inter"/>
              </a:rPr>
              <a:t>and </a:t>
            </a:r>
            <a:r>
              <a:rPr b="0" i="0" lang="en-US" sz="2100" u="none" cap="none" strike="noStrike">
                <a:solidFill>
                  <a:srgbClr val="536171"/>
                </a:solidFill>
                <a:latin typeface="Inter"/>
                <a:ea typeface="Inter"/>
                <a:cs typeface="Inter"/>
                <a:sym typeface="Inter"/>
              </a:rPr>
              <a:t>an exact token. Watch what each retriever does.</a:t>
            </a:r>
            <a:endParaRPr b="0" i="0" sz="2100" u="none" cap="none" strike="noStrike">
              <a:solidFill>
                <a:schemeClr val="dk1"/>
              </a:solidFill>
              <a:latin typeface="Calibri"/>
              <a:ea typeface="Calibri"/>
              <a:cs typeface="Calibri"/>
              <a:sym typeface="Calibri"/>
            </a:endParaRPr>
          </a:p>
        </p:txBody>
      </p:sp>
      <p:sp>
        <p:nvSpPr>
          <p:cNvPr id="426" name="Google Shape;426;p19"/>
          <p:cNvSpPr/>
          <p:nvPr/>
        </p:nvSpPr>
        <p:spPr>
          <a:xfrm>
            <a:off x="914400" y="3619500"/>
            <a:ext cx="5283101" cy="4762500"/>
          </a:xfrm>
          <a:prstGeom prst="roundRect">
            <a:avLst>
              <a:gd fmla="val 1600"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p:nvPr/>
        </p:nvSpPr>
        <p:spPr>
          <a:xfrm>
            <a:off x="1228725" y="3933825"/>
            <a:ext cx="4794084"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DENSE · SEMANTIC</a:t>
            </a:r>
            <a:endParaRPr b="0" i="0" sz="1350" u="none" cap="none" strike="noStrike">
              <a:solidFill>
                <a:schemeClr val="dk1"/>
              </a:solidFill>
              <a:latin typeface="Calibri"/>
              <a:ea typeface="Calibri"/>
              <a:cs typeface="Calibri"/>
              <a:sym typeface="Calibri"/>
            </a:endParaRPr>
          </a:p>
        </p:txBody>
      </p:sp>
      <p:sp>
        <p:nvSpPr>
          <p:cNvPr id="428" name="Google Shape;428;p19"/>
          <p:cNvSpPr/>
          <p:nvPr/>
        </p:nvSpPr>
        <p:spPr>
          <a:xfrm>
            <a:off x="1228725" y="4238625"/>
            <a:ext cx="4654451" cy="1619250"/>
          </a:xfrm>
          <a:prstGeom prst="roundRect">
            <a:avLst>
              <a:gd fmla="val 3529" name="adj"/>
            </a:avLst>
          </a:prstGeom>
          <a:solidFill>
            <a:srgbClr val="F2EF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9" name="Google Shape;429;p19"/>
          <p:cNvPicPr preferRelativeResize="0"/>
          <p:nvPr/>
        </p:nvPicPr>
        <p:blipFill rotWithShape="1">
          <a:blip r:embed="rId3">
            <a:alphaModFix/>
          </a:blip>
          <a:srcRect b="0" l="0" r="0" t="0"/>
          <a:stretch/>
        </p:blipFill>
        <p:spPr>
          <a:xfrm>
            <a:off x="1228725" y="4238625"/>
            <a:ext cx="4654451" cy="1619250"/>
          </a:xfrm>
          <a:prstGeom prst="rect">
            <a:avLst/>
          </a:prstGeom>
          <a:noFill/>
          <a:ln>
            <a:noFill/>
          </a:ln>
        </p:spPr>
      </p:pic>
      <p:sp>
        <p:nvSpPr>
          <p:cNvPr id="430" name="Google Shape;430;p19"/>
          <p:cNvSpPr/>
          <p:nvPr/>
        </p:nvSpPr>
        <p:spPr>
          <a:xfrm>
            <a:off x="1228725" y="5991225"/>
            <a:ext cx="4794084" cy="82525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425"/>
              <a:buFont typeface="Inter"/>
              <a:buNone/>
            </a:pPr>
            <a:r>
              <a:rPr b="0" i="0" lang="en-US" sz="1425" u="none" cap="none" strike="noStrike">
                <a:solidFill>
                  <a:srgbClr val="1D2B3A"/>
                </a:solidFill>
                <a:latin typeface="Inter"/>
                <a:ea typeface="Inter"/>
                <a:cs typeface="Inter"/>
                <a:sym typeface="Inter"/>
              </a:rPr>
              <a:t>Vectors in space. The query lands near paraphrases of "mitigation". The exact CVE string sits </a:t>
            </a:r>
            <a:r>
              <a:rPr b="0" i="1" lang="en-US" sz="1425" u="none" cap="none" strike="noStrike">
                <a:solidFill>
                  <a:srgbClr val="1D2B3A"/>
                </a:solidFill>
                <a:latin typeface="Inter"/>
                <a:ea typeface="Inter"/>
                <a:cs typeface="Inter"/>
                <a:sym typeface="Inter"/>
              </a:rPr>
              <a:t>outside </a:t>
            </a:r>
            <a:r>
              <a:rPr b="0" i="0" lang="en-US" sz="1425" u="none" cap="none" strike="noStrike">
                <a:solidFill>
                  <a:srgbClr val="1D2B3A"/>
                </a:solidFill>
                <a:latin typeface="Inter"/>
                <a:ea typeface="Inter"/>
                <a:cs typeface="Inter"/>
                <a:sym typeface="Inter"/>
              </a:rPr>
              <a:t>the ring — meaning was caught, the keyword was missed.</a:t>
            </a:r>
            <a:endParaRPr b="0" i="0" sz="1425" u="none" cap="none" strike="noStrike">
              <a:solidFill>
                <a:schemeClr val="dk1"/>
              </a:solidFill>
              <a:latin typeface="Calibri"/>
              <a:ea typeface="Calibri"/>
              <a:cs typeface="Calibri"/>
              <a:sym typeface="Calibri"/>
            </a:endParaRPr>
          </a:p>
        </p:txBody>
      </p:sp>
      <p:sp>
        <p:nvSpPr>
          <p:cNvPr id="431" name="Google Shape;431;p19"/>
          <p:cNvSpPr/>
          <p:nvPr/>
        </p:nvSpPr>
        <p:spPr>
          <a:xfrm>
            <a:off x="6502301" y="3619500"/>
            <a:ext cx="5283250" cy="4762500"/>
          </a:xfrm>
          <a:prstGeom prst="roundRect">
            <a:avLst>
              <a:gd fmla="val 1600"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9"/>
          <p:cNvSpPr/>
          <p:nvPr/>
        </p:nvSpPr>
        <p:spPr>
          <a:xfrm>
            <a:off x="6816626" y="3933825"/>
            <a:ext cx="4794238"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SPARSE · LEXICAL (BM25)</a:t>
            </a:r>
            <a:endParaRPr b="0" i="0" sz="1350" u="none" cap="none" strike="noStrike">
              <a:solidFill>
                <a:schemeClr val="dk1"/>
              </a:solidFill>
              <a:latin typeface="Calibri"/>
              <a:ea typeface="Calibri"/>
              <a:cs typeface="Calibri"/>
              <a:sym typeface="Calibri"/>
            </a:endParaRPr>
          </a:p>
        </p:txBody>
      </p:sp>
      <p:sp>
        <p:nvSpPr>
          <p:cNvPr id="433" name="Google Shape;433;p19"/>
          <p:cNvSpPr/>
          <p:nvPr/>
        </p:nvSpPr>
        <p:spPr>
          <a:xfrm>
            <a:off x="6816626" y="4238625"/>
            <a:ext cx="4654600" cy="1619250"/>
          </a:xfrm>
          <a:prstGeom prst="roundRect">
            <a:avLst>
              <a:gd fmla="val 3529" name="adj"/>
            </a:avLst>
          </a:prstGeom>
          <a:solidFill>
            <a:srgbClr val="F2EF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4" name="Google Shape;434;p19"/>
          <p:cNvPicPr preferRelativeResize="0"/>
          <p:nvPr/>
        </p:nvPicPr>
        <p:blipFill rotWithShape="1">
          <a:blip r:embed="rId4">
            <a:alphaModFix/>
          </a:blip>
          <a:srcRect b="0" l="0" r="0" t="0"/>
          <a:stretch/>
        </p:blipFill>
        <p:spPr>
          <a:xfrm>
            <a:off x="6816626" y="4238625"/>
            <a:ext cx="4654600" cy="1619250"/>
          </a:xfrm>
          <a:prstGeom prst="rect">
            <a:avLst/>
          </a:prstGeom>
          <a:noFill/>
          <a:ln>
            <a:noFill/>
          </a:ln>
        </p:spPr>
      </p:pic>
      <p:sp>
        <p:nvSpPr>
          <p:cNvPr id="435" name="Google Shape;435;p19"/>
          <p:cNvSpPr/>
          <p:nvPr/>
        </p:nvSpPr>
        <p:spPr>
          <a:xfrm>
            <a:off x="6816626" y="5991225"/>
            <a:ext cx="4794238" cy="82525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425"/>
              <a:buFont typeface="Inter"/>
              <a:buNone/>
            </a:pPr>
            <a:r>
              <a:rPr b="0" i="0" lang="en-US" sz="1425" u="none" cap="none" strike="noStrike">
                <a:solidFill>
                  <a:srgbClr val="1D2B3A"/>
                </a:solidFill>
                <a:latin typeface="Inter"/>
                <a:ea typeface="Inter"/>
                <a:cs typeface="Inter"/>
                <a:sym typeface="Inter"/>
              </a:rPr>
              <a:t>Exact-token match. The rare CVE string scores very high. But "mitigation" loses to a paraphrased chunk that says "remediation" — meaning was lost.</a:t>
            </a:r>
            <a:endParaRPr b="0" i="0" sz="1425" u="none" cap="none" strike="noStrike">
              <a:solidFill>
                <a:schemeClr val="dk1"/>
              </a:solidFill>
              <a:latin typeface="Calibri"/>
              <a:ea typeface="Calibri"/>
              <a:cs typeface="Calibri"/>
              <a:sym typeface="Calibri"/>
            </a:endParaRPr>
          </a:p>
        </p:txBody>
      </p:sp>
      <p:sp>
        <p:nvSpPr>
          <p:cNvPr id="436" name="Google Shape;436;p19"/>
          <p:cNvSpPr/>
          <p:nvPr/>
        </p:nvSpPr>
        <p:spPr>
          <a:xfrm>
            <a:off x="12090350" y="3619500"/>
            <a:ext cx="5283250" cy="4762500"/>
          </a:xfrm>
          <a:prstGeom prst="roundRect">
            <a:avLst>
              <a:gd fmla="val 1600" name="adj"/>
            </a:avLst>
          </a:prstGeom>
          <a:solidFill>
            <a:srgbClr val="214CB8">
              <a:alpha val="3921"/>
            </a:srgbClr>
          </a:solidFill>
          <a:ln cap="flat" cmpd="sng" w="9525">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12404675" y="3933825"/>
            <a:ext cx="4794238"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HYBRID · DENSE + SPARSE + RRF</a:t>
            </a:r>
            <a:endParaRPr b="0" i="0" sz="1350" u="none" cap="none" strike="noStrike">
              <a:solidFill>
                <a:schemeClr val="dk1"/>
              </a:solidFill>
              <a:latin typeface="Calibri"/>
              <a:ea typeface="Calibri"/>
              <a:cs typeface="Calibri"/>
              <a:sym typeface="Calibri"/>
            </a:endParaRPr>
          </a:p>
        </p:txBody>
      </p:sp>
      <p:sp>
        <p:nvSpPr>
          <p:cNvPr id="438" name="Google Shape;438;p19"/>
          <p:cNvSpPr/>
          <p:nvPr/>
        </p:nvSpPr>
        <p:spPr>
          <a:xfrm>
            <a:off x="12404675" y="4238625"/>
            <a:ext cx="4654600" cy="1619250"/>
          </a:xfrm>
          <a:prstGeom prst="roundRect">
            <a:avLst>
              <a:gd fmla="val 3529" name="adj"/>
            </a:avLst>
          </a:prstGeom>
          <a:solidFill>
            <a:srgbClr val="F2EF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9" name="Google Shape;439;p19"/>
          <p:cNvPicPr preferRelativeResize="0"/>
          <p:nvPr/>
        </p:nvPicPr>
        <p:blipFill rotWithShape="1">
          <a:blip r:embed="rId5">
            <a:alphaModFix/>
          </a:blip>
          <a:srcRect b="0" l="0" r="0" t="0"/>
          <a:stretch/>
        </p:blipFill>
        <p:spPr>
          <a:xfrm>
            <a:off x="12404675" y="4238625"/>
            <a:ext cx="4654600" cy="1619250"/>
          </a:xfrm>
          <a:prstGeom prst="rect">
            <a:avLst/>
          </a:prstGeom>
          <a:noFill/>
          <a:ln>
            <a:noFill/>
          </a:ln>
        </p:spPr>
      </p:pic>
      <p:sp>
        <p:nvSpPr>
          <p:cNvPr id="440" name="Google Shape;440;p19"/>
          <p:cNvSpPr/>
          <p:nvPr/>
        </p:nvSpPr>
        <p:spPr>
          <a:xfrm>
            <a:off x="12404675" y="5991225"/>
            <a:ext cx="4794238" cy="82525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425"/>
              <a:buFont typeface="Inter"/>
              <a:buNone/>
            </a:pPr>
            <a:r>
              <a:rPr b="0" i="0" lang="en-US" sz="1425" u="none" cap="none" strike="noStrike">
                <a:solidFill>
                  <a:srgbClr val="1D2B3A"/>
                </a:solidFill>
                <a:latin typeface="Inter"/>
                <a:ea typeface="Inter"/>
                <a:cs typeface="Inter"/>
                <a:sym typeface="Inter"/>
              </a:rPr>
              <a:t>Run both, fuse the ranks. Chunks that win on either signal bubble up. The exact CVE </a:t>
            </a:r>
            <a:r>
              <a:rPr b="0" i="1" lang="en-US" sz="1425" u="none" cap="none" strike="noStrike">
                <a:solidFill>
                  <a:srgbClr val="1D2B3A"/>
                </a:solidFill>
                <a:latin typeface="Inter"/>
                <a:ea typeface="Inter"/>
                <a:cs typeface="Inter"/>
                <a:sym typeface="Inter"/>
              </a:rPr>
              <a:t>and </a:t>
            </a:r>
            <a:r>
              <a:rPr b="0" i="0" lang="en-US" sz="1425" u="none" cap="none" strike="noStrike">
                <a:solidFill>
                  <a:srgbClr val="1D2B3A"/>
                </a:solidFill>
                <a:latin typeface="Inter"/>
                <a:ea typeface="Inter"/>
                <a:cs typeface="Inter"/>
                <a:sym typeface="Inter"/>
              </a:rPr>
              <a:t>the paraphrased mitigation both end up in the top-k.</a:t>
            </a:r>
            <a:endParaRPr b="0" i="0" sz="1425" u="none" cap="none" strike="noStrike">
              <a:solidFill>
                <a:schemeClr val="dk1"/>
              </a:solidFill>
              <a:latin typeface="Calibri"/>
              <a:ea typeface="Calibri"/>
              <a:cs typeface="Calibri"/>
              <a:sym typeface="Calibri"/>
            </a:endParaRPr>
          </a:p>
        </p:txBody>
      </p:sp>
      <p:sp>
        <p:nvSpPr>
          <p:cNvPr id="441" name="Google Shape;441;p19"/>
          <p:cNvSpPr/>
          <p:nvPr/>
        </p:nvSpPr>
        <p:spPr>
          <a:xfrm>
            <a:off x="1500634" y="8953500"/>
            <a:ext cx="15286583" cy="476250"/>
          </a:xfrm>
          <a:prstGeom prst="roundRect">
            <a:avLst>
              <a:gd fmla="val 50000" name="adj"/>
            </a:avLst>
          </a:prstGeom>
          <a:solidFill>
            <a:srgbClr val="FFD2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9"/>
          <p:cNvSpPr/>
          <p:nvPr/>
        </p:nvSpPr>
        <p:spPr>
          <a:xfrm>
            <a:off x="1538035" y="9086850"/>
            <a:ext cx="15211781" cy="24765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102033"/>
              </a:buClr>
              <a:buSzPts val="1650"/>
              <a:buFont typeface="Inter"/>
              <a:buNone/>
            </a:pPr>
            <a:r>
              <a:rPr b="1" i="0" lang="en-US" sz="1650" u="none" cap="none" strike="noStrike">
                <a:solidFill>
                  <a:srgbClr val="102033"/>
                </a:solidFill>
                <a:latin typeface="Inter"/>
                <a:ea typeface="Inter"/>
                <a:cs typeface="Inter"/>
                <a:sym typeface="Inter"/>
              </a:rPr>
              <a:t>PICK HYBRID · MEANING CATCHES PARAPHRASE · KEYWORDS CATCH RARE TOKENS · RRF NEEDS NO TUNING</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447" name="Shape 447"/>
        <p:cNvGrpSpPr/>
        <p:nvPr/>
      </p:nvGrpSpPr>
      <p:grpSpPr>
        <a:xfrm>
          <a:off x="0" y="0"/>
          <a:ext cx="0" cy="0"/>
          <a:chOff x="0" y="0"/>
          <a:chExt cx="0" cy="0"/>
        </a:xfrm>
      </p:grpSpPr>
      <p:sp>
        <p:nvSpPr>
          <p:cNvPr id="448" name="Google Shape;448;p20"/>
          <p:cNvSpPr/>
          <p:nvPr/>
        </p:nvSpPr>
        <p:spPr>
          <a:xfrm>
            <a:off x="914400" y="45720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449" name="Google Shape;449;p20"/>
          <p:cNvSpPr/>
          <p:nvPr/>
        </p:nvSpPr>
        <p:spPr>
          <a:xfrm>
            <a:off x="914400" y="74295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450" name="Google Shape;450;p20"/>
          <p:cNvSpPr/>
          <p:nvPr/>
        </p:nvSpPr>
        <p:spPr>
          <a:xfrm>
            <a:off x="16623060" y="457200"/>
            <a:ext cx="8268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17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451" name="Google Shape;451;p20"/>
          <p:cNvSpPr/>
          <p:nvPr/>
        </p:nvSpPr>
        <p:spPr>
          <a:xfrm>
            <a:off x="914400" y="9620250"/>
            <a:ext cx="52557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452" name="Google Shape;452;p20"/>
          <p:cNvSpPr/>
          <p:nvPr/>
        </p:nvSpPr>
        <p:spPr>
          <a:xfrm>
            <a:off x="914400" y="1714500"/>
            <a:ext cx="16953000" cy="563100"/>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Hybrid search — one request, two indexes, fused scores</a:t>
            </a:r>
            <a:endParaRPr b="0" i="0" sz="3900" u="none" cap="none" strike="noStrike">
              <a:solidFill>
                <a:schemeClr val="dk1"/>
              </a:solidFill>
              <a:latin typeface="Calibri"/>
              <a:ea typeface="Calibri"/>
              <a:cs typeface="Calibri"/>
              <a:sym typeface="Calibri"/>
            </a:endParaRPr>
          </a:p>
        </p:txBody>
      </p:sp>
      <p:sp>
        <p:nvSpPr>
          <p:cNvPr id="453" name="Google Shape;453;p20"/>
          <p:cNvSpPr/>
          <p:nvPr/>
        </p:nvSpPr>
        <p:spPr>
          <a:xfrm>
            <a:off x="914400" y="2448967"/>
            <a:ext cx="13735200" cy="4248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"CVE-2024-3094 mitigation" needs meaning </a:t>
            </a:r>
            <a:r>
              <a:rPr b="0" i="1" lang="en-US" sz="2100" u="none" cap="none" strike="noStrike">
                <a:solidFill>
                  <a:srgbClr val="536171"/>
                </a:solidFill>
                <a:latin typeface="Inter"/>
                <a:ea typeface="Inter"/>
                <a:cs typeface="Inter"/>
                <a:sym typeface="Inter"/>
              </a:rPr>
              <a:t>and </a:t>
            </a:r>
            <a:r>
              <a:rPr b="0" i="0" lang="en-US" sz="2100" u="none" cap="none" strike="noStrike">
                <a:solidFill>
                  <a:srgbClr val="536171"/>
                </a:solidFill>
                <a:latin typeface="Inter"/>
                <a:ea typeface="Inter"/>
                <a:cs typeface="Inter"/>
                <a:sym typeface="Inter"/>
              </a:rPr>
              <a:t>the exact CVE string. Hybrid gives you both.</a:t>
            </a:r>
            <a:endParaRPr b="0" i="0" sz="2100" u="none" cap="none" strike="noStrike">
              <a:solidFill>
                <a:schemeClr val="dk1"/>
              </a:solidFill>
              <a:latin typeface="Calibri"/>
              <a:ea typeface="Calibri"/>
              <a:cs typeface="Calibri"/>
              <a:sym typeface="Calibri"/>
            </a:endParaRPr>
          </a:p>
        </p:txBody>
      </p:sp>
      <p:sp>
        <p:nvSpPr>
          <p:cNvPr id="454" name="Google Shape;454;p20"/>
          <p:cNvSpPr/>
          <p:nvPr/>
        </p:nvSpPr>
        <p:spPr>
          <a:xfrm>
            <a:off x="914400" y="3429000"/>
            <a:ext cx="9334500" cy="5876400"/>
          </a:xfrm>
          <a:prstGeom prst="roundRect">
            <a:avLst>
              <a:gd fmla="val 1061" name="adj"/>
            </a:avLst>
          </a:prstGeom>
          <a:solidFill>
            <a:srgbClr val="1D2B3A"/>
          </a:solidFill>
          <a:ln>
            <a:noFill/>
          </a:ln>
          <a:effectLst>
            <a:outerShdw blurRad="304800" rotWithShape="0" algn="bl" dir="5400000" dist="114300">
              <a:srgbClr val="030A1C">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0"/>
          <p:cNvSpPr/>
          <p:nvPr/>
        </p:nvSpPr>
        <p:spPr>
          <a:xfrm>
            <a:off x="1219200" y="3678398"/>
            <a:ext cx="9004800" cy="54087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i="1" lang="en-US" sz="1500">
                <a:solidFill>
                  <a:srgbClr val="62727F"/>
                </a:solidFill>
                <a:latin typeface="JetBrains Mono"/>
                <a:ea typeface="JetBrains Mono"/>
                <a:cs typeface="JetBrains Mono"/>
                <a:sym typeface="JetBrains Mono"/>
              </a:rPr>
              <a:t># search/hybrid.py</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FACC15"/>
                </a:solidFill>
                <a:latin typeface="JetBrains Mono"/>
                <a:ea typeface="JetBrains Mono"/>
                <a:cs typeface="JetBrains Mono"/>
                <a:sym typeface="JetBrains Mono"/>
              </a:rPr>
              <a:t>from</a:t>
            </a:r>
            <a:r>
              <a:rPr b="0" i="0" lang="en-US" sz="1500">
                <a:solidFill>
                  <a:srgbClr val="E8E2D4"/>
                </a:solidFill>
                <a:latin typeface="JetBrains Mono"/>
                <a:ea typeface="JetBrains Mono"/>
                <a:cs typeface="JetBrains Mono"/>
                <a:sym typeface="JetBrains Mono"/>
              </a:rPr>
              <a:t> qdrant_client </a:t>
            </a:r>
            <a:r>
              <a:rPr b="0" i="0" lang="en-US" sz="1500">
                <a:solidFill>
                  <a:srgbClr val="FACC15"/>
                </a:solidFill>
                <a:latin typeface="JetBrains Mono"/>
                <a:ea typeface="JetBrains Mono"/>
                <a:cs typeface="JetBrains Mono"/>
                <a:sym typeface="JetBrains Mono"/>
              </a:rPr>
              <a:t>import</a:t>
            </a:r>
            <a:r>
              <a:rPr b="0" i="0" lang="en-US" sz="1500">
                <a:solidFill>
                  <a:srgbClr val="E8E2D4"/>
                </a:solidFill>
                <a:latin typeface="JetBrains Mono"/>
                <a:ea typeface="JetBrains Mono"/>
                <a:cs typeface="JetBrains Mono"/>
                <a:sym typeface="JetBrains Mono"/>
              </a:rPr>
              <a:t> models</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FACC15"/>
                </a:solidFill>
                <a:latin typeface="JetBrains Mono"/>
                <a:ea typeface="JetBrains Mono"/>
                <a:cs typeface="JetBrains Mono"/>
                <a:sym typeface="JetBrains Mono"/>
              </a:rPr>
              <a:t>def</a:t>
            </a:r>
            <a:r>
              <a:rPr b="0" i="1" lang="en-US" sz="1500">
                <a:solidFill>
                  <a:srgbClr val="8FA0AF"/>
                </a:solidFill>
                <a:latin typeface="JetBrains Mono"/>
                <a:ea typeface="JetBrains Mono"/>
                <a:cs typeface="JetBrains Mono"/>
                <a:sym typeface="JetBrains Mono"/>
              </a:rPr>
              <a:t> </a:t>
            </a:r>
            <a:r>
              <a:rPr b="0" i="0" lang="en-US" sz="1500">
                <a:solidFill>
                  <a:srgbClr val="6D8BE8"/>
                </a:solidFill>
                <a:latin typeface="JetBrains Mono"/>
                <a:ea typeface="JetBrains Mono"/>
                <a:cs typeface="JetBrains Mono"/>
                <a:sym typeface="JetBrains Mono"/>
              </a:rPr>
              <a:t>hybrid_search</a:t>
            </a:r>
            <a:r>
              <a:rPr b="0" i="0" lang="en-US" sz="1500">
                <a:solidFill>
                  <a:srgbClr val="E8E2D4"/>
                </a:solidFill>
                <a:latin typeface="JetBrains Mono"/>
                <a:ea typeface="JetBrains Mono"/>
                <a:cs typeface="JetBrains Mono"/>
                <a:sym typeface="JetBrains Mono"/>
              </a:rPr>
              <a:t>(query: </a:t>
            </a:r>
            <a:r>
              <a:rPr b="0" i="0" lang="en-US" sz="1500">
                <a:solidFill>
                  <a:srgbClr val="FACC15"/>
                </a:solidFill>
                <a:latin typeface="JetBrains Mono"/>
                <a:ea typeface="JetBrains Mono"/>
                <a:cs typeface="JetBrains Mono"/>
                <a:sym typeface="JetBrains Mono"/>
              </a:rPr>
              <a:t>str</a:t>
            </a:r>
            <a:r>
              <a:rPr b="0" i="0" lang="en-US" sz="1500">
                <a:solidFill>
                  <a:srgbClr val="E8E2D4"/>
                </a:solidFill>
                <a:latin typeface="JetBrains Mono"/>
                <a:ea typeface="JetBrains Mono"/>
                <a:cs typeface="JetBrains Mono"/>
                <a:sym typeface="JetBrains Mono"/>
              </a:rPr>
              <a:t>, tenant_id: </a:t>
            </a:r>
            <a:r>
              <a:rPr b="0" i="0" lang="en-US" sz="1500">
                <a:solidFill>
                  <a:srgbClr val="FACC15"/>
                </a:solidFill>
                <a:latin typeface="JetBrains Mono"/>
                <a:ea typeface="JetBrains Mono"/>
                <a:cs typeface="JetBrains Mono"/>
                <a:sym typeface="JetBrains Mono"/>
              </a:rPr>
              <a:t>str</a:t>
            </a:r>
            <a:r>
              <a:rPr b="0" i="0" lang="en-US" sz="1500">
                <a:solidFill>
                  <a:srgbClr val="E8E2D4"/>
                </a:solidFill>
                <a:latin typeface="JetBrains Mono"/>
                <a:ea typeface="JetBrains Mono"/>
                <a:cs typeface="JetBrains Mono"/>
                <a:sym typeface="JetBrains Mono"/>
              </a:rPr>
              <a:t>, k: </a:t>
            </a:r>
            <a:r>
              <a:rPr b="0" i="0" lang="en-US" sz="1500">
                <a:solidFill>
                  <a:srgbClr val="FACC15"/>
                </a:solidFill>
                <a:latin typeface="JetBrains Mono"/>
                <a:ea typeface="JetBrains Mono"/>
                <a:cs typeface="JetBrains Mono"/>
                <a:sym typeface="JetBrains Mono"/>
              </a:rPr>
              <a:t>int</a:t>
            </a:r>
            <a:r>
              <a:rPr b="0" i="1" lang="en-US" sz="1500">
                <a:solidFill>
                  <a:srgbClr val="8FA0AF"/>
                </a:solidFill>
                <a:latin typeface="JetBrains Mono"/>
                <a:ea typeface="JetBrains Mono"/>
                <a:cs typeface="JetBrains Mono"/>
                <a:sym typeface="JetBrains Mono"/>
              </a:rPr>
              <a:t> </a:t>
            </a:r>
            <a:r>
              <a:rPr b="0" i="0" lang="en-US" sz="1500">
                <a:solidFill>
                  <a:srgbClr val="FACC15"/>
                </a:solidFill>
                <a:latin typeface="JetBrains Mono"/>
                <a:ea typeface="JetBrains Mono"/>
                <a:cs typeface="JetBrains Mono"/>
                <a:sym typeface="JetBrains Mono"/>
              </a:rPr>
              <a:t>=</a:t>
            </a:r>
            <a:r>
              <a:rPr b="0" i="1" lang="en-US" sz="1500">
                <a:solidFill>
                  <a:srgbClr val="8FA0AF"/>
                </a:solidFill>
                <a:latin typeface="JetBrains Mono"/>
                <a:ea typeface="JetBrains Mono"/>
                <a:cs typeface="JetBrains Mono"/>
                <a:sym typeface="JetBrains Mono"/>
              </a:rPr>
              <a:t> </a:t>
            </a:r>
            <a:r>
              <a:rPr b="0" i="0" lang="en-US" sz="1500">
                <a:solidFill>
                  <a:srgbClr val="D49000"/>
                </a:solidFill>
                <a:latin typeface="JetBrains Mono"/>
                <a:ea typeface="JetBrains Mono"/>
                <a:cs typeface="JetBrains Mono"/>
                <a:sym typeface="JetBrains Mono"/>
              </a:rPr>
              <a:t>8</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1905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dense = dense_embedder.</a:t>
            </a:r>
            <a:r>
              <a:rPr b="0" i="0" lang="en-US" sz="1500">
                <a:solidFill>
                  <a:srgbClr val="6D8BE8"/>
                </a:solidFill>
                <a:latin typeface="JetBrains Mono"/>
                <a:ea typeface="JetBrains Mono"/>
                <a:cs typeface="JetBrains Mono"/>
                <a:sym typeface="JetBrains Mono"/>
              </a:rPr>
              <a:t>embed_query</a:t>
            </a:r>
            <a:r>
              <a:rPr b="0" i="0" lang="en-US" sz="1500">
                <a:solidFill>
                  <a:srgbClr val="E8E2D4"/>
                </a:solidFill>
                <a:latin typeface="JetBrains Mono"/>
                <a:ea typeface="JetBrains Mono"/>
                <a:cs typeface="JetBrains Mono"/>
                <a:sym typeface="JetBrains Mono"/>
              </a:rPr>
              <a:t>(query)</a:t>
            </a:r>
            <a:endParaRPr b="0" i="1" sz="1500">
              <a:solidFill>
                <a:srgbClr val="8FA0AF"/>
              </a:solidFill>
              <a:latin typeface="JetBrains Mono"/>
              <a:ea typeface="JetBrains Mono"/>
              <a:cs typeface="JetBrains Mono"/>
              <a:sym typeface="JetBrains Mono"/>
            </a:endParaRPr>
          </a:p>
          <a:p>
            <a:pPr indent="0" lvl="0" marL="1905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sparse = sparse_embedder.</a:t>
            </a:r>
            <a:r>
              <a:rPr b="0" i="0" lang="en-US" sz="1500">
                <a:solidFill>
                  <a:srgbClr val="6D8BE8"/>
                </a:solidFill>
                <a:latin typeface="JetBrains Mono"/>
                <a:ea typeface="JetBrains Mono"/>
                <a:cs typeface="JetBrains Mono"/>
                <a:sym typeface="JetBrains Mono"/>
              </a:rPr>
              <a:t>embed_query</a:t>
            </a:r>
            <a:r>
              <a:rPr b="0" i="0" lang="en-US" sz="1500">
                <a:solidFill>
                  <a:srgbClr val="E8E2D4"/>
                </a:solidFill>
                <a:latin typeface="JetBrains Mono"/>
                <a:ea typeface="JetBrains Mono"/>
                <a:cs typeface="JetBrains Mono"/>
                <a:sym typeface="JetBrains Mono"/>
              </a:rPr>
              <a:t>(query)</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t/>
            </a:r>
            <a:endParaRPr b="0" i="1" sz="1500">
              <a:solidFill>
                <a:srgbClr val="8FA0AF"/>
              </a:solidFill>
              <a:latin typeface="JetBrains Mono"/>
              <a:ea typeface="JetBrains Mono"/>
              <a:cs typeface="JetBrains Mono"/>
              <a:sym typeface="JetBrains Mono"/>
            </a:endParaRPr>
          </a:p>
          <a:p>
            <a:pPr indent="0" lvl="0" marL="190500" marR="0" rtl="0" algn="l">
              <a:spcBef>
                <a:spcPts val="750"/>
              </a:spcBef>
              <a:spcAft>
                <a:spcPts val="0"/>
              </a:spcAft>
              <a:buNone/>
            </a:pPr>
            <a:r>
              <a:rPr b="0" i="0" lang="en-US" sz="1500">
                <a:solidFill>
                  <a:srgbClr val="FACC15"/>
                </a:solidFill>
                <a:latin typeface="JetBrains Mono"/>
                <a:ea typeface="JetBrains Mono"/>
                <a:cs typeface="JetBrains Mono"/>
                <a:sym typeface="JetBrains Mono"/>
              </a:rPr>
              <a:t>return</a:t>
            </a:r>
            <a:r>
              <a:rPr b="0" i="0" lang="en-US" sz="1500">
                <a:solidFill>
                  <a:srgbClr val="E8E2D4"/>
                </a:solidFill>
                <a:latin typeface="JetBrains Mono"/>
                <a:ea typeface="JetBrains Mono"/>
                <a:cs typeface="JetBrains Mono"/>
                <a:sym typeface="JetBrains Mono"/>
              </a:rPr>
              <a:t> qdrant.</a:t>
            </a:r>
            <a:r>
              <a:rPr b="0" i="0" lang="en-US" sz="1500">
                <a:solidFill>
                  <a:srgbClr val="6D8BE8"/>
                </a:solidFill>
                <a:latin typeface="JetBrains Mono"/>
                <a:ea typeface="JetBrains Mono"/>
                <a:cs typeface="JetBrains Mono"/>
                <a:sym typeface="JetBrains Mono"/>
              </a:rPr>
              <a:t>query_points</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collection_name=</a:t>
            </a:r>
            <a:r>
              <a:rPr b="0" i="0" lang="en-US" sz="1500">
                <a:solidFill>
                  <a:srgbClr val="47B881"/>
                </a:solidFill>
                <a:latin typeface="JetBrains Mono"/>
                <a:ea typeface="JetBrains Mono"/>
                <a:cs typeface="JetBrains Mono"/>
                <a:sym typeface="JetBrains Mono"/>
              </a:rPr>
              <a:t>"kb"</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prefetch=[</a:t>
            </a:r>
            <a:endParaRPr b="0" i="1" sz="1500">
              <a:solidFill>
                <a:srgbClr val="8FA0AF"/>
              </a:solidFill>
              <a:latin typeface="JetBrains Mono"/>
              <a:ea typeface="JetBrains Mono"/>
              <a:cs typeface="JetBrains Mono"/>
              <a:sym typeface="JetBrains Mono"/>
            </a:endParaRPr>
          </a:p>
          <a:p>
            <a:pPr indent="0" lvl="0" marL="5715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models.</a:t>
            </a:r>
            <a:r>
              <a:rPr b="0" i="0" lang="en-US" sz="1500">
                <a:solidFill>
                  <a:srgbClr val="6D8BE8"/>
                </a:solidFill>
                <a:latin typeface="JetBrains Mono"/>
                <a:ea typeface="JetBrains Mono"/>
                <a:cs typeface="JetBrains Mono"/>
                <a:sym typeface="JetBrains Mono"/>
              </a:rPr>
              <a:t>Prefetch</a:t>
            </a:r>
            <a:r>
              <a:rPr b="0" i="0" lang="en-US" sz="1500">
                <a:solidFill>
                  <a:srgbClr val="E8E2D4"/>
                </a:solidFill>
                <a:latin typeface="JetBrains Mono"/>
                <a:ea typeface="JetBrains Mono"/>
                <a:cs typeface="JetBrains Mono"/>
                <a:sym typeface="JetBrains Mono"/>
              </a:rPr>
              <a:t>(query=dense, using=</a:t>
            </a:r>
            <a:r>
              <a:rPr b="0" i="0" lang="en-US" sz="1500">
                <a:solidFill>
                  <a:srgbClr val="47B881"/>
                </a:solidFill>
                <a:latin typeface="JetBrains Mono"/>
                <a:ea typeface="JetBrains Mono"/>
                <a:cs typeface="JetBrains Mono"/>
                <a:sym typeface="JetBrains Mono"/>
              </a:rPr>
              <a:t>"dense"</a:t>
            </a:r>
            <a:r>
              <a:rPr b="0" i="0" lang="en-US" sz="1500">
                <a:solidFill>
                  <a:srgbClr val="E8E2D4"/>
                </a:solidFill>
                <a:latin typeface="JetBrains Mono"/>
                <a:ea typeface="JetBrains Mono"/>
                <a:cs typeface="JetBrains Mono"/>
                <a:sym typeface="JetBrains Mono"/>
              </a:rPr>
              <a:t>, limit=</a:t>
            </a:r>
            <a:r>
              <a:rPr b="0" i="0" lang="en-US" sz="1500">
                <a:solidFill>
                  <a:srgbClr val="D49000"/>
                </a:solidFill>
                <a:latin typeface="JetBrains Mono"/>
                <a:ea typeface="JetBrains Mono"/>
                <a:cs typeface="JetBrains Mono"/>
                <a:sym typeface="JetBrains Mono"/>
              </a:rPr>
              <a:t>30</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5715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models.</a:t>
            </a:r>
            <a:r>
              <a:rPr b="0" i="0" lang="en-US" sz="1500">
                <a:solidFill>
                  <a:srgbClr val="6D8BE8"/>
                </a:solidFill>
                <a:latin typeface="JetBrains Mono"/>
                <a:ea typeface="JetBrains Mono"/>
                <a:cs typeface="JetBrains Mono"/>
                <a:sym typeface="JetBrains Mono"/>
              </a:rPr>
              <a:t>Prefetch</a:t>
            </a:r>
            <a:r>
              <a:rPr b="0" i="0" lang="en-US" sz="1500">
                <a:solidFill>
                  <a:srgbClr val="E8E2D4"/>
                </a:solidFill>
                <a:latin typeface="JetBrains Mono"/>
                <a:ea typeface="JetBrains Mono"/>
                <a:cs typeface="JetBrains Mono"/>
                <a:sym typeface="JetBrains Mono"/>
              </a:rPr>
              <a:t>(query=sparse, using=</a:t>
            </a:r>
            <a:r>
              <a:rPr b="0" i="0" lang="en-US" sz="1500">
                <a:solidFill>
                  <a:srgbClr val="47B881"/>
                </a:solidFill>
                <a:latin typeface="JetBrains Mono"/>
                <a:ea typeface="JetBrains Mono"/>
                <a:cs typeface="JetBrains Mono"/>
                <a:sym typeface="JetBrains Mono"/>
              </a:rPr>
              <a:t>"sparse"</a:t>
            </a:r>
            <a:r>
              <a:rPr b="0" i="0" lang="en-US" sz="1500">
                <a:solidFill>
                  <a:srgbClr val="E8E2D4"/>
                </a:solidFill>
                <a:latin typeface="JetBrains Mono"/>
                <a:ea typeface="JetBrains Mono"/>
                <a:cs typeface="JetBrains Mono"/>
                <a:sym typeface="JetBrains Mono"/>
              </a:rPr>
              <a:t>, limit=</a:t>
            </a:r>
            <a:r>
              <a:rPr b="0" i="0" lang="en-US" sz="1500">
                <a:solidFill>
                  <a:srgbClr val="D49000"/>
                </a:solidFill>
                <a:latin typeface="JetBrains Mono"/>
                <a:ea typeface="JetBrains Mono"/>
                <a:cs typeface="JetBrains Mono"/>
                <a:sym typeface="JetBrains Mono"/>
              </a:rPr>
              <a:t>30</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query=models.</a:t>
            </a:r>
            <a:r>
              <a:rPr b="0" i="0" lang="en-US" sz="1500">
                <a:solidFill>
                  <a:srgbClr val="6D8BE8"/>
                </a:solidFill>
                <a:latin typeface="JetBrains Mono"/>
                <a:ea typeface="JetBrains Mono"/>
                <a:cs typeface="JetBrains Mono"/>
                <a:sym typeface="JetBrains Mono"/>
              </a:rPr>
              <a:t>FusionQuery</a:t>
            </a:r>
            <a:r>
              <a:rPr b="0" i="0" lang="en-US" sz="1500">
                <a:solidFill>
                  <a:srgbClr val="E8E2D4"/>
                </a:solidFill>
                <a:latin typeface="JetBrains Mono"/>
                <a:ea typeface="JetBrains Mono"/>
                <a:cs typeface="JetBrains Mono"/>
                <a:sym typeface="JetBrains Mono"/>
              </a:rPr>
              <a:t>(fusion=models.Fusion.</a:t>
            </a:r>
            <a:r>
              <a:rPr b="0" i="0" lang="en-US" sz="1500">
                <a:solidFill>
                  <a:srgbClr val="6D8BE8"/>
                </a:solidFill>
                <a:latin typeface="JetBrains Mono"/>
                <a:ea typeface="JetBrains Mono"/>
                <a:cs typeface="JetBrains Mono"/>
                <a:sym typeface="JetBrains Mono"/>
              </a:rPr>
              <a:t>RRF</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query_filter=models.</a:t>
            </a:r>
            <a:r>
              <a:rPr b="0" i="0" lang="en-US" sz="1500">
                <a:solidFill>
                  <a:srgbClr val="6D8BE8"/>
                </a:solidFill>
                <a:latin typeface="JetBrains Mono"/>
                <a:ea typeface="JetBrains Mono"/>
                <a:cs typeface="JetBrains Mono"/>
                <a:sym typeface="JetBrains Mono"/>
              </a:rPr>
              <a:t>Filter</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5715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must=[models.</a:t>
            </a:r>
            <a:r>
              <a:rPr b="0" i="0" lang="en-US" sz="1500">
                <a:solidFill>
                  <a:srgbClr val="6D8BE8"/>
                </a:solidFill>
                <a:latin typeface="JetBrains Mono"/>
                <a:ea typeface="JetBrains Mono"/>
                <a:cs typeface="JetBrains Mono"/>
                <a:sym typeface="JetBrains Mono"/>
              </a:rPr>
              <a:t>FieldCondition</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762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key=</a:t>
            </a:r>
            <a:r>
              <a:rPr b="0" i="0" lang="en-US" sz="1500">
                <a:solidFill>
                  <a:srgbClr val="47B881"/>
                </a:solidFill>
                <a:latin typeface="JetBrains Mono"/>
                <a:ea typeface="JetBrains Mono"/>
                <a:cs typeface="JetBrains Mono"/>
                <a:sym typeface="JetBrains Mono"/>
              </a:rPr>
              <a:t>"tenant_id"</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762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match=models.</a:t>
            </a:r>
            <a:r>
              <a:rPr b="0" i="0" lang="en-US" sz="1500">
                <a:solidFill>
                  <a:srgbClr val="6D8BE8"/>
                </a:solidFill>
                <a:latin typeface="JetBrains Mono"/>
                <a:ea typeface="JetBrains Mono"/>
                <a:cs typeface="JetBrains Mono"/>
                <a:sym typeface="JetBrains Mono"/>
              </a:rPr>
              <a:t>MatchValue</a:t>
            </a:r>
            <a:r>
              <a:rPr b="0" i="0" lang="en-US" sz="1500">
                <a:solidFill>
                  <a:srgbClr val="E8E2D4"/>
                </a:solidFill>
                <a:latin typeface="JetBrains Mono"/>
                <a:ea typeface="JetBrains Mono"/>
                <a:cs typeface="JetBrains Mono"/>
                <a:sym typeface="JetBrains Mono"/>
              </a:rPr>
              <a:t>(value=tenant_id),</a:t>
            </a:r>
            <a:endParaRPr b="0" i="1" sz="1500">
              <a:solidFill>
                <a:srgbClr val="8FA0AF"/>
              </a:solidFill>
              <a:latin typeface="JetBrains Mono"/>
              <a:ea typeface="JetBrains Mono"/>
              <a:cs typeface="JetBrains Mono"/>
              <a:sym typeface="JetBrains Mono"/>
            </a:endParaRPr>
          </a:p>
          <a:p>
            <a:pPr indent="0" lvl="0" marL="5715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limit=k,</a:t>
            </a:r>
            <a:endParaRPr b="0" i="1" sz="150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with_payload=</a:t>
            </a:r>
            <a:r>
              <a:rPr b="0" i="0" lang="en-US" sz="1500">
                <a:solidFill>
                  <a:srgbClr val="FACC15"/>
                </a:solidFill>
                <a:latin typeface="JetBrains Mono"/>
                <a:ea typeface="JetBrains Mono"/>
                <a:cs typeface="JetBrains Mono"/>
                <a:sym typeface="JetBrains Mono"/>
              </a:rPr>
              <a:t>True</a:t>
            </a:r>
            <a:endParaRPr b="0" i="1" sz="1500">
              <a:solidFill>
                <a:srgbClr val="8FA0AF"/>
              </a:solidFill>
              <a:latin typeface="JetBrains Mono"/>
              <a:ea typeface="JetBrains Mono"/>
              <a:cs typeface="JetBrains Mono"/>
              <a:sym typeface="JetBrains Mono"/>
            </a:endParaRPr>
          </a:p>
          <a:p>
            <a:pPr indent="0" lvl="0" marL="190500" marR="0" rtl="0" algn="l">
              <a:spcBef>
                <a:spcPts val="0"/>
              </a:spcBef>
              <a:spcAft>
                <a:spcPts val="0"/>
              </a:spcAft>
              <a:buNone/>
            </a:pPr>
            <a:r>
              <a:rPr b="0" i="0" lang="en-US" sz="1500">
                <a:solidFill>
                  <a:srgbClr val="E8E2D4"/>
                </a:solidFill>
                <a:latin typeface="JetBrains Mono"/>
                <a:ea typeface="JetBrains Mono"/>
                <a:cs typeface="JetBrains Mono"/>
                <a:sym typeface="JetBrains Mono"/>
              </a:rPr>
              <a:t>).points</a:t>
            </a:r>
            <a:endParaRPr b="0" i="1" sz="1500">
              <a:solidFill>
                <a:srgbClr val="8FA0AF"/>
              </a:solidFill>
              <a:latin typeface="JetBrains Mono"/>
              <a:ea typeface="JetBrains Mono"/>
              <a:cs typeface="JetBrains Mono"/>
              <a:sym typeface="JetBrains Mono"/>
            </a:endParaRPr>
          </a:p>
        </p:txBody>
      </p:sp>
      <p:sp>
        <p:nvSpPr>
          <p:cNvPr id="456" name="Google Shape;456;p20"/>
          <p:cNvSpPr/>
          <p:nvPr/>
        </p:nvSpPr>
        <p:spPr>
          <a:xfrm>
            <a:off x="10706100" y="3429000"/>
            <a:ext cx="6667500" cy="1428900"/>
          </a:xfrm>
          <a:prstGeom prst="roundRect">
            <a:avLst>
              <a:gd fmla="val 5333"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0"/>
          <p:cNvSpPr/>
          <p:nvPr/>
        </p:nvSpPr>
        <p:spPr>
          <a:xfrm>
            <a:off x="10953750" y="3619500"/>
            <a:ext cx="6219900" cy="2097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1" lang="en-US" sz="945">
                <a:solidFill>
                  <a:srgbClr val="214CB8"/>
                </a:solidFill>
                <a:latin typeface="Inter"/>
                <a:ea typeface="Inter"/>
                <a:cs typeface="Inter"/>
                <a:sym typeface="Inter"/>
              </a:rPr>
              <a:t>TWO PREFETCHES</a:t>
            </a:r>
            <a:endParaRPr b="1" sz="945">
              <a:solidFill>
                <a:srgbClr val="214CB8"/>
              </a:solidFill>
              <a:latin typeface="Inter"/>
              <a:ea typeface="Inter"/>
              <a:cs typeface="Inter"/>
              <a:sym typeface="Inter"/>
            </a:endParaRPr>
          </a:p>
        </p:txBody>
      </p:sp>
      <p:sp>
        <p:nvSpPr>
          <p:cNvPr id="458" name="Google Shape;458;p20"/>
          <p:cNvSpPr/>
          <p:nvPr/>
        </p:nvSpPr>
        <p:spPr>
          <a:xfrm>
            <a:off x="10953750" y="3905250"/>
            <a:ext cx="6219900" cy="6669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lang="en-US" sz="1800">
                <a:solidFill>
                  <a:srgbClr val="1D2B3A"/>
                </a:solidFill>
                <a:latin typeface="Inter"/>
                <a:ea typeface="Inter"/>
                <a:cs typeface="Inter"/>
                <a:sym typeface="Inter"/>
              </a:rPr>
              <a:t>Dense and sparse run in parallel inside Qdrant. One round-trip from your app.</a:t>
            </a:r>
            <a:endParaRPr b="0" sz="1800">
              <a:solidFill>
                <a:srgbClr val="1D2B3A"/>
              </a:solidFill>
              <a:latin typeface="Inter"/>
              <a:ea typeface="Inter"/>
              <a:cs typeface="Inter"/>
              <a:sym typeface="Inter"/>
            </a:endParaRPr>
          </a:p>
        </p:txBody>
      </p:sp>
      <p:sp>
        <p:nvSpPr>
          <p:cNvPr id="459" name="Google Shape;459;p20"/>
          <p:cNvSpPr/>
          <p:nvPr/>
        </p:nvSpPr>
        <p:spPr>
          <a:xfrm>
            <a:off x="10706100" y="5048250"/>
            <a:ext cx="6667500" cy="1428900"/>
          </a:xfrm>
          <a:prstGeom prst="roundRect">
            <a:avLst>
              <a:gd fmla="val 5333"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20"/>
          <p:cNvSpPr/>
          <p:nvPr/>
        </p:nvSpPr>
        <p:spPr>
          <a:xfrm>
            <a:off x="10953750" y="5238750"/>
            <a:ext cx="6219900" cy="2097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1" lang="en-US" sz="945">
                <a:solidFill>
                  <a:srgbClr val="47B881"/>
                </a:solidFill>
                <a:latin typeface="Inter"/>
                <a:ea typeface="Inter"/>
                <a:cs typeface="Inter"/>
                <a:sym typeface="Inter"/>
              </a:rPr>
              <a:t>RRF FUSION</a:t>
            </a:r>
            <a:endParaRPr b="1" sz="945">
              <a:solidFill>
                <a:srgbClr val="47B881"/>
              </a:solidFill>
              <a:latin typeface="Inter"/>
              <a:ea typeface="Inter"/>
              <a:cs typeface="Inter"/>
              <a:sym typeface="Inter"/>
            </a:endParaRPr>
          </a:p>
        </p:txBody>
      </p:sp>
      <p:sp>
        <p:nvSpPr>
          <p:cNvPr id="461" name="Google Shape;461;p20"/>
          <p:cNvSpPr/>
          <p:nvPr/>
        </p:nvSpPr>
        <p:spPr>
          <a:xfrm>
            <a:off x="10953750" y="5524500"/>
            <a:ext cx="6219900" cy="6669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lang="en-US" sz="1800">
                <a:solidFill>
                  <a:srgbClr val="1D2B3A"/>
                </a:solidFill>
                <a:latin typeface="Inter"/>
                <a:ea typeface="Inter"/>
                <a:cs typeface="Inter"/>
                <a:sym typeface="Inter"/>
              </a:rPr>
              <a:t>Reciprocal Rank Fusion — robust score-merging that doesn't need calibration.</a:t>
            </a:r>
            <a:endParaRPr b="0" sz="1800">
              <a:solidFill>
                <a:srgbClr val="1D2B3A"/>
              </a:solidFill>
              <a:latin typeface="Inter"/>
              <a:ea typeface="Inter"/>
              <a:cs typeface="Inter"/>
              <a:sym typeface="Inter"/>
            </a:endParaRPr>
          </a:p>
        </p:txBody>
      </p:sp>
      <p:sp>
        <p:nvSpPr>
          <p:cNvPr id="462" name="Google Shape;462;p20"/>
          <p:cNvSpPr/>
          <p:nvPr/>
        </p:nvSpPr>
        <p:spPr>
          <a:xfrm>
            <a:off x="10706100" y="6667500"/>
            <a:ext cx="6667500" cy="1428900"/>
          </a:xfrm>
          <a:prstGeom prst="roundRect">
            <a:avLst>
              <a:gd fmla="val 5333"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20"/>
          <p:cNvSpPr/>
          <p:nvPr/>
        </p:nvSpPr>
        <p:spPr>
          <a:xfrm>
            <a:off x="10953750" y="6858000"/>
            <a:ext cx="6219900" cy="2097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1" lang="en-US" sz="945">
                <a:solidFill>
                  <a:srgbClr val="D49000"/>
                </a:solidFill>
                <a:latin typeface="Inter"/>
                <a:ea typeface="Inter"/>
                <a:cs typeface="Inter"/>
                <a:sym typeface="Inter"/>
              </a:rPr>
              <a:t>FILTER IS MANDATORY</a:t>
            </a:r>
            <a:endParaRPr b="1" sz="945">
              <a:solidFill>
                <a:srgbClr val="D49000"/>
              </a:solidFill>
              <a:latin typeface="Inter"/>
              <a:ea typeface="Inter"/>
              <a:cs typeface="Inter"/>
              <a:sym typeface="Inter"/>
            </a:endParaRPr>
          </a:p>
        </p:txBody>
      </p:sp>
      <p:sp>
        <p:nvSpPr>
          <p:cNvPr id="464" name="Google Shape;464;p20"/>
          <p:cNvSpPr/>
          <p:nvPr/>
        </p:nvSpPr>
        <p:spPr>
          <a:xfrm>
            <a:off x="10953750" y="7143750"/>
            <a:ext cx="6219900" cy="6669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lang="en-US" sz="1800">
                <a:solidFill>
                  <a:srgbClr val="1D2B3A"/>
                </a:solidFill>
                <a:latin typeface="Inter"/>
                <a:ea typeface="Inter"/>
                <a:cs typeface="Inter"/>
                <a:sym typeface="Inter"/>
              </a:rPr>
              <a:t>Tenant filter on every query. Forget it once, you leak across customers.</a:t>
            </a:r>
            <a:endParaRPr b="0" sz="1800">
              <a:solidFill>
                <a:srgbClr val="1D2B3A"/>
              </a:solidFill>
              <a:latin typeface="Inter"/>
              <a:ea typeface="Inter"/>
              <a:cs typeface="Inter"/>
              <a:sym typeface="Inter"/>
            </a:endParaRPr>
          </a:p>
        </p:txBody>
      </p:sp>
      <p:sp>
        <p:nvSpPr>
          <p:cNvPr id="465" name="Google Shape;465;p20"/>
          <p:cNvSpPr/>
          <p:nvPr/>
        </p:nvSpPr>
        <p:spPr>
          <a:xfrm>
            <a:off x="10706100" y="8286750"/>
            <a:ext cx="6667500" cy="1428900"/>
          </a:xfrm>
          <a:prstGeom prst="roundRect">
            <a:avLst>
              <a:gd fmla="val 5333"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20"/>
          <p:cNvSpPr/>
          <p:nvPr/>
        </p:nvSpPr>
        <p:spPr>
          <a:xfrm>
            <a:off x="10953750" y="8477250"/>
            <a:ext cx="6219900" cy="2097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1" lang="en-US" sz="945">
                <a:solidFill>
                  <a:srgbClr val="7A4BD9"/>
                </a:solidFill>
                <a:latin typeface="Inter"/>
                <a:ea typeface="Inter"/>
                <a:cs typeface="Inter"/>
                <a:sym typeface="Inter"/>
              </a:rPr>
              <a:t>PAYLOAD RETURNED</a:t>
            </a:r>
            <a:endParaRPr b="1" sz="945">
              <a:solidFill>
                <a:srgbClr val="7A4BD9"/>
              </a:solidFill>
              <a:latin typeface="Inter"/>
              <a:ea typeface="Inter"/>
              <a:cs typeface="Inter"/>
              <a:sym typeface="Inter"/>
            </a:endParaRPr>
          </a:p>
        </p:txBody>
      </p:sp>
      <p:sp>
        <p:nvSpPr>
          <p:cNvPr id="467" name="Google Shape;467;p20"/>
          <p:cNvSpPr/>
          <p:nvPr/>
        </p:nvSpPr>
        <p:spPr>
          <a:xfrm>
            <a:off x="10953750" y="8763000"/>
            <a:ext cx="6219900" cy="6669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lang="en-US" sz="1800">
                <a:solidFill>
                  <a:srgbClr val="1D2B3A"/>
                </a:solidFill>
                <a:highlight>
                  <a:srgbClr val="E8E2D4"/>
                </a:highlight>
                <a:latin typeface="JetBrains Mono"/>
                <a:ea typeface="JetBrains Mono"/>
                <a:cs typeface="JetBrains Mono"/>
                <a:sym typeface="JetBrains Mono"/>
              </a:rPr>
              <a:t>with_payload=True</a:t>
            </a:r>
            <a:r>
              <a:rPr b="0" lang="en-US" sz="1800">
                <a:solidFill>
                  <a:srgbClr val="1D2B3A"/>
                </a:solidFill>
                <a:latin typeface="Inter"/>
                <a:ea typeface="Inter"/>
                <a:cs typeface="Inter"/>
                <a:sym typeface="Inter"/>
              </a:rPr>
              <a:t> — you get the chunk text inline, ready to stitch into the prompt.</a:t>
            </a:r>
            <a:endParaRPr b="0" sz="1800">
              <a:solidFill>
                <a:srgbClr val="1D2B3A"/>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033"/>
        </a:solidFill>
      </p:bgPr>
    </p:bg>
    <p:spTree>
      <p:nvGrpSpPr>
        <p:cNvPr id="472" name="Shape 472"/>
        <p:cNvGrpSpPr/>
        <p:nvPr/>
      </p:nvGrpSpPr>
      <p:grpSpPr>
        <a:xfrm>
          <a:off x="0" y="0"/>
          <a:ext cx="0" cy="0"/>
          <a:chOff x="0" y="0"/>
          <a:chExt cx="0" cy="0"/>
        </a:xfrm>
      </p:grpSpPr>
      <p:sp>
        <p:nvSpPr>
          <p:cNvPr id="473" name="Google Shape;473;p21"/>
          <p:cNvSpPr/>
          <p:nvPr/>
        </p:nvSpPr>
        <p:spPr>
          <a:xfrm>
            <a:off x="914400" y="2667000"/>
            <a:ext cx="6324600" cy="3969900"/>
          </a:xfrm>
          <a:prstGeom prst="rect">
            <a:avLst/>
          </a:prstGeom>
          <a:noFill/>
          <a:ln>
            <a:noFill/>
          </a:ln>
        </p:spPr>
        <p:txBody>
          <a:bodyPr anchorCtr="0" anchor="t" bIns="25400" lIns="25400" spcFirstLastPara="1" rIns="25400" wrap="square" tIns="25400">
            <a:noAutofit/>
          </a:bodyPr>
          <a:lstStyle/>
          <a:p>
            <a:pPr indent="0" lvl="0" marL="0" marR="0" rtl="0" algn="l">
              <a:lnSpc>
                <a:spcPct val="86000"/>
              </a:lnSpc>
              <a:spcBef>
                <a:spcPts val="0"/>
              </a:spcBef>
              <a:spcAft>
                <a:spcPts val="0"/>
              </a:spcAft>
              <a:buClr>
                <a:srgbClr val="FFFFFF"/>
              </a:buClr>
              <a:buSzPts val="36000"/>
              <a:buFont typeface="Play"/>
              <a:buNone/>
            </a:pPr>
            <a:r>
              <a:rPr b="1" i="0" lang="en-US" sz="36000" u="none" cap="none" strike="noStrike">
                <a:solidFill>
                  <a:srgbClr val="FFFFFF"/>
                </a:solidFill>
                <a:latin typeface="Play"/>
                <a:ea typeface="Play"/>
                <a:cs typeface="Play"/>
                <a:sym typeface="Play"/>
              </a:rPr>
              <a:t>03</a:t>
            </a:r>
            <a:endParaRPr b="0" i="0" sz="36000" u="none" cap="none" strike="noStrike">
              <a:solidFill>
                <a:schemeClr val="dk1"/>
              </a:solidFill>
              <a:latin typeface="Calibri"/>
              <a:ea typeface="Calibri"/>
              <a:cs typeface="Calibri"/>
              <a:sym typeface="Calibri"/>
            </a:endParaRPr>
          </a:p>
        </p:txBody>
      </p:sp>
      <p:sp>
        <p:nvSpPr>
          <p:cNvPr id="474" name="Google Shape;474;p21"/>
          <p:cNvSpPr/>
          <p:nvPr/>
        </p:nvSpPr>
        <p:spPr>
          <a:xfrm>
            <a:off x="7239000" y="3238500"/>
            <a:ext cx="10438638"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ACC15"/>
              </a:buClr>
              <a:buSzPts val="1650"/>
              <a:buFont typeface="Inter"/>
              <a:buNone/>
            </a:pPr>
            <a:r>
              <a:rPr b="1" i="0" lang="en-US" sz="1650" u="none" cap="none" strike="noStrike">
                <a:solidFill>
                  <a:srgbClr val="FACC15"/>
                </a:solidFill>
                <a:latin typeface="Inter"/>
                <a:ea typeface="Inter"/>
                <a:cs typeface="Inter"/>
                <a:sym typeface="Inter"/>
              </a:rPr>
              <a:t>PART 03 · CAPSTONE</a:t>
            </a:r>
            <a:endParaRPr b="0" i="0" sz="1650" u="none" cap="none" strike="noStrike">
              <a:solidFill>
                <a:schemeClr val="dk1"/>
              </a:solidFill>
              <a:latin typeface="Calibri"/>
              <a:ea typeface="Calibri"/>
              <a:cs typeface="Calibri"/>
              <a:sym typeface="Calibri"/>
            </a:endParaRPr>
          </a:p>
        </p:txBody>
      </p:sp>
      <p:sp>
        <p:nvSpPr>
          <p:cNvPr id="475" name="Google Shape;475;p21"/>
          <p:cNvSpPr/>
          <p:nvPr/>
        </p:nvSpPr>
        <p:spPr>
          <a:xfrm>
            <a:off x="7239000" y="3676650"/>
            <a:ext cx="10438638" cy="1558230"/>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FFFFFF"/>
              </a:buClr>
              <a:buSzPts val="5700"/>
              <a:buFont typeface="Play"/>
              <a:buNone/>
            </a:pPr>
            <a:r>
              <a:rPr b="1" i="0" lang="en-US" sz="5700" u="none" cap="none" strike="noStrike">
                <a:solidFill>
                  <a:srgbClr val="FFFFFF"/>
                </a:solidFill>
                <a:latin typeface="Play"/>
                <a:ea typeface="Play"/>
                <a:cs typeface="Play"/>
                <a:sym typeface="Play"/>
              </a:rPr>
              <a:t>LangGraph Chat Pipeline</a:t>
            </a:r>
            <a:endParaRPr b="0" i="0" sz="5700" u="none" cap="none" strike="noStrike">
              <a:solidFill>
                <a:schemeClr val="dk1"/>
              </a:solidFill>
              <a:latin typeface="Calibri"/>
              <a:ea typeface="Calibri"/>
              <a:cs typeface="Calibri"/>
              <a:sym typeface="Calibri"/>
            </a:endParaRPr>
          </a:p>
        </p:txBody>
      </p:sp>
      <p:sp>
        <p:nvSpPr>
          <p:cNvPr id="476" name="Google Shape;476;p21"/>
          <p:cNvSpPr/>
          <p:nvPr/>
        </p:nvSpPr>
        <p:spPr>
          <a:xfrm>
            <a:off x="7239000" y="5501580"/>
            <a:ext cx="8241030" cy="86677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C7D3DD"/>
              </a:buClr>
              <a:buSzPts val="2250"/>
              <a:buFont typeface="Inter"/>
              <a:buNone/>
            </a:pPr>
            <a:r>
              <a:rPr b="0" i="0" lang="en-US" sz="2250" u="none" cap="none" strike="noStrike">
                <a:solidFill>
                  <a:srgbClr val="C7D3DD"/>
                </a:solidFill>
                <a:latin typeface="Inter"/>
                <a:ea typeface="Inter"/>
                <a:cs typeface="Inter"/>
                <a:sym typeface="Inter"/>
              </a:rPr>
              <a:t>State · nodes · conditional edges — wire retrieval and generation into a real graph.</a:t>
            </a:r>
            <a:endParaRPr b="0" i="0" sz="2250" u="none" cap="none" strike="noStrike">
              <a:solidFill>
                <a:schemeClr val="dk1"/>
              </a:solidFill>
              <a:latin typeface="Calibri"/>
              <a:ea typeface="Calibri"/>
              <a:cs typeface="Calibri"/>
              <a:sym typeface="Calibri"/>
            </a:endParaRPr>
          </a:p>
        </p:txBody>
      </p:sp>
      <p:sp>
        <p:nvSpPr>
          <p:cNvPr id="477" name="Google Shape;477;p21"/>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FA0AF"/>
              </a:buClr>
              <a:buSzPts val="1650"/>
              <a:buFont typeface="Inter"/>
              <a:buNone/>
            </a:pPr>
            <a:r>
              <a:rPr b="0" i="0" lang="en-US" sz="1650" u="none" cap="none" strike="noStrike">
                <a:solidFill>
                  <a:srgbClr val="8FA0AF"/>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478" name="Google Shape;478;p21"/>
          <p:cNvSpPr/>
          <p:nvPr/>
        </p:nvSpPr>
        <p:spPr>
          <a:xfrm>
            <a:off x="16608475" y="457200"/>
            <a:ext cx="841325"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1650"/>
              <a:buFont typeface="Inter"/>
              <a:buNone/>
            </a:pPr>
            <a:r>
              <a:rPr b="1" i="0" lang="en-US" sz="1650" u="none" cap="none" strike="noStrike">
                <a:solidFill>
                  <a:srgbClr val="FFFFFF"/>
                </a:solidFill>
                <a:latin typeface="Inter"/>
                <a:ea typeface="Inter"/>
                <a:cs typeface="Inter"/>
                <a:sym typeface="Inter"/>
              </a:rPr>
              <a:t>18 </a:t>
            </a:r>
            <a:r>
              <a:rPr b="0" i="0" lang="en-US" sz="1650" u="none" cap="none" strike="noStrike">
                <a:solidFill>
                  <a:srgbClr val="8FA0AF"/>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483" name="Shape 483"/>
        <p:cNvGrpSpPr/>
        <p:nvPr/>
      </p:nvGrpSpPr>
      <p:grpSpPr>
        <a:xfrm>
          <a:off x="0" y="0"/>
          <a:ext cx="0" cy="0"/>
          <a:chOff x="0" y="0"/>
          <a:chExt cx="0" cy="0"/>
        </a:xfrm>
      </p:grpSpPr>
      <p:sp>
        <p:nvSpPr>
          <p:cNvPr id="484" name="Google Shape;484;p22"/>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485" name="Google Shape;485;p22"/>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486" name="Google Shape;486;p22"/>
          <p:cNvSpPr/>
          <p:nvPr/>
        </p:nvSpPr>
        <p:spPr>
          <a:xfrm>
            <a:off x="16608772" y="457200"/>
            <a:ext cx="841028"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19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487" name="Google Shape;487;p22"/>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488" name="Google Shape;488;p22"/>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LangGraph — stateful LLM applications as a graph</a:t>
            </a:r>
            <a:endParaRPr b="0" i="0" sz="3900" u="none" cap="none" strike="noStrike">
              <a:solidFill>
                <a:schemeClr val="dk1"/>
              </a:solidFill>
              <a:latin typeface="Calibri"/>
              <a:ea typeface="Calibri"/>
              <a:cs typeface="Calibri"/>
              <a:sym typeface="Calibri"/>
            </a:endParaRPr>
          </a:p>
        </p:txBody>
      </p:sp>
      <p:sp>
        <p:nvSpPr>
          <p:cNvPr id="489" name="Google Shape;489;p22"/>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 state machine where the transitions are Python, the state is typed, and every step is traceable.</a:t>
            </a:r>
            <a:endParaRPr b="0" i="0" sz="2100" u="none" cap="none" strike="noStrike">
              <a:solidFill>
                <a:schemeClr val="dk1"/>
              </a:solidFill>
              <a:latin typeface="Calibri"/>
              <a:ea typeface="Calibri"/>
              <a:cs typeface="Calibri"/>
              <a:sym typeface="Calibri"/>
            </a:endParaRPr>
          </a:p>
        </p:txBody>
      </p:sp>
      <p:sp>
        <p:nvSpPr>
          <p:cNvPr id="490" name="Google Shape;490;p22"/>
          <p:cNvSpPr/>
          <p:nvPr/>
        </p:nvSpPr>
        <p:spPr>
          <a:xfrm>
            <a:off x="914400" y="3619500"/>
            <a:ext cx="5283000" cy="3746700"/>
          </a:xfrm>
          <a:prstGeom prst="roundRect">
            <a:avLst>
              <a:gd fmla="val 1481"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2"/>
          <p:cNvSpPr/>
          <p:nvPr/>
        </p:nvSpPr>
        <p:spPr>
          <a:xfrm>
            <a:off x="1228725" y="3933825"/>
            <a:ext cx="4794084"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STATE</a:t>
            </a:r>
            <a:endParaRPr b="0" i="0" sz="1350" u="none" cap="none" strike="noStrike">
              <a:solidFill>
                <a:schemeClr val="dk1"/>
              </a:solidFill>
              <a:latin typeface="Calibri"/>
              <a:ea typeface="Calibri"/>
              <a:cs typeface="Calibri"/>
              <a:sym typeface="Calibri"/>
            </a:endParaRPr>
          </a:p>
        </p:txBody>
      </p:sp>
      <p:sp>
        <p:nvSpPr>
          <p:cNvPr id="492" name="Google Shape;492;p22"/>
          <p:cNvSpPr/>
          <p:nvPr/>
        </p:nvSpPr>
        <p:spPr>
          <a:xfrm>
            <a:off x="1228725" y="4257675"/>
            <a:ext cx="4794084" cy="103242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A typed dict that flows through the graph. Question, retrieved docs, messages, attempts, answer — all live here.</a:t>
            </a:r>
            <a:endParaRPr b="0" i="0" sz="1800" u="none" cap="none" strike="noStrike">
              <a:solidFill>
                <a:schemeClr val="dk1"/>
              </a:solidFill>
              <a:latin typeface="Calibri"/>
              <a:ea typeface="Calibri"/>
              <a:cs typeface="Calibri"/>
              <a:sym typeface="Calibri"/>
            </a:endParaRPr>
          </a:p>
        </p:txBody>
      </p:sp>
      <p:sp>
        <p:nvSpPr>
          <p:cNvPr id="493" name="Google Shape;493;p22"/>
          <p:cNvSpPr/>
          <p:nvPr/>
        </p:nvSpPr>
        <p:spPr>
          <a:xfrm>
            <a:off x="6502300" y="3619500"/>
            <a:ext cx="5283300" cy="3746700"/>
          </a:xfrm>
          <a:prstGeom prst="roundRect">
            <a:avLst>
              <a:gd fmla="val 1481"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2"/>
          <p:cNvSpPr/>
          <p:nvPr/>
        </p:nvSpPr>
        <p:spPr>
          <a:xfrm>
            <a:off x="6816626" y="3933825"/>
            <a:ext cx="4794238"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NODES</a:t>
            </a:r>
            <a:endParaRPr b="0" i="0" sz="1350" u="none" cap="none" strike="noStrike">
              <a:solidFill>
                <a:schemeClr val="dk1"/>
              </a:solidFill>
              <a:latin typeface="Calibri"/>
              <a:ea typeface="Calibri"/>
              <a:cs typeface="Calibri"/>
              <a:sym typeface="Calibri"/>
            </a:endParaRPr>
          </a:p>
        </p:txBody>
      </p:sp>
      <p:sp>
        <p:nvSpPr>
          <p:cNvPr id="495" name="Google Shape;495;p22"/>
          <p:cNvSpPr/>
          <p:nvPr/>
        </p:nvSpPr>
        <p:spPr>
          <a:xfrm>
            <a:off x="6816626" y="4257675"/>
            <a:ext cx="4794238" cy="103242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Plain Python functions: </a:t>
            </a:r>
            <a:r>
              <a:rPr b="0" i="1" lang="en-US" sz="1800" u="none" cap="none" strike="noStrike">
                <a:solidFill>
                  <a:srgbClr val="1D2B3A"/>
                </a:solidFill>
                <a:latin typeface="Inter"/>
                <a:ea typeface="Inter"/>
                <a:cs typeface="Inter"/>
                <a:sym typeface="Inter"/>
              </a:rPr>
              <a:t>state in, state-patch out </a:t>
            </a:r>
            <a:r>
              <a:rPr b="0" i="0" lang="en-US" sz="1800" u="none" cap="none" strike="noStrike">
                <a:solidFill>
                  <a:srgbClr val="1D2B3A"/>
                </a:solidFill>
                <a:latin typeface="Inter"/>
                <a:ea typeface="Inter"/>
                <a:cs typeface="Inter"/>
                <a:sym typeface="Inter"/>
              </a:rPr>
              <a:t>. No framework lock-in — callable in a unit test.</a:t>
            </a:r>
            <a:endParaRPr b="0" i="0" sz="1800" u="none" cap="none" strike="noStrike">
              <a:solidFill>
                <a:schemeClr val="dk1"/>
              </a:solidFill>
              <a:latin typeface="Calibri"/>
              <a:ea typeface="Calibri"/>
              <a:cs typeface="Calibri"/>
              <a:sym typeface="Calibri"/>
            </a:endParaRPr>
          </a:p>
        </p:txBody>
      </p:sp>
      <p:sp>
        <p:nvSpPr>
          <p:cNvPr id="496" name="Google Shape;496;p22"/>
          <p:cNvSpPr/>
          <p:nvPr/>
        </p:nvSpPr>
        <p:spPr>
          <a:xfrm>
            <a:off x="12090350" y="3619500"/>
            <a:ext cx="5283300" cy="3746700"/>
          </a:xfrm>
          <a:prstGeom prst="roundRect">
            <a:avLst>
              <a:gd fmla="val 1481"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2"/>
          <p:cNvSpPr/>
          <p:nvPr/>
        </p:nvSpPr>
        <p:spPr>
          <a:xfrm>
            <a:off x="12404675" y="3933825"/>
            <a:ext cx="4794238"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EDGES</a:t>
            </a:r>
            <a:endParaRPr b="0" i="0" sz="1350" u="none" cap="none" strike="noStrike">
              <a:solidFill>
                <a:schemeClr val="dk1"/>
              </a:solidFill>
              <a:latin typeface="Calibri"/>
              <a:ea typeface="Calibri"/>
              <a:cs typeface="Calibri"/>
              <a:sym typeface="Calibri"/>
            </a:endParaRPr>
          </a:p>
        </p:txBody>
      </p:sp>
      <p:sp>
        <p:nvSpPr>
          <p:cNvPr id="498" name="Google Shape;498;p22"/>
          <p:cNvSpPr/>
          <p:nvPr/>
        </p:nvSpPr>
        <p:spPr>
          <a:xfrm>
            <a:off x="12404675" y="4257675"/>
            <a:ext cx="4794238" cy="103242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Static edges connect nodes. </a:t>
            </a:r>
            <a:r>
              <a:rPr b="0" i="1" lang="en-US" sz="1800" u="none" cap="none" strike="noStrike">
                <a:solidFill>
                  <a:srgbClr val="1D2B3A"/>
                </a:solidFill>
                <a:latin typeface="Inter"/>
                <a:ea typeface="Inter"/>
                <a:cs typeface="Inter"/>
                <a:sym typeface="Inter"/>
              </a:rPr>
              <a:t>Conditional </a:t>
            </a:r>
            <a:r>
              <a:rPr b="0" i="0" lang="en-US" sz="1800" u="none" cap="none" strike="noStrike">
                <a:solidFill>
                  <a:srgbClr val="1D2B3A"/>
                </a:solidFill>
                <a:latin typeface="Inter"/>
                <a:ea typeface="Inter"/>
                <a:cs typeface="Inter"/>
                <a:sym typeface="Inter"/>
              </a:rPr>
              <a:t>edges branch on the state — that's how you loop, retry, escalate.</a:t>
            </a:r>
            <a:endParaRPr b="0" i="0" sz="1800" u="none" cap="none" strike="noStrike">
              <a:solidFill>
                <a:schemeClr val="dk1"/>
              </a:solidFill>
              <a:latin typeface="Calibri"/>
              <a:ea typeface="Calibri"/>
              <a:cs typeface="Calibri"/>
              <a:sym typeface="Calibri"/>
            </a:endParaRPr>
          </a:p>
        </p:txBody>
      </p:sp>
      <p:sp>
        <p:nvSpPr>
          <p:cNvPr id="499" name="Google Shape;499;p22"/>
          <p:cNvSpPr/>
          <p:nvPr/>
        </p:nvSpPr>
        <p:spPr>
          <a:xfrm>
            <a:off x="3369618" y="8667750"/>
            <a:ext cx="11548765" cy="476250"/>
          </a:xfrm>
          <a:prstGeom prst="roundRect">
            <a:avLst>
              <a:gd fmla="val 50000" name="adj"/>
            </a:avLst>
          </a:prstGeom>
          <a:solidFill>
            <a:srgbClr val="FFD2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2"/>
          <p:cNvSpPr/>
          <p:nvPr/>
        </p:nvSpPr>
        <p:spPr>
          <a:xfrm>
            <a:off x="3463086" y="8801100"/>
            <a:ext cx="11361828" cy="24765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102033"/>
              </a:buClr>
              <a:buSzPts val="1650"/>
              <a:buFont typeface="Inter"/>
              <a:buNone/>
            </a:pPr>
            <a:r>
              <a:rPr b="1" i="0" lang="en-US" sz="1650" u="none" cap="none" strike="noStrike">
                <a:solidFill>
                  <a:srgbClr val="102033"/>
                </a:solidFill>
                <a:latin typeface="Inter"/>
                <a:ea typeface="Inter"/>
                <a:cs typeface="Inter"/>
                <a:sym typeface="Inter"/>
              </a:rPr>
              <a:t>COMPILE ONCE · INVOKE PER REQUEST · EVERY STEP TRACEABLE IN LANGSMITH</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505" name="Shape 505"/>
        <p:cNvGrpSpPr/>
        <p:nvPr/>
      </p:nvGrpSpPr>
      <p:grpSpPr>
        <a:xfrm>
          <a:off x="0" y="0"/>
          <a:ext cx="0" cy="0"/>
          <a:chOff x="0" y="0"/>
          <a:chExt cx="0" cy="0"/>
        </a:xfrm>
      </p:grpSpPr>
      <p:sp>
        <p:nvSpPr>
          <p:cNvPr id="506" name="Google Shape;506;p23"/>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507" name="Google Shape;507;p23"/>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508" name="Google Shape;508;p23"/>
          <p:cNvSpPr/>
          <p:nvPr/>
        </p:nvSpPr>
        <p:spPr>
          <a:xfrm>
            <a:off x="16561891" y="457200"/>
            <a:ext cx="88790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20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509" name="Google Shape;509;p23"/>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510" name="Google Shape;510;p23"/>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A RAG chat graph — five nodes, one loop</a:t>
            </a:r>
            <a:endParaRPr b="0" i="0" sz="3900" u="none" cap="none" strike="noStrike">
              <a:solidFill>
                <a:schemeClr val="dk1"/>
              </a:solidFill>
              <a:latin typeface="Calibri"/>
              <a:ea typeface="Calibri"/>
              <a:cs typeface="Calibri"/>
              <a:sym typeface="Calibri"/>
            </a:endParaRPr>
          </a:p>
        </p:txBody>
      </p:sp>
      <p:sp>
        <p:nvSpPr>
          <p:cNvPr id="511" name="Google Shape;511;p23"/>
          <p:cNvSpPr/>
          <p:nvPr/>
        </p:nvSpPr>
        <p:spPr>
          <a:xfrm>
            <a:off x="914400" y="2448967"/>
            <a:ext cx="13735050" cy="81141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Rewrite the follow-up · retrieve from Qdrant · grade the chunks · generate — or loop back if the grade fails.</a:t>
            </a:r>
            <a:endParaRPr b="0" i="0" sz="2100" u="none" cap="none" strike="noStrike">
              <a:solidFill>
                <a:schemeClr val="dk1"/>
              </a:solidFill>
              <a:latin typeface="Calibri"/>
              <a:ea typeface="Calibri"/>
              <a:cs typeface="Calibri"/>
              <a:sym typeface="Calibri"/>
            </a:endParaRPr>
          </a:p>
        </p:txBody>
      </p:sp>
      <p:sp>
        <p:nvSpPr>
          <p:cNvPr id="512" name="Google Shape;512;p23"/>
          <p:cNvSpPr/>
          <p:nvPr/>
        </p:nvSpPr>
        <p:spPr>
          <a:xfrm>
            <a:off x="914400" y="5615136"/>
            <a:ext cx="2834580" cy="801886"/>
          </a:xfrm>
          <a:prstGeom prst="roundRect">
            <a:avLst>
              <a:gd fmla="val 50000" name="adj"/>
            </a:avLst>
          </a:prstGeom>
          <a:solidFill>
            <a:srgbClr val="F8F6EF"/>
          </a:solidFill>
          <a:ln cap="flat" cmpd="sng" w="19050">
            <a:solidFill>
              <a:srgbClr val="D49000"/>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a:off x="2054423" y="5805636"/>
            <a:ext cx="630585" cy="1714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050"/>
              <a:buFont typeface="Inter"/>
              <a:buNone/>
            </a:pPr>
            <a:r>
              <a:rPr b="1" i="0" lang="en-US" sz="1050" u="none" cap="none" strike="noStrike">
                <a:solidFill>
                  <a:srgbClr val="D49000"/>
                </a:solidFill>
                <a:latin typeface="Inter"/>
                <a:ea typeface="Inter"/>
                <a:cs typeface="Inter"/>
                <a:sym typeface="Inter"/>
              </a:rPr>
              <a:t>START</a:t>
            </a:r>
            <a:endParaRPr b="0" i="0" sz="1050" u="none" cap="none" strike="noStrike">
              <a:solidFill>
                <a:schemeClr val="dk1"/>
              </a:solidFill>
              <a:latin typeface="Calibri"/>
              <a:ea typeface="Calibri"/>
              <a:cs typeface="Calibri"/>
              <a:sym typeface="Calibri"/>
            </a:endParaRPr>
          </a:p>
        </p:txBody>
      </p:sp>
      <p:sp>
        <p:nvSpPr>
          <p:cNvPr id="514" name="Google Shape;514;p23"/>
          <p:cNvSpPr/>
          <p:nvPr/>
        </p:nvSpPr>
        <p:spPr>
          <a:xfrm>
            <a:off x="1870174" y="5996136"/>
            <a:ext cx="999083" cy="268486"/>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1D2B3A"/>
              </a:buClr>
              <a:buSzPts val="1650"/>
              <a:buFont typeface="Play"/>
              <a:buNone/>
            </a:pPr>
            <a:r>
              <a:rPr b="1" i="0" lang="en-US" sz="1650" u="none" cap="none" strike="noStrike">
                <a:solidFill>
                  <a:srgbClr val="1D2B3A"/>
                </a:solidFill>
                <a:latin typeface="Play"/>
                <a:ea typeface="Play"/>
                <a:cs typeface="Play"/>
                <a:sym typeface="Play"/>
              </a:rPr>
              <a:t>User turn</a:t>
            </a:r>
            <a:endParaRPr b="0" i="0" sz="1650" u="none" cap="none" strike="noStrike">
              <a:solidFill>
                <a:schemeClr val="dk1"/>
              </a:solidFill>
              <a:latin typeface="Calibri"/>
              <a:ea typeface="Calibri"/>
              <a:cs typeface="Calibri"/>
              <a:sym typeface="Calibri"/>
            </a:endParaRPr>
          </a:p>
        </p:txBody>
      </p:sp>
      <p:sp>
        <p:nvSpPr>
          <p:cNvPr id="515" name="Google Shape;515;p23"/>
          <p:cNvSpPr/>
          <p:nvPr/>
        </p:nvSpPr>
        <p:spPr>
          <a:xfrm>
            <a:off x="3710880" y="5882729"/>
            <a:ext cx="6477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516" name="Google Shape;516;p23"/>
          <p:cNvSpPr/>
          <p:nvPr/>
        </p:nvSpPr>
        <p:spPr>
          <a:xfrm>
            <a:off x="4320480" y="5615136"/>
            <a:ext cx="2834580" cy="801886"/>
          </a:xfrm>
          <a:prstGeom prst="roundRect">
            <a:avLst>
              <a:gd fmla="val 50000" name="adj"/>
            </a:avLst>
          </a:prstGeom>
          <a:solidFill>
            <a:srgbClr val="F8F6EF"/>
          </a:solidFill>
          <a:ln cap="flat" cmpd="sng" w="19050">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3"/>
          <p:cNvSpPr/>
          <p:nvPr/>
        </p:nvSpPr>
        <p:spPr>
          <a:xfrm>
            <a:off x="5499348" y="5805636"/>
            <a:ext cx="553045" cy="1714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050"/>
              <a:buFont typeface="Inter"/>
              <a:buNone/>
            </a:pPr>
            <a:r>
              <a:rPr b="1" i="0" lang="en-US" sz="1050" u="none" cap="none" strike="noStrike">
                <a:solidFill>
                  <a:srgbClr val="214CB8"/>
                </a:solidFill>
                <a:latin typeface="Inter"/>
                <a:ea typeface="Inter"/>
                <a:cs typeface="Inter"/>
                <a:sym typeface="Inter"/>
              </a:rPr>
              <a:t>NODE</a:t>
            </a:r>
            <a:endParaRPr b="0" i="0" sz="1050" u="none" cap="none" strike="noStrike">
              <a:solidFill>
                <a:schemeClr val="dk1"/>
              </a:solidFill>
              <a:latin typeface="Calibri"/>
              <a:ea typeface="Calibri"/>
              <a:cs typeface="Calibri"/>
              <a:sym typeface="Calibri"/>
            </a:endParaRPr>
          </a:p>
        </p:txBody>
      </p:sp>
      <p:sp>
        <p:nvSpPr>
          <p:cNvPr id="518" name="Google Shape;518;p23"/>
          <p:cNvSpPr/>
          <p:nvPr/>
        </p:nvSpPr>
        <p:spPr>
          <a:xfrm>
            <a:off x="5350669" y="5996136"/>
            <a:ext cx="850404" cy="268486"/>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1D2B3A"/>
              </a:buClr>
              <a:buSzPts val="1650"/>
              <a:buFont typeface="Play"/>
              <a:buNone/>
            </a:pPr>
            <a:r>
              <a:rPr b="1" i="0" lang="en-US" sz="1650" u="none" cap="none" strike="noStrike">
                <a:solidFill>
                  <a:srgbClr val="1D2B3A"/>
                </a:solidFill>
                <a:latin typeface="Play"/>
                <a:ea typeface="Play"/>
                <a:cs typeface="Play"/>
                <a:sym typeface="Play"/>
              </a:rPr>
              <a:t>Rewrite</a:t>
            </a:r>
            <a:endParaRPr b="0" i="0" sz="1650" u="none" cap="none" strike="noStrike">
              <a:solidFill>
                <a:schemeClr val="dk1"/>
              </a:solidFill>
              <a:latin typeface="Calibri"/>
              <a:ea typeface="Calibri"/>
              <a:cs typeface="Calibri"/>
              <a:sym typeface="Calibri"/>
            </a:endParaRPr>
          </a:p>
        </p:txBody>
      </p:sp>
      <p:sp>
        <p:nvSpPr>
          <p:cNvPr id="519" name="Google Shape;519;p23"/>
          <p:cNvSpPr/>
          <p:nvPr/>
        </p:nvSpPr>
        <p:spPr>
          <a:xfrm>
            <a:off x="7116961" y="5882729"/>
            <a:ext cx="6477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520" name="Google Shape;520;p23"/>
          <p:cNvSpPr/>
          <p:nvPr/>
        </p:nvSpPr>
        <p:spPr>
          <a:xfrm>
            <a:off x="7726561" y="5615136"/>
            <a:ext cx="2834729" cy="801886"/>
          </a:xfrm>
          <a:prstGeom prst="roundRect">
            <a:avLst>
              <a:gd fmla="val 50000" name="adj"/>
            </a:avLst>
          </a:prstGeom>
          <a:solidFill>
            <a:srgbClr val="F8F6EF"/>
          </a:solidFill>
          <a:ln cap="flat" cmpd="sng" w="19050">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3"/>
          <p:cNvSpPr/>
          <p:nvPr/>
        </p:nvSpPr>
        <p:spPr>
          <a:xfrm>
            <a:off x="8905429" y="5805636"/>
            <a:ext cx="553045" cy="1714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050"/>
              <a:buFont typeface="Inter"/>
              <a:buNone/>
            </a:pPr>
            <a:r>
              <a:rPr b="1" i="0" lang="en-US" sz="1050" u="none" cap="none" strike="noStrike">
                <a:solidFill>
                  <a:srgbClr val="214CB8"/>
                </a:solidFill>
                <a:latin typeface="Inter"/>
                <a:ea typeface="Inter"/>
                <a:cs typeface="Inter"/>
                <a:sym typeface="Inter"/>
              </a:rPr>
              <a:t>NODE</a:t>
            </a:r>
            <a:endParaRPr b="0" i="0" sz="1050" u="none" cap="none" strike="noStrike">
              <a:solidFill>
                <a:schemeClr val="dk1"/>
              </a:solidFill>
              <a:latin typeface="Calibri"/>
              <a:ea typeface="Calibri"/>
              <a:cs typeface="Calibri"/>
              <a:sym typeface="Calibri"/>
            </a:endParaRPr>
          </a:p>
        </p:txBody>
      </p:sp>
      <p:sp>
        <p:nvSpPr>
          <p:cNvPr id="522" name="Google Shape;522;p23"/>
          <p:cNvSpPr/>
          <p:nvPr/>
        </p:nvSpPr>
        <p:spPr>
          <a:xfrm>
            <a:off x="8731002" y="5996136"/>
            <a:ext cx="902047" cy="268486"/>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1D2B3A"/>
              </a:buClr>
              <a:buSzPts val="1650"/>
              <a:buFont typeface="Play"/>
              <a:buNone/>
            </a:pPr>
            <a:r>
              <a:rPr b="1" i="0" lang="en-US" sz="1650" u="none" cap="none" strike="noStrike">
                <a:solidFill>
                  <a:srgbClr val="1D2B3A"/>
                </a:solidFill>
                <a:latin typeface="Play"/>
                <a:ea typeface="Play"/>
                <a:cs typeface="Play"/>
                <a:sym typeface="Play"/>
              </a:rPr>
              <a:t>Retrieve</a:t>
            </a:r>
            <a:endParaRPr b="0" i="0" sz="1650" u="none" cap="none" strike="noStrike">
              <a:solidFill>
                <a:schemeClr val="dk1"/>
              </a:solidFill>
              <a:latin typeface="Calibri"/>
              <a:ea typeface="Calibri"/>
              <a:cs typeface="Calibri"/>
              <a:sym typeface="Calibri"/>
            </a:endParaRPr>
          </a:p>
        </p:txBody>
      </p:sp>
      <p:sp>
        <p:nvSpPr>
          <p:cNvPr id="523" name="Google Shape;523;p23"/>
          <p:cNvSpPr/>
          <p:nvPr/>
        </p:nvSpPr>
        <p:spPr>
          <a:xfrm>
            <a:off x="10523190" y="5882729"/>
            <a:ext cx="6477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524" name="Google Shape;524;p23"/>
          <p:cNvSpPr/>
          <p:nvPr/>
        </p:nvSpPr>
        <p:spPr>
          <a:xfrm>
            <a:off x="11132790" y="5615136"/>
            <a:ext cx="2834580" cy="801886"/>
          </a:xfrm>
          <a:prstGeom prst="roundRect">
            <a:avLst>
              <a:gd fmla="val 50000" name="adj"/>
            </a:avLst>
          </a:prstGeom>
          <a:solidFill>
            <a:srgbClr val="F8F6EF"/>
          </a:solidFill>
          <a:ln cap="flat" cmpd="sng" w="19050">
            <a:solidFill>
              <a:srgbClr val="214CB8"/>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3"/>
          <p:cNvSpPr/>
          <p:nvPr/>
        </p:nvSpPr>
        <p:spPr>
          <a:xfrm>
            <a:off x="12311658" y="5805636"/>
            <a:ext cx="553045" cy="1714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050"/>
              <a:buFont typeface="Inter"/>
              <a:buNone/>
            </a:pPr>
            <a:r>
              <a:rPr b="1" i="0" lang="en-US" sz="1050" u="none" cap="none" strike="noStrike">
                <a:solidFill>
                  <a:srgbClr val="214CB8"/>
                </a:solidFill>
                <a:latin typeface="Inter"/>
                <a:ea typeface="Inter"/>
                <a:cs typeface="Inter"/>
                <a:sym typeface="Inter"/>
              </a:rPr>
              <a:t>NODE</a:t>
            </a:r>
            <a:endParaRPr b="0" i="0" sz="1050" u="none" cap="none" strike="noStrike">
              <a:solidFill>
                <a:schemeClr val="dk1"/>
              </a:solidFill>
              <a:latin typeface="Calibri"/>
              <a:ea typeface="Calibri"/>
              <a:cs typeface="Calibri"/>
              <a:sym typeface="Calibri"/>
            </a:endParaRPr>
          </a:p>
        </p:txBody>
      </p:sp>
      <p:sp>
        <p:nvSpPr>
          <p:cNvPr id="526" name="Google Shape;526;p23"/>
          <p:cNvSpPr/>
          <p:nvPr/>
        </p:nvSpPr>
        <p:spPr>
          <a:xfrm>
            <a:off x="12253168" y="5996136"/>
            <a:ext cx="669875" cy="268486"/>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1D2B3A"/>
              </a:buClr>
              <a:buSzPts val="1650"/>
              <a:buFont typeface="Play"/>
              <a:buNone/>
            </a:pPr>
            <a:r>
              <a:rPr b="1" i="0" lang="en-US" sz="1650" u="none" cap="none" strike="noStrike">
                <a:solidFill>
                  <a:srgbClr val="1D2B3A"/>
                </a:solidFill>
                <a:latin typeface="Play"/>
                <a:ea typeface="Play"/>
                <a:cs typeface="Play"/>
                <a:sym typeface="Play"/>
              </a:rPr>
              <a:t>Grade</a:t>
            </a:r>
            <a:endParaRPr b="0" i="0" sz="1650" u="none" cap="none" strike="noStrike">
              <a:solidFill>
                <a:schemeClr val="dk1"/>
              </a:solidFill>
              <a:latin typeface="Calibri"/>
              <a:ea typeface="Calibri"/>
              <a:cs typeface="Calibri"/>
              <a:sym typeface="Calibri"/>
            </a:endParaRPr>
          </a:p>
        </p:txBody>
      </p:sp>
      <p:sp>
        <p:nvSpPr>
          <p:cNvPr id="527" name="Google Shape;527;p23"/>
          <p:cNvSpPr/>
          <p:nvPr/>
        </p:nvSpPr>
        <p:spPr>
          <a:xfrm>
            <a:off x="13929271" y="5882729"/>
            <a:ext cx="647700" cy="3048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t>
            </a:r>
            <a:endParaRPr b="0" i="0" sz="2100" u="none" cap="none" strike="noStrike">
              <a:solidFill>
                <a:schemeClr val="dk1"/>
              </a:solidFill>
              <a:latin typeface="Calibri"/>
              <a:ea typeface="Calibri"/>
              <a:cs typeface="Calibri"/>
              <a:sym typeface="Calibri"/>
            </a:endParaRPr>
          </a:p>
        </p:txBody>
      </p:sp>
      <p:sp>
        <p:nvSpPr>
          <p:cNvPr id="528" name="Google Shape;528;p23"/>
          <p:cNvSpPr/>
          <p:nvPr/>
        </p:nvSpPr>
        <p:spPr>
          <a:xfrm>
            <a:off x="14538871" y="5615136"/>
            <a:ext cx="2834729" cy="801886"/>
          </a:xfrm>
          <a:prstGeom prst="roundRect">
            <a:avLst>
              <a:gd fmla="val 50000" name="adj"/>
            </a:avLst>
          </a:prstGeom>
          <a:solidFill>
            <a:srgbClr val="F8F6EF"/>
          </a:solidFill>
          <a:ln cap="flat" cmpd="sng" w="19050">
            <a:solidFill>
              <a:srgbClr val="47B881"/>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3"/>
          <p:cNvSpPr/>
          <p:nvPr/>
        </p:nvSpPr>
        <p:spPr>
          <a:xfrm>
            <a:off x="15500896" y="5862786"/>
            <a:ext cx="986730" cy="268486"/>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1D2B3A"/>
              </a:buClr>
              <a:buSzPts val="1650"/>
              <a:buFont typeface="Play"/>
              <a:buNone/>
            </a:pPr>
            <a:r>
              <a:rPr b="1" i="0" lang="en-US" sz="1650" u="none" cap="none" strike="noStrike">
                <a:solidFill>
                  <a:srgbClr val="1D2B3A"/>
                </a:solidFill>
                <a:latin typeface="Play"/>
                <a:ea typeface="Play"/>
                <a:cs typeface="Play"/>
                <a:sym typeface="Play"/>
              </a:rPr>
              <a:t>Generate</a:t>
            </a:r>
            <a:endParaRPr b="0" i="0" sz="1650" u="none" cap="none" strike="noStrike">
              <a:solidFill>
                <a:schemeClr val="dk1"/>
              </a:solidFill>
              <a:latin typeface="Calibri"/>
              <a:ea typeface="Calibri"/>
              <a:cs typeface="Calibri"/>
              <a:sym typeface="Calibri"/>
            </a:endParaRPr>
          </a:p>
        </p:txBody>
      </p:sp>
      <p:sp>
        <p:nvSpPr>
          <p:cNvPr id="530" name="Google Shape;530;p23"/>
          <p:cNvSpPr/>
          <p:nvPr/>
        </p:nvSpPr>
        <p:spPr>
          <a:xfrm>
            <a:off x="15780990" y="6093172"/>
            <a:ext cx="426541" cy="1714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050"/>
              <a:buFont typeface="Inter"/>
              <a:buNone/>
            </a:pPr>
            <a:r>
              <a:rPr b="1" i="0" lang="en-US" sz="1050" u="none" cap="none" strike="noStrike">
                <a:solidFill>
                  <a:srgbClr val="47B881"/>
                </a:solidFill>
                <a:latin typeface="Inter"/>
                <a:ea typeface="Inter"/>
                <a:cs typeface="Inter"/>
                <a:sym typeface="Inter"/>
              </a:rPr>
              <a:t>END</a:t>
            </a:r>
            <a:endParaRPr b="0" i="0" sz="1050" u="none" cap="none" strike="noStrike">
              <a:solidFill>
                <a:schemeClr val="dk1"/>
              </a:solidFill>
              <a:latin typeface="Calibri"/>
              <a:ea typeface="Calibri"/>
              <a:cs typeface="Calibri"/>
              <a:sym typeface="Calibri"/>
            </a:endParaRPr>
          </a:p>
        </p:txBody>
      </p:sp>
      <p:sp>
        <p:nvSpPr>
          <p:cNvPr id="531" name="Google Shape;531;p23"/>
          <p:cNvSpPr/>
          <p:nvPr/>
        </p:nvSpPr>
        <p:spPr>
          <a:xfrm>
            <a:off x="7684040" y="6893272"/>
            <a:ext cx="2919771" cy="483691"/>
          </a:xfrm>
          <a:prstGeom prst="rect">
            <a:avLst/>
          </a:prstGeom>
          <a:noFill/>
          <a:ln>
            <a:noFill/>
          </a:ln>
        </p:spPr>
        <p:txBody>
          <a:bodyPr anchorCtr="0" anchor="t" bIns="25400" lIns="25400" spcFirstLastPara="1" rIns="25400" wrap="square" tIns="25400">
            <a:noAutofit/>
          </a:bodyPr>
          <a:lstStyle/>
          <a:p>
            <a:pPr indent="0" lvl="0" marL="0" marR="0" rtl="0" algn="ctr">
              <a:lnSpc>
                <a:spcPct val="130000"/>
              </a:lnSpc>
              <a:spcBef>
                <a:spcPts val="0"/>
              </a:spcBef>
              <a:spcAft>
                <a:spcPts val="0"/>
              </a:spcAft>
              <a:buClr>
                <a:srgbClr val="536171"/>
              </a:buClr>
              <a:buSzPts val="1350"/>
              <a:buFont typeface="Inter"/>
              <a:buNone/>
            </a:pPr>
            <a:r>
              <a:rPr b="0" i="1" lang="en-US" sz="1350" u="none" cap="none" strike="noStrike">
                <a:solidFill>
                  <a:srgbClr val="536171"/>
                </a:solidFill>
                <a:latin typeface="Inter"/>
                <a:ea typeface="Inter"/>
                <a:cs typeface="Inter"/>
                <a:sym typeface="Inter"/>
              </a:rPr>
              <a:t>if grade = "weak" → refine question → retrieve again</a:t>
            </a:r>
            <a:endParaRPr b="0" i="0" sz="1350" u="none" cap="none" strike="noStrike">
              <a:solidFill>
                <a:schemeClr val="dk1"/>
              </a:solidFill>
              <a:latin typeface="Calibri"/>
              <a:ea typeface="Calibri"/>
              <a:cs typeface="Calibri"/>
              <a:sym typeface="Calibri"/>
            </a:endParaRPr>
          </a:p>
        </p:txBody>
      </p:sp>
      <p:sp>
        <p:nvSpPr>
          <p:cNvPr id="532" name="Google Shape;532;p23"/>
          <p:cNvSpPr/>
          <p:nvPr/>
        </p:nvSpPr>
        <p:spPr>
          <a:xfrm>
            <a:off x="11090272" y="6893272"/>
            <a:ext cx="2919618" cy="260896"/>
          </a:xfrm>
          <a:prstGeom prst="rect">
            <a:avLst/>
          </a:prstGeom>
          <a:noFill/>
          <a:ln>
            <a:noFill/>
          </a:ln>
        </p:spPr>
        <p:txBody>
          <a:bodyPr anchorCtr="0" anchor="t" bIns="25400" lIns="25400" spcFirstLastPara="1" rIns="25400" wrap="square" tIns="25400">
            <a:noAutofit/>
          </a:bodyPr>
          <a:lstStyle/>
          <a:p>
            <a:pPr indent="0" lvl="0" marL="0" marR="0" rtl="0" algn="ctr">
              <a:lnSpc>
                <a:spcPct val="13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 conditional edge</a:t>
            </a:r>
            <a:endParaRPr b="0" i="0" sz="1350" u="none" cap="none" strike="noStrike">
              <a:solidFill>
                <a:schemeClr val="dk1"/>
              </a:solidFill>
              <a:latin typeface="Calibri"/>
              <a:ea typeface="Calibri"/>
              <a:cs typeface="Calibri"/>
              <a:sym typeface="Calibri"/>
            </a:endParaRPr>
          </a:p>
        </p:txBody>
      </p:sp>
      <p:sp>
        <p:nvSpPr>
          <p:cNvPr id="533" name="Google Shape;533;p23"/>
          <p:cNvSpPr/>
          <p:nvPr/>
        </p:nvSpPr>
        <p:spPr>
          <a:xfrm>
            <a:off x="914400" y="8688735"/>
            <a:ext cx="3249198"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REWRITE</a:t>
            </a:r>
            <a:endParaRPr b="0" i="0" sz="1200" u="none" cap="none" strike="noStrike">
              <a:solidFill>
                <a:schemeClr val="dk1"/>
              </a:solidFill>
              <a:latin typeface="Calibri"/>
              <a:ea typeface="Calibri"/>
              <a:cs typeface="Calibri"/>
              <a:sym typeface="Calibri"/>
            </a:endParaRPr>
          </a:p>
        </p:txBody>
      </p:sp>
      <p:sp>
        <p:nvSpPr>
          <p:cNvPr id="534" name="Google Shape;534;p23"/>
          <p:cNvSpPr/>
          <p:nvPr/>
        </p:nvSpPr>
        <p:spPr>
          <a:xfrm>
            <a:off x="914400" y="8917335"/>
            <a:ext cx="3249198" cy="26476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275"/>
              <a:buFont typeface="Inter"/>
              <a:buNone/>
            </a:pPr>
            <a:r>
              <a:rPr b="0" i="0" lang="en-US" sz="1275" u="none" cap="none" strike="noStrike">
                <a:solidFill>
                  <a:srgbClr val="536171"/>
                </a:solidFill>
                <a:latin typeface="Inter"/>
                <a:ea typeface="Inter"/>
                <a:cs typeface="Inter"/>
                <a:sym typeface="Inter"/>
              </a:rPr>
              <a:t>Standalone question from history.</a:t>
            </a:r>
            <a:endParaRPr b="0" i="0" sz="1275" u="none" cap="none" strike="noStrike">
              <a:solidFill>
                <a:schemeClr val="dk1"/>
              </a:solidFill>
              <a:latin typeface="Calibri"/>
              <a:ea typeface="Calibri"/>
              <a:cs typeface="Calibri"/>
              <a:sym typeface="Calibri"/>
            </a:endParaRPr>
          </a:p>
        </p:txBody>
      </p:sp>
      <p:sp>
        <p:nvSpPr>
          <p:cNvPr id="535" name="Google Shape;535;p23"/>
          <p:cNvSpPr/>
          <p:nvPr/>
        </p:nvSpPr>
        <p:spPr>
          <a:xfrm>
            <a:off x="4240411" y="8688735"/>
            <a:ext cx="3249351"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RETRIEVE</a:t>
            </a:r>
            <a:endParaRPr b="0" i="0" sz="1200" u="none" cap="none" strike="noStrike">
              <a:solidFill>
                <a:schemeClr val="dk1"/>
              </a:solidFill>
              <a:latin typeface="Calibri"/>
              <a:ea typeface="Calibri"/>
              <a:cs typeface="Calibri"/>
              <a:sym typeface="Calibri"/>
            </a:endParaRPr>
          </a:p>
        </p:txBody>
      </p:sp>
      <p:sp>
        <p:nvSpPr>
          <p:cNvPr id="536" name="Google Shape;536;p23"/>
          <p:cNvSpPr/>
          <p:nvPr/>
        </p:nvSpPr>
        <p:spPr>
          <a:xfrm>
            <a:off x="4240411" y="8917335"/>
            <a:ext cx="3249351" cy="26476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275"/>
              <a:buFont typeface="Inter"/>
              <a:buNone/>
            </a:pPr>
            <a:r>
              <a:rPr b="0" i="0" lang="en-US" sz="1275" u="none" cap="none" strike="noStrike">
                <a:solidFill>
                  <a:srgbClr val="536171"/>
                </a:solidFill>
                <a:latin typeface="Inter"/>
                <a:ea typeface="Inter"/>
                <a:cs typeface="Inter"/>
                <a:sym typeface="Inter"/>
              </a:rPr>
              <a:t>Hybrid Qdrant search + tenant filter.</a:t>
            </a:r>
            <a:endParaRPr b="0" i="0" sz="1275" u="none" cap="none" strike="noStrike">
              <a:solidFill>
                <a:schemeClr val="dk1"/>
              </a:solidFill>
              <a:latin typeface="Calibri"/>
              <a:ea typeface="Calibri"/>
              <a:cs typeface="Calibri"/>
              <a:sym typeface="Calibri"/>
            </a:endParaRPr>
          </a:p>
        </p:txBody>
      </p:sp>
      <p:sp>
        <p:nvSpPr>
          <p:cNvPr id="537" name="Google Shape;537;p23"/>
          <p:cNvSpPr/>
          <p:nvPr/>
        </p:nvSpPr>
        <p:spPr>
          <a:xfrm>
            <a:off x="7566571" y="8688735"/>
            <a:ext cx="3249351"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GRADE</a:t>
            </a:r>
            <a:endParaRPr b="0" i="0" sz="1200" u="none" cap="none" strike="noStrike">
              <a:solidFill>
                <a:schemeClr val="dk1"/>
              </a:solidFill>
              <a:latin typeface="Calibri"/>
              <a:ea typeface="Calibri"/>
              <a:cs typeface="Calibri"/>
              <a:sym typeface="Calibri"/>
            </a:endParaRPr>
          </a:p>
        </p:txBody>
      </p:sp>
      <p:sp>
        <p:nvSpPr>
          <p:cNvPr id="538" name="Google Shape;538;p23"/>
          <p:cNvSpPr/>
          <p:nvPr/>
        </p:nvSpPr>
        <p:spPr>
          <a:xfrm>
            <a:off x="7566571" y="8917335"/>
            <a:ext cx="3249351" cy="26476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275"/>
              <a:buFont typeface="Inter"/>
              <a:buNone/>
            </a:pPr>
            <a:r>
              <a:rPr b="0" i="0" lang="en-US" sz="1275" u="none" cap="none" strike="noStrike">
                <a:solidFill>
                  <a:srgbClr val="536171"/>
                </a:solidFill>
                <a:latin typeface="Inter"/>
                <a:ea typeface="Inter"/>
                <a:cs typeface="Inter"/>
                <a:sym typeface="Inter"/>
              </a:rPr>
              <a:t>Model judges chunk relevance.</a:t>
            </a:r>
            <a:endParaRPr b="0" i="0" sz="1275" u="none" cap="none" strike="noStrike">
              <a:solidFill>
                <a:schemeClr val="dk1"/>
              </a:solidFill>
              <a:latin typeface="Calibri"/>
              <a:ea typeface="Calibri"/>
              <a:cs typeface="Calibri"/>
              <a:sym typeface="Calibri"/>
            </a:endParaRPr>
          </a:p>
        </p:txBody>
      </p:sp>
      <p:sp>
        <p:nvSpPr>
          <p:cNvPr id="539" name="Google Shape;539;p23"/>
          <p:cNvSpPr/>
          <p:nvPr/>
        </p:nvSpPr>
        <p:spPr>
          <a:xfrm>
            <a:off x="10892730" y="8688735"/>
            <a:ext cx="3249351"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200"/>
              <a:buFont typeface="Inter"/>
              <a:buNone/>
            </a:pPr>
            <a:r>
              <a:rPr b="1" i="0" lang="en-US" sz="1200" u="none" cap="none" strike="noStrike">
                <a:solidFill>
                  <a:srgbClr val="D49000"/>
                </a:solidFill>
                <a:latin typeface="Inter"/>
                <a:ea typeface="Inter"/>
                <a:cs typeface="Inter"/>
                <a:sym typeface="Inter"/>
              </a:rPr>
              <a:t>LOOP</a:t>
            </a:r>
            <a:endParaRPr b="0" i="0" sz="1200" u="none" cap="none" strike="noStrike">
              <a:solidFill>
                <a:schemeClr val="dk1"/>
              </a:solidFill>
              <a:latin typeface="Calibri"/>
              <a:ea typeface="Calibri"/>
              <a:cs typeface="Calibri"/>
              <a:sym typeface="Calibri"/>
            </a:endParaRPr>
          </a:p>
        </p:txBody>
      </p:sp>
      <p:sp>
        <p:nvSpPr>
          <p:cNvPr id="540" name="Google Shape;540;p23"/>
          <p:cNvSpPr/>
          <p:nvPr/>
        </p:nvSpPr>
        <p:spPr>
          <a:xfrm>
            <a:off x="10892730" y="8917335"/>
            <a:ext cx="3249351" cy="26476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275"/>
              <a:buFont typeface="Inter"/>
              <a:buNone/>
            </a:pPr>
            <a:r>
              <a:rPr b="0" i="0" lang="en-US" sz="1275" u="none" cap="none" strike="noStrike">
                <a:solidFill>
                  <a:srgbClr val="536171"/>
                </a:solidFill>
                <a:latin typeface="Inter"/>
                <a:ea typeface="Inter"/>
                <a:cs typeface="Inter"/>
                <a:sym typeface="Inter"/>
              </a:rPr>
              <a:t>Refine and re-retrieve up to N times.</a:t>
            </a:r>
            <a:endParaRPr b="0" i="0" sz="1275" u="none" cap="none" strike="noStrike">
              <a:solidFill>
                <a:schemeClr val="dk1"/>
              </a:solidFill>
              <a:latin typeface="Calibri"/>
              <a:ea typeface="Calibri"/>
              <a:cs typeface="Calibri"/>
              <a:sym typeface="Calibri"/>
            </a:endParaRPr>
          </a:p>
        </p:txBody>
      </p:sp>
      <p:sp>
        <p:nvSpPr>
          <p:cNvPr id="541" name="Google Shape;541;p23"/>
          <p:cNvSpPr/>
          <p:nvPr/>
        </p:nvSpPr>
        <p:spPr>
          <a:xfrm>
            <a:off x="14218890" y="8688735"/>
            <a:ext cx="3249351"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200"/>
              <a:buFont typeface="Inter"/>
              <a:buNone/>
            </a:pPr>
            <a:r>
              <a:rPr b="1" i="0" lang="en-US" sz="1200" u="none" cap="none" strike="noStrike">
                <a:solidFill>
                  <a:srgbClr val="47B881"/>
                </a:solidFill>
                <a:latin typeface="Inter"/>
                <a:ea typeface="Inter"/>
                <a:cs typeface="Inter"/>
                <a:sym typeface="Inter"/>
              </a:rPr>
              <a:t>GENERATE</a:t>
            </a:r>
            <a:endParaRPr b="0" i="0" sz="1200" u="none" cap="none" strike="noStrike">
              <a:solidFill>
                <a:schemeClr val="dk1"/>
              </a:solidFill>
              <a:latin typeface="Calibri"/>
              <a:ea typeface="Calibri"/>
              <a:cs typeface="Calibri"/>
              <a:sym typeface="Calibri"/>
            </a:endParaRPr>
          </a:p>
        </p:txBody>
      </p:sp>
      <p:sp>
        <p:nvSpPr>
          <p:cNvPr id="542" name="Google Shape;542;p23"/>
          <p:cNvSpPr/>
          <p:nvPr/>
        </p:nvSpPr>
        <p:spPr>
          <a:xfrm>
            <a:off x="14218890" y="8917335"/>
            <a:ext cx="3249351" cy="26476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536171"/>
              </a:buClr>
              <a:buSzPts val="1275"/>
              <a:buFont typeface="Inter"/>
              <a:buNone/>
            </a:pPr>
            <a:r>
              <a:rPr b="0" i="0" lang="en-US" sz="1275" u="none" cap="none" strike="noStrike">
                <a:solidFill>
                  <a:srgbClr val="536171"/>
                </a:solidFill>
                <a:latin typeface="Inter"/>
                <a:ea typeface="Inter"/>
                <a:cs typeface="Inter"/>
                <a:sym typeface="Inter"/>
              </a:rPr>
              <a:t>Stream tokens back to the client.</a:t>
            </a:r>
            <a:endParaRPr b="0" i="0" sz="1275"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547" name="Shape 547"/>
        <p:cNvGrpSpPr/>
        <p:nvPr/>
      </p:nvGrpSpPr>
      <p:grpSpPr>
        <a:xfrm>
          <a:off x="0" y="0"/>
          <a:ext cx="0" cy="0"/>
          <a:chOff x="0" y="0"/>
          <a:chExt cx="0" cy="0"/>
        </a:xfrm>
      </p:grpSpPr>
      <p:sp>
        <p:nvSpPr>
          <p:cNvPr id="548" name="Google Shape;548;p24"/>
          <p:cNvSpPr/>
          <p:nvPr/>
        </p:nvSpPr>
        <p:spPr>
          <a:xfrm>
            <a:off x="914400" y="45720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549" name="Google Shape;549;p24"/>
          <p:cNvSpPr/>
          <p:nvPr/>
        </p:nvSpPr>
        <p:spPr>
          <a:xfrm>
            <a:off x="914400" y="74295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550" name="Google Shape;550;p24"/>
          <p:cNvSpPr/>
          <p:nvPr/>
        </p:nvSpPr>
        <p:spPr>
          <a:xfrm>
            <a:off x="16612939" y="457200"/>
            <a:ext cx="8370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21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551" name="Google Shape;551;p24"/>
          <p:cNvSpPr/>
          <p:nvPr/>
        </p:nvSpPr>
        <p:spPr>
          <a:xfrm>
            <a:off x="914400" y="9620250"/>
            <a:ext cx="52557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552" name="Google Shape;552;p24"/>
          <p:cNvSpPr/>
          <p:nvPr/>
        </p:nvSpPr>
        <p:spPr>
          <a:xfrm>
            <a:off x="914400" y="1714500"/>
            <a:ext cx="16953000" cy="563100"/>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State — the vocabulary every node speaks</a:t>
            </a:r>
            <a:endParaRPr b="0" i="0" sz="3900" u="none" cap="none" strike="noStrike">
              <a:solidFill>
                <a:schemeClr val="dk1"/>
              </a:solidFill>
              <a:latin typeface="Calibri"/>
              <a:ea typeface="Calibri"/>
              <a:cs typeface="Calibri"/>
              <a:sym typeface="Calibri"/>
            </a:endParaRPr>
          </a:p>
        </p:txBody>
      </p:sp>
      <p:sp>
        <p:nvSpPr>
          <p:cNvPr id="553" name="Google Shape;553;p24"/>
          <p:cNvSpPr/>
          <p:nvPr/>
        </p:nvSpPr>
        <p:spPr>
          <a:xfrm>
            <a:off x="914400" y="2448967"/>
            <a:ext cx="13735200" cy="4248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Annotated channels merge across nodes; plain fields overwrite. Define once, reuse everywhere.</a:t>
            </a:r>
            <a:endParaRPr b="0" i="0" sz="2100" u="none" cap="none" strike="noStrike">
              <a:solidFill>
                <a:schemeClr val="dk1"/>
              </a:solidFill>
              <a:latin typeface="Calibri"/>
              <a:ea typeface="Calibri"/>
              <a:cs typeface="Calibri"/>
              <a:sym typeface="Calibri"/>
            </a:endParaRPr>
          </a:p>
        </p:txBody>
      </p:sp>
      <p:sp>
        <p:nvSpPr>
          <p:cNvPr id="554" name="Google Shape;554;p24"/>
          <p:cNvSpPr/>
          <p:nvPr/>
        </p:nvSpPr>
        <p:spPr>
          <a:xfrm>
            <a:off x="914400" y="3429000"/>
            <a:ext cx="9334500" cy="4810200"/>
          </a:xfrm>
          <a:prstGeom prst="roundRect">
            <a:avLst>
              <a:gd fmla="val 1584" name="adj"/>
            </a:avLst>
          </a:prstGeom>
          <a:solidFill>
            <a:srgbClr val="1D2B3A"/>
          </a:solidFill>
          <a:ln>
            <a:noFill/>
          </a:ln>
          <a:effectLst>
            <a:outerShdw blurRad="304800" rotWithShape="0" algn="bl" dir="5400000" dist="114300">
              <a:srgbClr val="030A1C">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4"/>
          <p:cNvSpPr/>
          <p:nvPr/>
        </p:nvSpPr>
        <p:spPr>
          <a:xfrm>
            <a:off x="1219200" y="3733800"/>
            <a:ext cx="9004800" cy="42387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i="1" lang="en-US" sz="1575">
                <a:solidFill>
                  <a:srgbClr val="8FA0AF"/>
                </a:solidFill>
                <a:latin typeface="JetBrains Mono"/>
                <a:ea typeface="JetBrains Mono"/>
                <a:cs typeface="JetBrains Mono"/>
                <a:sym typeface="JetBrains Mono"/>
              </a:rPr>
              <a:t># graph/state.py</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FACC15"/>
                </a:solidFill>
                <a:latin typeface="JetBrains Mono"/>
                <a:ea typeface="JetBrains Mono"/>
                <a:cs typeface="JetBrains Mono"/>
                <a:sym typeface="JetBrains Mono"/>
              </a:rPr>
              <a:t>from</a:t>
            </a:r>
            <a:r>
              <a:rPr b="0" i="0" lang="en-US" sz="1575">
                <a:solidFill>
                  <a:srgbClr val="E8E2D4"/>
                </a:solidFill>
                <a:latin typeface="JetBrains Mono"/>
                <a:ea typeface="JetBrains Mono"/>
                <a:cs typeface="JetBrains Mono"/>
                <a:sym typeface="JetBrains Mono"/>
              </a:rPr>
              <a:t> typing </a:t>
            </a:r>
            <a:r>
              <a:rPr b="0" i="0" lang="en-US" sz="1575">
                <a:solidFill>
                  <a:srgbClr val="FACC15"/>
                </a:solidFill>
                <a:latin typeface="JetBrains Mono"/>
                <a:ea typeface="JetBrains Mono"/>
                <a:cs typeface="JetBrains Mono"/>
                <a:sym typeface="JetBrains Mono"/>
              </a:rPr>
              <a:t>import</a:t>
            </a:r>
            <a:r>
              <a:rPr b="0" i="0" lang="en-US" sz="1575">
                <a:solidFill>
                  <a:srgbClr val="E8E2D4"/>
                </a:solidFill>
                <a:latin typeface="JetBrains Mono"/>
                <a:ea typeface="JetBrains Mono"/>
                <a:cs typeface="JetBrains Mono"/>
                <a:sym typeface="JetBrains Mono"/>
              </a:rPr>
              <a:t> Annotated, TypedDict</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FACC15"/>
                </a:solidFill>
                <a:latin typeface="JetBrains Mono"/>
                <a:ea typeface="JetBrains Mono"/>
                <a:cs typeface="JetBrains Mono"/>
                <a:sym typeface="JetBrains Mono"/>
              </a:rPr>
              <a:t>from</a:t>
            </a:r>
            <a:r>
              <a:rPr b="0" i="0" lang="en-US" sz="1575">
                <a:solidFill>
                  <a:srgbClr val="E8E2D4"/>
                </a:solidFill>
                <a:latin typeface="JetBrains Mono"/>
                <a:ea typeface="JetBrains Mono"/>
                <a:cs typeface="JetBrains Mono"/>
                <a:sym typeface="JetBrains Mono"/>
              </a:rPr>
              <a:t> langchain_core.messages </a:t>
            </a:r>
            <a:r>
              <a:rPr b="0" i="0" lang="en-US" sz="1575">
                <a:solidFill>
                  <a:srgbClr val="FACC15"/>
                </a:solidFill>
                <a:latin typeface="JetBrains Mono"/>
                <a:ea typeface="JetBrains Mono"/>
                <a:cs typeface="JetBrains Mono"/>
                <a:sym typeface="JetBrains Mono"/>
              </a:rPr>
              <a:t>import</a:t>
            </a:r>
            <a:r>
              <a:rPr b="0" i="0" lang="en-US" sz="1575">
                <a:solidFill>
                  <a:srgbClr val="E8E2D4"/>
                </a:solidFill>
                <a:latin typeface="JetBrains Mono"/>
                <a:ea typeface="JetBrains Mono"/>
                <a:cs typeface="JetBrains Mono"/>
                <a:sym typeface="JetBrains Mono"/>
              </a:rPr>
              <a:t> BaseMessage</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FACC15"/>
                </a:solidFill>
                <a:latin typeface="JetBrains Mono"/>
                <a:ea typeface="JetBrains Mono"/>
                <a:cs typeface="JetBrains Mono"/>
                <a:sym typeface="JetBrains Mono"/>
              </a:rPr>
              <a:t>from</a:t>
            </a:r>
            <a:r>
              <a:rPr b="0" i="0" lang="en-US" sz="1575">
                <a:solidFill>
                  <a:srgbClr val="E8E2D4"/>
                </a:solidFill>
                <a:latin typeface="JetBrains Mono"/>
                <a:ea typeface="JetBrains Mono"/>
                <a:cs typeface="JetBrains Mono"/>
                <a:sym typeface="JetBrains Mono"/>
              </a:rPr>
              <a:t> langgraph.graph.message </a:t>
            </a:r>
            <a:r>
              <a:rPr b="0" i="0" lang="en-US" sz="1575">
                <a:solidFill>
                  <a:srgbClr val="FACC15"/>
                </a:solidFill>
                <a:latin typeface="JetBrains Mono"/>
                <a:ea typeface="JetBrains Mono"/>
                <a:cs typeface="JetBrains Mono"/>
                <a:sym typeface="JetBrains Mono"/>
              </a:rPr>
              <a:t>import</a:t>
            </a:r>
            <a:r>
              <a:rPr b="0" i="0" lang="en-US" sz="1575">
                <a:solidFill>
                  <a:srgbClr val="E8E2D4"/>
                </a:solidFill>
                <a:latin typeface="JetBrains Mono"/>
                <a:ea typeface="JetBrains Mono"/>
                <a:cs typeface="JetBrains Mono"/>
                <a:sym typeface="JetBrains Mono"/>
              </a:rPr>
              <a:t> add_messages</a:t>
            </a:r>
            <a:endParaRPr b="0" i="1" sz="1575">
              <a:solidFill>
                <a:srgbClr val="8FA0AF"/>
              </a:solidFill>
              <a:latin typeface="JetBrains Mono"/>
              <a:ea typeface="JetBrains Mono"/>
              <a:cs typeface="JetBrains Mono"/>
              <a:sym typeface="JetBrains Mono"/>
            </a:endParaRPr>
          </a:p>
          <a:p>
            <a:pPr indent="0" lvl="0" marL="0" rtl="0" algn="l">
              <a:spcBef>
                <a:spcPts val="1125"/>
              </a:spcBef>
              <a:spcAft>
                <a:spcPts val="0"/>
              </a:spcAft>
              <a:buNone/>
            </a:pPr>
            <a:r>
              <a:rPr b="0" i="0" lang="en-US" sz="1575">
                <a:solidFill>
                  <a:srgbClr val="FACC15"/>
                </a:solidFill>
                <a:latin typeface="JetBrains Mono"/>
                <a:ea typeface="JetBrains Mono"/>
                <a:cs typeface="JetBrains Mono"/>
                <a:sym typeface="JetBrains Mono"/>
              </a:rPr>
              <a:t>class</a:t>
            </a:r>
            <a:r>
              <a:rPr b="0" i="1" lang="en-US" sz="1575">
                <a:solidFill>
                  <a:srgbClr val="8FA0AF"/>
                </a:solidFill>
                <a:latin typeface="JetBrains Mono"/>
                <a:ea typeface="JetBrains Mono"/>
                <a:cs typeface="JetBrains Mono"/>
                <a:sym typeface="JetBrains Mono"/>
              </a:rPr>
              <a:t> </a:t>
            </a:r>
            <a:r>
              <a:rPr b="0" i="0" lang="en-US" sz="1575">
                <a:solidFill>
                  <a:srgbClr val="6D8BE8"/>
                </a:solidFill>
                <a:latin typeface="JetBrains Mono"/>
                <a:ea typeface="JetBrains Mono"/>
                <a:cs typeface="JetBrains Mono"/>
                <a:sym typeface="JetBrains Mono"/>
              </a:rPr>
              <a:t>ChatState</a:t>
            </a:r>
            <a:r>
              <a:rPr b="0" i="0" lang="en-US" sz="1575">
                <a:solidFill>
                  <a:srgbClr val="E8E2D4"/>
                </a:solidFill>
                <a:latin typeface="JetBrains Mono"/>
                <a:ea typeface="JetBrains Mono"/>
                <a:cs typeface="JetBrains Mono"/>
                <a:sym typeface="JetBrains Mono"/>
              </a:rPr>
              <a:t>(TypedDict):</a:t>
            </a:r>
            <a:endParaRPr b="0" i="1" sz="1575">
              <a:solidFill>
                <a:srgbClr val="8FA0AF"/>
              </a:solidFill>
              <a:latin typeface="JetBrains Mono"/>
              <a:ea typeface="JetBrains Mono"/>
              <a:cs typeface="JetBrains Mono"/>
              <a:sym typeface="JetBrains Mono"/>
            </a:endParaRPr>
          </a:p>
          <a:p>
            <a:pPr indent="0" lvl="0" marL="3048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tenant_id: </a:t>
            </a:r>
            <a:r>
              <a:rPr b="0" i="0" lang="en-US" sz="1575">
                <a:solidFill>
                  <a:srgbClr val="FACC15"/>
                </a:solidFill>
                <a:latin typeface="JetBrains Mono"/>
                <a:ea typeface="JetBrains Mono"/>
                <a:cs typeface="JetBrains Mono"/>
                <a:sym typeface="JetBrains Mono"/>
              </a:rPr>
              <a:t>str</a:t>
            </a:r>
            <a:endParaRPr b="0" i="1" sz="1575">
              <a:solidFill>
                <a:srgbClr val="8FA0AF"/>
              </a:solidFill>
              <a:latin typeface="JetBrains Mono"/>
              <a:ea typeface="JetBrains Mono"/>
              <a:cs typeface="JetBrains Mono"/>
              <a:sym typeface="JetBrains Mono"/>
            </a:endParaRPr>
          </a:p>
          <a:p>
            <a:pPr indent="0" lvl="0" marL="3048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question: </a:t>
            </a:r>
            <a:r>
              <a:rPr b="0" i="0" lang="en-US" sz="1575">
                <a:solidFill>
                  <a:srgbClr val="FACC15"/>
                </a:solidFill>
                <a:latin typeface="JetBrains Mono"/>
                <a:ea typeface="JetBrains Mono"/>
                <a:cs typeface="JetBrains Mono"/>
                <a:sym typeface="JetBrains Mono"/>
              </a:rPr>
              <a:t>str</a:t>
            </a:r>
            <a:r>
              <a:rPr b="0" i="1" lang="en-US" sz="1575">
                <a:solidFill>
                  <a:srgbClr val="8FA0AF"/>
                </a:solidFill>
                <a:latin typeface="JetBrains Mono"/>
                <a:ea typeface="JetBrains Mono"/>
                <a:cs typeface="JetBrains Mono"/>
                <a:sym typeface="JetBrains Mono"/>
              </a:rPr>
              <a:t> # raw user turn</a:t>
            </a:r>
            <a:endParaRPr b="0" i="1" sz="1575">
              <a:solidFill>
                <a:srgbClr val="8FA0AF"/>
              </a:solidFill>
              <a:latin typeface="JetBrains Mono"/>
              <a:ea typeface="JetBrains Mono"/>
              <a:cs typeface="JetBrains Mono"/>
              <a:sym typeface="JetBrains Mono"/>
            </a:endParaRPr>
          </a:p>
          <a:p>
            <a:pPr indent="0" lvl="0" marL="3048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rewritten: </a:t>
            </a:r>
            <a:r>
              <a:rPr b="0" i="0" lang="en-US" sz="1575">
                <a:solidFill>
                  <a:srgbClr val="FACC15"/>
                </a:solidFill>
                <a:latin typeface="JetBrains Mono"/>
                <a:ea typeface="JetBrains Mono"/>
                <a:cs typeface="JetBrains Mono"/>
                <a:sym typeface="JetBrains Mono"/>
              </a:rPr>
              <a:t>str</a:t>
            </a:r>
            <a:r>
              <a:rPr b="0" i="1" lang="en-US" sz="1575">
                <a:solidFill>
                  <a:srgbClr val="8FA0AF"/>
                </a:solidFill>
                <a:latin typeface="JetBrains Mono"/>
                <a:ea typeface="JetBrains Mono"/>
                <a:cs typeface="JetBrains Mono"/>
                <a:sym typeface="JetBrains Mono"/>
              </a:rPr>
              <a:t> # standalone form</a:t>
            </a:r>
            <a:endParaRPr b="0" i="1" sz="1575">
              <a:solidFill>
                <a:srgbClr val="8FA0AF"/>
              </a:solidFill>
              <a:latin typeface="JetBrains Mono"/>
              <a:ea typeface="JetBrains Mono"/>
              <a:cs typeface="JetBrains Mono"/>
              <a:sym typeface="JetBrains Mono"/>
            </a:endParaRPr>
          </a:p>
          <a:p>
            <a:pPr indent="0" lvl="0" marL="3048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documents: </a:t>
            </a:r>
            <a:r>
              <a:rPr b="0" i="0" lang="en-US" sz="1575">
                <a:solidFill>
                  <a:srgbClr val="FACC15"/>
                </a:solidFill>
                <a:latin typeface="JetBrains Mono"/>
                <a:ea typeface="JetBrains Mono"/>
                <a:cs typeface="JetBrains Mono"/>
                <a:sym typeface="JetBrains Mono"/>
              </a:rPr>
              <a:t>list</a:t>
            </a:r>
            <a:r>
              <a:rPr b="0" i="0" lang="en-US" sz="1575">
                <a:solidFill>
                  <a:srgbClr val="E8E2D4"/>
                </a:solidFill>
                <a:latin typeface="JetBrains Mono"/>
                <a:ea typeface="JetBrains Mono"/>
                <a:cs typeface="JetBrains Mono"/>
                <a:sym typeface="JetBrains Mono"/>
              </a:rPr>
              <a:t>[</a:t>
            </a:r>
            <a:r>
              <a:rPr b="0" i="0" lang="en-US" sz="1575">
                <a:solidFill>
                  <a:srgbClr val="FACC15"/>
                </a:solidFill>
                <a:latin typeface="JetBrains Mono"/>
                <a:ea typeface="JetBrains Mono"/>
                <a:cs typeface="JetBrains Mono"/>
                <a:sym typeface="JetBrains Mono"/>
              </a:rPr>
              <a:t>dict</a:t>
            </a:r>
            <a:r>
              <a:rPr b="0" i="0" lang="en-US" sz="1575">
                <a:solidFill>
                  <a:srgbClr val="E8E2D4"/>
                </a:solidFill>
                <a:latin typeface="JetBrains Mono"/>
                <a:ea typeface="JetBrains Mono"/>
                <a:cs typeface="JetBrains Mono"/>
                <a:sym typeface="JetBrains Mono"/>
              </a:rPr>
              <a:t>] </a:t>
            </a:r>
            <a:r>
              <a:rPr b="0" i="1" lang="en-US" sz="1575">
                <a:solidFill>
                  <a:srgbClr val="8FA0AF"/>
                </a:solidFill>
                <a:latin typeface="JetBrains Mono"/>
                <a:ea typeface="JetBrains Mono"/>
                <a:cs typeface="JetBrains Mono"/>
                <a:sym typeface="JetBrains Mono"/>
              </a:rPr>
              <a:t># Qdrant chunks</a:t>
            </a:r>
            <a:endParaRPr b="0" i="1" sz="1575">
              <a:solidFill>
                <a:srgbClr val="8FA0AF"/>
              </a:solidFill>
              <a:latin typeface="JetBrains Mono"/>
              <a:ea typeface="JetBrains Mono"/>
              <a:cs typeface="JetBrains Mono"/>
              <a:sym typeface="JetBrains Mono"/>
            </a:endParaRPr>
          </a:p>
          <a:p>
            <a:pPr indent="0" lvl="0" marL="3048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grade: </a:t>
            </a:r>
            <a:r>
              <a:rPr b="0" i="0" lang="en-US" sz="1575">
                <a:solidFill>
                  <a:srgbClr val="FACC15"/>
                </a:solidFill>
                <a:latin typeface="JetBrains Mono"/>
                <a:ea typeface="JetBrains Mono"/>
                <a:cs typeface="JetBrains Mono"/>
                <a:sym typeface="JetBrains Mono"/>
              </a:rPr>
              <a:t>str</a:t>
            </a:r>
            <a:r>
              <a:rPr b="0" i="1" lang="en-US" sz="1575">
                <a:solidFill>
                  <a:srgbClr val="8FA0AF"/>
                </a:solidFill>
                <a:latin typeface="JetBrains Mono"/>
                <a:ea typeface="JetBrains Mono"/>
                <a:cs typeface="JetBrains Mono"/>
                <a:sym typeface="JetBrains Mono"/>
              </a:rPr>
              <a:t> # "good" | "weak"</a:t>
            </a:r>
            <a:endParaRPr b="0" i="1" sz="1575">
              <a:solidFill>
                <a:srgbClr val="8FA0AF"/>
              </a:solidFill>
              <a:latin typeface="JetBrains Mono"/>
              <a:ea typeface="JetBrains Mono"/>
              <a:cs typeface="JetBrains Mono"/>
              <a:sym typeface="JetBrains Mono"/>
            </a:endParaRPr>
          </a:p>
          <a:p>
            <a:pPr indent="0" lvl="0" marL="3048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attempts: </a:t>
            </a:r>
            <a:r>
              <a:rPr b="0" i="0" lang="en-US" sz="1575">
                <a:solidFill>
                  <a:srgbClr val="FACC15"/>
                </a:solidFill>
                <a:latin typeface="JetBrains Mono"/>
                <a:ea typeface="JetBrains Mono"/>
                <a:cs typeface="JetBrains Mono"/>
                <a:sym typeface="JetBrains Mono"/>
              </a:rPr>
              <a:t>int</a:t>
            </a:r>
            <a:r>
              <a:rPr b="0" i="1" lang="en-US" sz="1575">
                <a:solidFill>
                  <a:srgbClr val="8FA0AF"/>
                </a:solidFill>
                <a:latin typeface="JetBrains Mono"/>
                <a:ea typeface="JetBrains Mono"/>
                <a:cs typeface="JetBrains Mono"/>
                <a:sym typeface="JetBrains Mono"/>
              </a:rPr>
              <a:t> # for loop cap</a:t>
            </a:r>
            <a:endParaRPr b="0" i="1" sz="1575">
              <a:solidFill>
                <a:srgbClr val="8FA0AF"/>
              </a:solidFill>
              <a:latin typeface="JetBrains Mono"/>
              <a:ea typeface="JetBrains Mono"/>
              <a:cs typeface="JetBrains Mono"/>
              <a:sym typeface="JetBrains Mono"/>
            </a:endParaRPr>
          </a:p>
          <a:p>
            <a:pPr indent="0" lvl="0" marL="3048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messages: Annotated[</a:t>
            </a:r>
            <a:r>
              <a:rPr b="0" i="0" lang="en-US" sz="1575">
                <a:solidFill>
                  <a:srgbClr val="FACC15"/>
                </a:solidFill>
                <a:latin typeface="JetBrains Mono"/>
                <a:ea typeface="JetBrains Mono"/>
                <a:cs typeface="JetBrains Mono"/>
                <a:sym typeface="JetBrains Mono"/>
              </a:rPr>
              <a:t>list</a:t>
            </a:r>
            <a:r>
              <a:rPr b="0" i="0" lang="en-US" sz="1575">
                <a:solidFill>
                  <a:srgbClr val="E8E2D4"/>
                </a:solidFill>
                <a:latin typeface="JetBrains Mono"/>
                <a:ea typeface="JetBrains Mono"/>
                <a:cs typeface="JetBrains Mono"/>
                <a:sym typeface="JetBrains Mono"/>
              </a:rPr>
              <a:t>[BaseMessage], add_messages]</a:t>
            </a:r>
            <a:endParaRPr b="0" i="1" sz="1575">
              <a:solidFill>
                <a:srgbClr val="8FA0AF"/>
              </a:solidFill>
              <a:latin typeface="JetBrains Mono"/>
              <a:ea typeface="JetBrains Mono"/>
              <a:cs typeface="JetBrains Mono"/>
              <a:sym typeface="JetBrains Mono"/>
            </a:endParaRPr>
          </a:p>
          <a:p>
            <a:pPr indent="0" lvl="0" marL="3048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answer: </a:t>
            </a:r>
            <a:r>
              <a:rPr b="0" i="0" lang="en-US" sz="1575">
                <a:solidFill>
                  <a:srgbClr val="FACC15"/>
                </a:solidFill>
                <a:latin typeface="JetBrains Mono"/>
                <a:ea typeface="JetBrains Mono"/>
                <a:cs typeface="JetBrains Mono"/>
                <a:sym typeface="JetBrains Mono"/>
              </a:rPr>
              <a:t>str</a:t>
            </a:r>
            <a:r>
              <a:rPr b="0" i="1" lang="en-US" sz="1575">
                <a:solidFill>
                  <a:srgbClr val="8FA0AF"/>
                </a:solidFill>
                <a:latin typeface="JetBrains Mono"/>
                <a:ea typeface="JetBrains Mono"/>
                <a:cs typeface="JetBrains Mono"/>
                <a:sym typeface="JetBrains Mono"/>
              </a:rPr>
              <a:t> # final streamed text</a:t>
            </a:r>
            <a:endParaRPr b="0" i="1" sz="1575">
              <a:solidFill>
                <a:srgbClr val="8FA0AF"/>
              </a:solidFill>
              <a:latin typeface="JetBrains Mono"/>
              <a:ea typeface="JetBrains Mono"/>
              <a:cs typeface="JetBrains Mono"/>
              <a:sym typeface="JetBrains Mono"/>
            </a:endParaRPr>
          </a:p>
        </p:txBody>
      </p:sp>
      <p:sp>
        <p:nvSpPr>
          <p:cNvPr id="556" name="Google Shape;556;p24"/>
          <p:cNvSpPr/>
          <p:nvPr/>
        </p:nvSpPr>
        <p:spPr>
          <a:xfrm>
            <a:off x="10706100" y="3505200"/>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4"/>
          <p:cNvSpPr/>
          <p:nvPr/>
        </p:nvSpPr>
        <p:spPr>
          <a:xfrm>
            <a:off x="11020425" y="3819525"/>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TYPED CHANNELS</a:t>
            </a:r>
            <a:endParaRPr b="0" i="0" sz="1350" u="none" cap="none" strike="noStrike">
              <a:solidFill>
                <a:schemeClr val="dk1"/>
              </a:solidFill>
              <a:latin typeface="Calibri"/>
              <a:ea typeface="Calibri"/>
              <a:cs typeface="Calibri"/>
              <a:sym typeface="Calibri"/>
            </a:endParaRPr>
          </a:p>
        </p:txBody>
      </p:sp>
      <p:sp>
        <p:nvSpPr>
          <p:cNvPr id="558" name="Google Shape;558;p24"/>
          <p:cNvSpPr/>
          <p:nvPr/>
        </p:nvSpPr>
        <p:spPr>
          <a:xfrm>
            <a:off x="11020425" y="4143375"/>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LangGraph reads the hints to know which fields are managed state.</a:t>
            </a:r>
            <a:endParaRPr b="0" i="0" sz="1800" u="none" cap="none" strike="noStrike">
              <a:solidFill>
                <a:schemeClr val="dk1"/>
              </a:solidFill>
              <a:latin typeface="Calibri"/>
              <a:ea typeface="Calibri"/>
              <a:cs typeface="Calibri"/>
              <a:sym typeface="Calibri"/>
            </a:endParaRPr>
          </a:p>
        </p:txBody>
      </p:sp>
      <p:sp>
        <p:nvSpPr>
          <p:cNvPr id="559" name="Google Shape;559;p24"/>
          <p:cNvSpPr/>
          <p:nvPr/>
        </p:nvSpPr>
        <p:spPr>
          <a:xfrm>
            <a:off x="10706100" y="5292030"/>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4"/>
          <p:cNvSpPr/>
          <p:nvPr/>
        </p:nvSpPr>
        <p:spPr>
          <a:xfrm>
            <a:off x="11020425" y="5606355"/>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ADD_MESSAGES REDUCER</a:t>
            </a:r>
            <a:endParaRPr b="0" i="0" sz="1350" u="none" cap="none" strike="noStrike">
              <a:solidFill>
                <a:schemeClr val="dk1"/>
              </a:solidFill>
              <a:latin typeface="Calibri"/>
              <a:ea typeface="Calibri"/>
              <a:cs typeface="Calibri"/>
              <a:sym typeface="Calibri"/>
            </a:endParaRPr>
          </a:p>
        </p:txBody>
      </p:sp>
      <p:sp>
        <p:nvSpPr>
          <p:cNvPr id="561" name="Google Shape;561;p24"/>
          <p:cNvSpPr/>
          <p:nvPr/>
        </p:nvSpPr>
        <p:spPr>
          <a:xfrm>
            <a:off x="11020425" y="5930205"/>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Each node returns </a:t>
            </a:r>
            <a:r>
              <a:rPr b="0" i="1" lang="en-US" sz="1800" u="none" cap="none" strike="noStrike">
                <a:solidFill>
                  <a:srgbClr val="1D2B3A"/>
                </a:solidFill>
                <a:latin typeface="Inter"/>
                <a:ea typeface="Inter"/>
                <a:cs typeface="Inter"/>
                <a:sym typeface="Inter"/>
              </a:rPr>
              <a:t>new </a:t>
            </a:r>
            <a:r>
              <a:rPr b="0" i="0" lang="en-US" sz="1800" u="none" cap="none" strike="noStrike">
                <a:solidFill>
                  <a:srgbClr val="1D2B3A"/>
                </a:solidFill>
                <a:latin typeface="Inter"/>
                <a:ea typeface="Inter"/>
                <a:cs typeface="Inter"/>
                <a:sym typeface="Inter"/>
              </a:rPr>
              <a:t>messages; LangGraph appends — never lose history.</a:t>
            </a:r>
            <a:endParaRPr b="0" i="0" sz="1800" u="none" cap="none" strike="noStrike">
              <a:solidFill>
                <a:schemeClr val="dk1"/>
              </a:solidFill>
              <a:latin typeface="Calibri"/>
              <a:ea typeface="Calibri"/>
              <a:cs typeface="Calibri"/>
              <a:sym typeface="Calibri"/>
            </a:endParaRPr>
          </a:p>
        </p:txBody>
      </p:sp>
      <p:sp>
        <p:nvSpPr>
          <p:cNvPr id="562" name="Google Shape;562;p24"/>
          <p:cNvSpPr/>
          <p:nvPr/>
        </p:nvSpPr>
        <p:spPr>
          <a:xfrm>
            <a:off x="10706100" y="7078861"/>
            <a:ext cx="6667500" cy="1284000"/>
          </a:xfrm>
          <a:prstGeom prst="roundRect">
            <a:avLst>
              <a:gd fmla="val 5935"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4"/>
          <p:cNvSpPr/>
          <p:nvPr/>
        </p:nvSpPr>
        <p:spPr>
          <a:xfrm>
            <a:off x="11020425" y="7393186"/>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ATTEMPTS CAP</a:t>
            </a:r>
            <a:endParaRPr b="0" i="0" sz="1350" u="none" cap="none" strike="noStrike">
              <a:solidFill>
                <a:schemeClr val="dk1"/>
              </a:solidFill>
              <a:latin typeface="Calibri"/>
              <a:ea typeface="Calibri"/>
              <a:cs typeface="Calibri"/>
              <a:sym typeface="Calibri"/>
            </a:endParaRPr>
          </a:p>
        </p:txBody>
      </p:sp>
      <p:sp>
        <p:nvSpPr>
          <p:cNvPr id="564" name="Google Shape;564;p24"/>
          <p:cNvSpPr/>
          <p:nvPr/>
        </p:nvSpPr>
        <p:spPr>
          <a:xfrm>
            <a:off x="11020425" y="7717036"/>
            <a:ext cx="6219900" cy="3696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One field stops the retry loop running forever.</a:t>
            </a:r>
            <a:endParaRPr b="0" i="0" sz="1800" u="none" cap="none" strike="noStrike">
              <a:solidFill>
                <a:schemeClr val="dk1"/>
              </a:solidFill>
              <a:latin typeface="Calibri"/>
              <a:ea typeface="Calibri"/>
              <a:cs typeface="Calibri"/>
              <a:sym typeface="Calibri"/>
            </a:endParaRPr>
          </a:p>
        </p:txBody>
      </p:sp>
      <p:sp>
        <p:nvSpPr>
          <p:cNvPr id="565" name="Google Shape;565;p24"/>
          <p:cNvSpPr/>
          <p:nvPr/>
        </p:nvSpPr>
        <p:spPr>
          <a:xfrm>
            <a:off x="10706100" y="8534251"/>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4"/>
          <p:cNvSpPr/>
          <p:nvPr/>
        </p:nvSpPr>
        <p:spPr>
          <a:xfrm>
            <a:off x="11020425" y="8848576"/>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TENANT ON STATE</a:t>
            </a:r>
            <a:endParaRPr b="0" i="0" sz="1350" u="none" cap="none" strike="noStrike">
              <a:solidFill>
                <a:schemeClr val="dk1"/>
              </a:solidFill>
              <a:latin typeface="Calibri"/>
              <a:ea typeface="Calibri"/>
              <a:cs typeface="Calibri"/>
              <a:sym typeface="Calibri"/>
            </a:endParaRPr>
          </a:p>
        </p:txBody>
      </p:sp>
      <p:sp>
        <p:nvSpPr>
          <p:cNvPr id="567" name="Google Shape;567;p24"/>
          <p:cNvSpPr/>
          <p:nvPr/>
        </p:nvSpPr>
        <p:spPr>
          <a:xfrm>
            <a:off x="11020425" y="9172426"/>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Carried into every retrieval call — no node forgets the filter.</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572" name="Shape 572"/>
        <p:cNvGrpSpPr/>
        <p:nvPr/>
      </p:nvGrpSpPr>
      <p:grpSpPr>
        <a:xfrm>
          <a:off x="0" y="0"/>
          <a:ext cx="0" cy="0"/>
          <a:chOff x="0" y="0"/>
          <a:chExt cx="0" cy="0"/>
        </a:xfrm>
      </p:grpSpPr>
      <p:sp>
        <p:nvSpPr>
          <p:cNvPr id="573" name="Google Shape;573;p25"/>
          <p:cNvSpPr/>
          <p:nvPr/>
        </p:nvSpPr>
        <p:spPr>
          <a:xfrm>
            <a:off x="914400" y="45720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574" name="Google Shape;574;p25"/>
          <p:cNvSpPr/>
          <p:nvPr/>
        </p:nvSpPr>
        <p:spPr>
          <a:xfrm>
            <a:off x="914400" y="74295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575" name="Google Shape;575;p25"/>
          <p:cNvSpPr/>
          <p:nvPr/>
        </p:nvSpPr>
        <p:spPr>
          <a:xfrm>
            <a:off x="16571268" y="457200"/>
            <a:ext cx="8784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22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576" name="Google Shape;576;p25"/>
          <p:cNvSpPr/>
          <p:nvPr/>
        </p:nvSpPr>
        <p:spPr>
          <a:xfrm>
            <a:off x="914400" y="9620250"/>
            <a:ext cx="52557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577" name="Google Shape;577;p25"/>
          <p:cNvSpPr/>
          <p:nvPr/>
        </p:nvSpPr>
        <p:spPr>
          <a:xfrm>
            <a:off x="914400" y="1714500"/>
            <a:ext cx="16953000" cy="563100"/>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Retrieve node — a function, nothing more</a:t>
            </a:r>
            <a:endParaRPr b="0" i="0" sz="3900" u="none" cap="none" strike="noStrike">
              <a:solidFill>
                <a:schemeClr val="dk1"/>
              </a:solidFill>
              <a:latin typeface="Calibri"/>
              <a:ea typeface="Calibri"/>
              <a:cs typeface="Calibri"/>
              <a:sym typeface="Calibri"/>
            </a:endParaRPr>
          </a:p>
        </p:txBody>
      </p:sp>
      <p:sp>
        <p:nvSpPr>
          <p:cNvPr id="578" name="Google Shape;578;p25"/>
          <p:cNvSpPr/>
          <p:nvPr/>
        </p:nvSpPr>
        <p:spPr>
          <a:xfrm>
            <a:off x="914400" y="2448967"/>
            <a:ext cx="13735200" cy="4248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State in. State-patch out. Callable in a unit test without LangGraph anywhere near it.</a:t>
            </a:r>
            <a:endParaRPr b="0" i="0" sz="2100" u="none" cap="none" strike="noStrike">
              <a:solidFill>
                <a:schemeClr val="dk1"/>
              </a:solidFill>
              <a:latin typeface="Calibri"/>
              <a:ea typeface="Calibri"/>
              <a:cs typeface="Calibri"/>
              <a:sym typeface="Calibri"/>
            </a:endParaRPr>
          </a:p>
        </p:txBody>
      </p:sp>
      <p:sp>
        <p:nvSpPr>
          <p:cNvPr id="579" name="Google Shape;579;p25"/>
          <p:cNvSpPr/>
          <p:nvPr/>
        </p:nvSpPr>
        <p:spPr>
          <a:xfrm>
            <a:off x="914400" y="3429000"/>
            <a:ext cx="9334500" cy="6010200"/>
          </a:xfrm>
          <a:prstGeom prst="roundRect">
            <a:avLst>
              <a:gd fmla="val 1268" name="adj"/>
            </a:avLst>
          </a:prstGeom>
          <a:solidFill>
            <a:srgbClr val="1D2B3A"/>
          </a:solidFill>
          <a:ln>
            <a:noFill/>
          </a:ln>
          <a:effectLst>
            <a:outerShdw blurRad="304800" rotWithShape="0" algn="bl" dir="5400000" dist="114300">
              <a:srgbClr val="030A1C">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5"/>
          <p:cNvSpPr/>
          <p:nvPr/>
        </p:nvSpPr>
        <p:spPr>
          <a:xfrm>
            <a:off x="1219200" y="3429000"/>
            <a:ext cx="9004800" cy="6010200"/>
          </a:xfrm>
          <a:prstGeom prst="rect">
            <a:avLst/>
          </a:prstGeom>
          <a:solidFill>
            <a:srgbClr val="000000">
              <a:alpha val="0"/>
            </a:srgbClr>
          </a:solidFill>
          <a:ln>
            <a:noFill/>
          </a:ln>
        </p:spPr>
        <p:txBody>
          <a:bodyPr anchorCtr="0" anchor="ctr" bIns="304800" lIns="304800" spcFirstLastPara="1" rIns="304800" wrap="square" tIns="304800">
            <a:noAutofit/>
          </a:bodyPr>
          <a:lstStyle/>
          <a:p>
            <a:pPr indent="0" lvl="0" marL="0" rtl="0" algn="l">
              <a:spcBef>
                <a:spcPts val="0"/>
              </a:spcBef>
              <a:spcAft>
                <a:spcPts val="0"/>
              </a:spcAft>
              <a:buNone/>
            </a:pPr>
            <a:r>
              <a:rPr b="0" i="1" lang="en-US" sz="1575">
                <a:solidFill>
                  <a:srgbClr val="8FA0AF"/>
                </a:solidFill>
                <a:latin typeface="JetBrains Mono"/>
                <a:ea typeface="JetBrains Mono"/>
                <a:cs typeface="JetBrains Mono"/>
                <a:sym typeface="JetBrains Mono"/>
              </a:rPr>
              <a:t># graph/nodes/retrieve.py</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FACC15"/>
                </a:solidFill>
                <a:latin typeface="JetBrains Mono"/>
                <a:ea typeface="JetBrains Mono"/>
                <a:cs typeface="JetBrains Mono"/>
                <a:sym typeface="JetBrains Mono"/>
              </a:rPr>
              <a:t>from</a:t>
            </a:r>
            <a:r>
              <a:rPr b="0" i="0" lang="en-US" sz="1575">
                <a:solidFill>
                  <a:srgbClr val="E8E2D4"/>
                </a:solidFill>
                <a:latin typeface="JetBrains Mono"/>
                <a:ea typeface="JetBrains Mono"/>
                <a:cs typeface="JetBrains Mono"/>
                <a:sym typeface="JetBrains Mono"/>
              </a:rPr>
              <a:t> .state </a:t>
            </a:r>
            <a:r>
              <a:rPr b="0" i="0" lang="en-US" sz="1575">
                <a:solidFill>
                  <a:srgbClr val="FACC15"/>
                </a:solidFill>
                <a:latin typeface="JetBrains Mono"/>
                <a:ea typeface="JetBrains Mono"/>
                <a:cs typeface="JetBrains Mono"/>
                <a:sym typeface="JetBrains Mono"/>
              </a:rPr>
              <a:t>import</a:t>
            </a:r>
            <a:r>
              <a:rPr b="0" i="0" lang="en-US" sz="1575">
                <a:solidFill>
                  <a:srgbClr val="E8E2D4"/>
                </a:solidFill>
                <a:latin typeface="JetBrains Mono"/>
                <a:ea typeface="JetBrains Mono"/>
                <a:cs typeface="JetBrains Mono"/>
                <a:sym typeface="JetBrains Mono"/>
              </a:rPr>
              <a:t> ChatState</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FACC15"/>
                </a:solidFill>
                <a:latin typeface="JetBrains Mono"/>
                <a:ea typeface="JetBrains Mono"/>
                <a:cs typeface="JetBrains Mono"/>
                <a:sym typeface="JetBrains Mono"/>
              </a:rPr>
              <a:t>from</a:t>
            </a:r>
            <a:r>
              <a:rPr b="0" i="0" lang="en-US" sz="1575">
                <a:solidFill>
                  <a:srgbClr val="E8E2D4"/>
                </a:solidFill>
                <a:latin typeface="JetBrains Mono"/>
                <a:ea typeface="JetBrains Mono"/>
                <a:cs typeface="JetBrains Mono"/>
                <a:sym typeface="JetBrains Mono"/>
              </a:rPr>
              <a:t> search.hybrid </a:t>
            </a:r>
            <a:r>
              <a:rPr b="0" i="0" lang="en-US" sz="1575">
                <a:solidFill>
                  <a:srgbClr val="FACC15"/>
                </a:solidFill>
                <a:latin typeface="JetBrains Mono"/>
                <a:ea typeface="JetBrains Mono"/>
                <a:cs typeface="JetBrains Mono"/>
                <a:sym typeface="JetBrains Mono"/>
              </a:rPr>
              <a:t>import</a:t>
            </a:r>
            <a:r>
              <a:rPr b="0" i="0" lang="en-US" sz="1575">
                <a:solidFill>
                  <a:srgbClr val="E8E2D4"/>
                </a:solidFill>
                <a:latin typeface="JetBrains Mono"/>
                <a:ea typeface="JetBrains Mono"/>
                <a:cs typeface="JetBrains Mono"/>
                <a:sym typeface="JetBrains Mono"/>
              </a:rPr>
              <a:t> hybrid_search</a:t>
            </a:r>
            <a:endParaRPr b="0" i="1" sz="1575">
              <a:solidFill>
                <a:srgbClr val="8FA0AF"/>
              </a:solidFill>
              <a:latin typeface="JetBrains Mono"/>
              <a:ea typeface="JetBrains Mono"/>
              <a:cs typeface="JetBrains Mono"/>
              <a:sym typeface="JetBrains Mono"/>
            </a:endParaRPr>
          </a:p>
          <a:p>
            <a:pPr indent="0" lvl="0" marL="0" rtl="0" algn="l">
              <a:spcBef>
                <a:spcPts val="1125"/>
              </a:spcBef>
              <a:spcAft>
                <a:spcPts val="0"/>
              </a:spcAft>
              <a:buNone/>
            </a:pPr>
            <a:r>
              <a:rPr b="0" i="0" lang="en-US" sz="1575">
                <a:solidFill>
                  <a:srgbClr val="FACC15"/>
                </a:solidFill>
                <a:latin typeface="JetBrains Mono"/>
                <a:ea typeface="JetBrains Mono"/>
                <a:cs typeface="JetBrains Mono"/>
                <a:sym typeface="JetBrains Mono"/>
              </a:rPr>
              <a:t>def</a:t>
            </a:r>
            <a:r>
              <a:rPr b="0" i="1" lang="en-US" sz="1575">
                <a:solidFill>
                  <a:srgbClr val="8FA0AF"/>
                </a:solidFill>
                <a:latin typeface="JetBrains Mono"/>
                <a:ea typeface="JetBrains Mono"/>
                <a:cs typeface="JetBrains Mono"/>
                <a:sym typeface="JetBrains Mono"/>
              </a:rPr>
              <a:t> </a:t>
            </a:r>
            <a:r>
              <a:rPr b="0" i="0" lang="en-US" sz="1575">
                <a:solidFill>
                  <a:srgbClr val="6D8BE8"/>
                </a:solidFill>
                <a:latin typeface="JetBrains Mono"/>
                <a:ea typeface="JetBrains Mono"/>
                <a:cs typeface="JetBrains Mono"/>
                <a:sym typeface="JetBrains Mono"/>
              </a:rPr>
              <a:t>retrieve</a:t>
            </a:r>
            <a:r>
              <a:rPr b="0" i="0" lang="en-US" sz="1575">
                <a:solidFill>
                  <a:srgbClr val="E8E2D4"/>
                </a:solidFill>
                <a:latin typeface="JetBrains Mono"/>
                <a:ea typeface="JetBrains Mono"/>
                <a:cs typeface="JetBrains Mono"/>
                <a:sym typeface="JetBrains Mono"/>
              </a:rPr>
              <a:t>(state: ChatState) </a:t>
            </a:r>
            <a:r>
              <a:rPr b="0" i="0" lang="en-US" sz="1575">
                <a:solidFill>
                  <a:srgbClr val="FACC15"/>
                </a:solidFill>
                <a:latin typeface="JetBrains Mono"/>
                <a:ea typeface="JetBrains Mono"/>
                <a:cs typeface="JetBrains Mono"/>
                <a:sym typeface="JetBrains Mono"/>
              </a:rPr>
              <a:t>-&gt;</a:t>
            </a:r>
            <a:r>
              <a:rPr b="0" i="1" lang="en-US" sz="1575">
                <a:solidFill>
                  <a:srgbClr val="8FA0AF"/>
                </a:solidFill>
                <a:latin typeface="JetBrains Mono"/>
                <a:ea typeface="JetBrains Mono"/>
                <a:cs typeface="JetBrains Mono"/>
                <a:sym typeface="JetBrains Mono"/>
              </a:rPr>
              <a:t> </a:t>
            </a:r>
            <a:r>
              <a:rPr b="0" i="0" lang="en-US" sz="1575">
                <a:solidFill>
                  <a:srgbClr val="FACC15"/>
                </a:solidFill>
                <a:latin typeface="JetBrains Mono"/>
                <a:ea typeface="JetBrains Mono"/>
                <a:cs typeface="JetBrains Mono"/>
                <a:sym typeface="JetBrains Mono"/>
              </a:rPr>
              <a:t>dict</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hits = </a:t>
            </a:r>
            <a:r>
              <a:rPr b="0" i="0" lang="en-US" sz="1575">
                <a:solidFill>
                  <a:srgbClr val="6D8BE8"/>
                </a:solidFill>
                <a:latin typeface="JetBrains Mono"/>
                <a:ea typeface="JetBrains Mono"/>
                <a:cs typeface="JetBrains Mono"/>
                <a:sym typeface="JetBrains Mono"/>
              </a:rPr>
              <a:t>hybrid_search</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7620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query=state[</a:t>
            </a:r>
            <a:r>
              <a:rPr b="0" i="0" lang="en-US" sz="1575">
                <a:solidFill>
                  <a:srgbClr val="47B881"/>
                </a:solidFill>
                <a:latin typeface="JetBrains Mono"/>
                <a:ea typeface="JetBrains Mono"/>
                <a:cs typeface="JetBrains Mono"/>
                <a:sym typeface="JetBrains Mono"/>
              </a:rPr>
              <a:t>"rewritten"</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7620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tenant_id=state[</a:t>
            </a:r>
            <a:r>
              <a:rPr b="0" i="0" lang="en-US" sz="1575">
                <a:solidFill>
                  <a:srgbClr val="47B881"/>
                </a:solidFill>
                <a:latin typeface="JetBrains Mono"/>
                <a:ea typeface="JetBrains Mono"/>
                <a:cs typeface="JetBrains Mono"/>
                <a:sym typeface="JetBrains Mono"/>
              </a:rPr>
              <a:t>"tenant_id"</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7620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k=</a:t>
            </a:r>
            <a:r>
              <a:rPr b="0" i="0" lang="en-US" sz="1575">
                <a:solidFill>
                  <a:srgbClr val="D49000"/>
                </a:solidFill>
                <a:latin typeface="JetBrains Mono"/>
                <a:ea typeface="JetBrains Mono"/>
                <a:cs typeface="JetBrains Mono"/>
                <a:sym typeface="JetBrains Mono"/>
              </a:rPr>
              <a:t>8</a:t>
            </a:r>
            <a:endParaRPr b="0" i="1" sz="1575">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381000" marR="0" rtl="0" algn="l">
              <a:spcBef>
                <a:spcPts val="750"/>
              </a:spcBef>
              <a:spcAft>
                <a:spcPts val="0"/>
              </a:spcAft>
              <a:buNone/>
            </a:pPr>
            <a:r>
              <a:rPr b="0" i="0" lang="en-US" sz="1575">
                <a:solidFill>
                  <a:srgbClr val="E8E2D4"/>
                </a:solidFill>
                <a:latin typeface="JetBrains Mono"/>
                <a:ea typeface="JetBrains Mono"/>
                <a:cs typeface="JetBrains Mono"/>
                <a:sym typeface="JetBrains Mono"/>
              </a:rPr>
              <a:t>docs = [</a:t>
            </a:r>
            <a:endParaRPr b="0" i="1" sz="1575">
              <a:solidFill>
                <a:srgbClr val="8FA0AF"/>
              </a:solidFill>
              <a:latin typeface="JetBrains Mono"/>
              <a:ea typeface="JetBrains Mono"/>
              <a:cs typeface="JetBrains Mono"/>
              <a:sym typeface="JetBrains Mono"/>
            </a:endParaRPr>
          </a:p>
          <a:p>
            <a:pPr indent="0" lvl="0" marL="7620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1143000" marR="0" rtl="0" algn="l">
              <a:spcBef>
                <a:spcPts val="0"/>
              </a:spcBef>
              <a:spcAft>
                <a:spcPts val="0"/>
              </a:spcAft>
              <a:buNone/>
            </a:pPr>
            <a:r>
              <a:rPr b="0" i="0" lang="en-US" sz="1575">
                <a:solidFill>
                  <a:srgbClr val="47B881"/>
                </a:solidFill>
                <a:latin typeface="JetBrains Mono"/>
                <a:ea typeface="JetBrains Mono"/>
                <a:cs typeface="JetBrains Mono"/>
                <a:sym typeface="JetBrains Mono"/>
              </a:rPr>
              <a:t>"id"</a:t>
            </a:r>
            <a:r>
              <a:rPr b="0" i="0" lang="en-US" sz="1575">
                <a:solidFill>
                  <a:srgbClr val="E8E2D4"/>
                </a:solidFill>
                <a:latin typeface="JetBrains Mono"/>
                <a:ea typeface="JetBrains Mono"/>
                <a:cs typeface="JetBrains Mono"/>
                <a:sym typeface="JetBrains Mono"/>
              </a:rPr>
              <a:t>: h.id, </a:t>
            </a:r>
            <a:r>
              <a:rPr b="0" i="0" lang="en-US" sz="1575">
                <a:solidFill>
                  <a:srgbClr val="47B881"/>
                </a:solidFill>
                <a:latin typeface="JetBrains Mono"/>
                <a:ea typeface="JetBrains Mono"/>
                <a:cs typeface="JetBrains Mono"/>
                <a:sym typeface="JetBrains Mono"/>
              </a:rPr>
              <a:t>"text"</a:t>
            </a:r>
            <a:r>
              <a:rPr b="0" i="0" lang="en-US" sz="1575">
                <a:solidFill>
                  <a:srgbClr val="E8E2D4"/>
                </a:solidFill>
                <a:latin typeface="JetBrains Mono"/>
                <a:ea typeface="JetBrains Mono"/>
                <a:cs typeface="JetBrains Mono"/>
                <a:sym typeface="JetBrains Mono"/>
              </a:rPr>
              <a:t>: h.payload[</a:t>
            </a:r>
            <a:r>
              <a:rPr b="0" i="0" lang="en-US" sz="1575">
                <a:solidFill>
                  <a:srgbClr val="47B881"/>
                </a:solidFill>
                <a:latin typeface="JetBrains Mono"/>
                <a:ea typeface="JetBrains Mono"/>
                <a:cs typeface="JetBrains Mono"/>
                <a:sym typeface="JetBrains Mono"/>
              </a:rPr>
              <a:t>"text"</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1143000" marR="0" rtl="0" algn="l">
              <a:spcBef>
                <a:spcPts val="0"/>
              </a:spcBef>
              <a:spcAft>
                <a:spcPts val="0"/>
              </a:spcAft>
              <a:buNone/>
            </a:pPr>
            <a:r>
              <a:rPr b="0" i="0" lang="en-US" sz="1575">
                <a:solidFill>
                  <a:srgbClr val="47B881"/>
                </a:solidFill>
                <a:latin typeface="JetBrains Mono"/>
                <a:ea typeface="JetBrains Mono"/>
                <a:cs typeface="JetBrains Mono"/>
                <a:sym typeface="JetBrains Mono"/>
              </a:rPr>
              <a:t>"source"</a:t>
            </a:r>
            <a:r>
              <a:rPr b="0" i="0" lang="en-US" sz="1575">
                <a:solidFill>
                  <a:srgbClr val="E8E2D4"/>
                </a:solidFill>
                <a:latin typeface="JetBrains Mono"/>
                <a:ea typeface="JetBrains Mono"/>
                <a:cs typeface="JetBrains Mono"/>
                <a:sym typeface="JetBrains Mono"/>
              </a:rPr>
              <a:t>: h.payload[</a:t>
            </a:r>
            <a:r>
              <a:rPr b="0" i="0" lang="en-US" sz="1575">
                <a:solidFill>
                  <a:srgbClr val="47B881"/>
                </a:solidFill>
                <a:latin typeface="JetBrains Mono"/>
                <a:ea typeface="JetBrains Mono"/>
                <a:cs typeface="JetBrains Mono"/>
                <a:sym typeface="JetBrains Mono"/>
              </a:rPr>
              <a:t>"source_url"</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1143000" marR="0" rtl="0" algn="l">
              <a:spcBef>
                <a:spcPts val="0"/>
              </a:spcBef>
              <a:spcAft>
                <a:spcPts val="0"/>
              </a:spcAft>
              <a:buNone/>
            </a:pPr>
            <a:r>
              <a:rPr b="0" i="0" lang="en-US" sz="1575">
                <a:solidFill>
                  <a:srgbClr val="47B881"/>
                </a:solidFill>
                <a:latin typeface="JetBrains Mono"/>
                <a:ea typeface="JetBrains Mono"/>
                <a:cs typeface="JetBrains Mono"/>
                <a:sym typeface="JetBrains Mono"/>
              </a:rPr>
              <a:t>"score"</a:t>
            </a:r>
            <a:r>
              <a:rPr b="0" i="0" lang="en-US" sz="1575">
                <a:solidFill>
                  <a:srgbClr val="E8E2D4"/>
                </a:solidFill>
                <a:latin typeface="JetBrains Mono"/>
                <a:ea typeface="JetBrains Mono"/>
                <a:cs typeface="JetBrains Mono"/>
                <a:sym typeface="JetBrains Mono"/>
              </a:rPr>
              <a:t>: h.score</a:t>
            </a:r>
            <a:endParaRPr b="0" i="1" sz="1575">
              <a:solidFill>
                <a:srgbClr val="8FA0AF"/>
              </a:solidFill>
              <a:latin typeface="JetBrains Mono"/>
              <a:ea typeface="JetBrains Mono"/>
              <a:cs typeface="JetBrains Mono"/>
              <a:sym typeface="JetBrains Mono"/>
            </a:endParaRPr>
          </a:p>
          <a:p>
            <a:pPr indent="0" lvl="0" marL="7620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762000" marR="0" rtl="0" algn="l">
              <a:spcBef>
                <a:spcPts val="0"/>
              </a:spcBef>
              <a:spcAft>
                <a:spcPts val="0"/>
              </a:spcAft>
              <a:buNone/>
            </a:pPr>
            <a:r>
              <a:rPr b="0" i="0" lang="en-US" sz="1575">
                <a:solidFill>
                  <a:srgbClr val="FACC15"/>
                </a:solidFill>
                <a:latin typeface="JetBrains Mono"/>
                <a:ea typeface="JetBrains Mono"/>
                <a:cs typeface="JetBrains Mono"/>
                <a:sym typeface="JetBrains Mono"/>
              </a:rPr>
              <a:t>for</a:t>
            </a:r>
            <a:r>
              <a:rPr b="0" i="0" lang="en-US" sz="1575">
                <a:solidFill>
                  <a:srgbClr val="E8E2D4"/>
                </a:solidFill>
                <a:latin typeface="JetBrains Mono"/>
                <a:ea typeface="JetBrains Mono"/>
                <a:cs typeface="JetBrains Mono"/>
                <a:sym typeface="JetBrains Mono"/>
              </a:rPr>
              <a:t> h </a:t>
            </a:r>
            <a:r>
              <a:rPr b="0" i="0" lang="en-US" sz="1575">
                <a:solidFill>
                  <a:srgbClr val="FACC15"/>
                </a:solidFill>
                <a:latin typeface="JetBrains Mono"/>
                <a:ea typeface="JetBrains Mono"/>
                <a:cs typeface="JetBrains Mono"/>
                <a:sym typeface="JetBrains Mono"/>
              </a:rPr>
              <a:t>in</a:t>
            </a:r>
            <a:r>
              <a:rPr b="0" i="0" lang="en-US" sz="1575">
                <a:solidFill>
                  <a:srgbClr val="E8E2D4"/>
                </a:solidFill>
                <a:latin typeface="JetBrains Mono"/>
                <a:ea typeface="JetBrains Mono"/>
                <a:cs typeface="JetBrains Mono"/>
                <a:sym typeface="JetBrains Mono"/>
              </a:rPr>
              <a:t> hits</a:t>
            </a:r>
            <a:endParaRPr b="0" i="1" sz="1575">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381000" marR="0" rtl="0" algn="l">
              <a:spcBef>
                <a:spcPts val="1125"/>
              </a:spcBef>
              <a:spcAft>
                <a:spcPts val="0"/>
              </a:spcAft>
              <a:buNone/>
            </a:pPr>
            <a:r>
              <a:rPr b="0" i="0" lang="en-US" sz="1575">
                <a:solidFill>
                  <a:srgbClr val="FACC15"/>
                </a:solidFill>
                <a:latin typeface="JetBrains Mono"/>
                <a:ea typeface="JetBrains Mono"/>
                <a:cs typeface="JetBrains Mono"/>
                <a:sym typeface="JetBrains Mono"/>
              </a:rPr>
              <a:t>return</a:t>
            </a:r>
            <a:r>
              <a:rPr b="0" i="0" lang="en-US" sz="1575">
                <a:solidFill>
                  <a:srgbClr val="E8E2D4"/>
                </a:solidFill>
                <a:latin typeface="JetBrains Mono"/>
                <a:ea typeface="JetBrains Mono"/>
                <a:cs typeface="JetBrains Mono"/>
                <a:sym typeface="JetBrains Mono"/>
              </a:rPr>
              <a:t> {</a:t>
            </a:r>
            <a:r>
              <a:rPr b="0" i="0" lang="en-US" sz="1575">
                <a:solidFill>
                  <a:srgbClr val="47B881"/>
                </a:solidFill>
                <a:latin typeface="JetBrains Mono"/>
                <a:ea typeface="JetBrains Mono"/>
                <a:cs typeface="JetBrains Mono"/>
                <a:sym typeface="JetBrains Mono"/>
              </a:rPr>
              <a:t>"documents"</a:t>
            </a:r>
            <a:r>
              <a:rPr b="0" i="0" lang="en-US" sz="1575">
                <a:solidFill>
                  <a:srgbClr val="E8E2D4"/>
                </a:solidFill>
                <a:latin typeface="JetBrains Mono"/>
                <a:ea typeface="JetBrains Mono"/>
                <a:cs typeface="JetBrains Mono"/>
                <a:sym typeface="JetBrains Mono"/>
              </a:rPr>
              <a:t>: docs} </a:t>
            </a:r>
            <a:r>
              <a:rPr b="0" i="1" lang="en-US" sz="1575">
                <a:solidFill>
                  <a:srgbClr val="8FA0AF"/>
                </a:solidFill>
                <a:latin typeface="JetBrains Mono"/>
                <a:ea typeface="JetBrains Mono"/>
                <a:cs typeface="JetBrains Mono"/>
                <a:sym typeface="JetBrains Mono"/>
              </a:rPr>
              <a:t># patch — only this field</a:t>
            </a:r>
            <a:endParaRPr b="0" i="1" sz="1575">
              <a:solidFill>
                <a:srgbClr val="8FA0AF"/>
              </a:solidFill>
              <a:latin typeface="JetBrains Mono"/>
              <a:ea typeface="JetBrains Mono"/>
              <a:cs typeface="JetBrains Mono"/>
              <a:sym typeface="JetBrains Mono"/>
            </a:endParaRPr>
          </a:p>
        </p:txBody>
      </p:sp>
      <p:sp>
        <p:nvSpPr>
          <p:cNvPr id="581" name="Google Shape;581;p25"/>
          <p:cNvSpPr/>
          <p:nvPr/>
        </p:nvSpPr>
        <p:spPr>
          <a:xfrm>
            <a:off x="10706100" y="3505200"/>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5"/>
          <p:cNvSpPr/>
          <p:nvPr/>
        </p:nvSpPr>
        <p:spPr>
          <a:xfrm>
            <a:off x="11020425" y="3819525"/>
            <a:ext cx="62199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50">
                <a:solidFill>
                  <a:srgbClr val="214CB8"/>
                </a:solidFill>
                <a:latin typeface="Inter"/>
                <a:ea typeface="Inter"/>
                <a:cs typeface="Inter"/>
                <a:sym typeface="Inter"/>
              </a:rPr>
              <a:t>PURE FUNCTION</a:t>
            </a:r>
            <a:endParaRPr b="1" sz="1350">
              <a:solidFill>
                <a:srgbClr val="214CB8"/>
              </a:solidFill>
              <a:latin typeface="Inter"/>
              <a:ea typeface="Inter"/>
              <a:cs typeface="Inter"/>
              <a:sym typeface="Inter"/>
            </a:endParaRPr>
          </a:p>
          <a:p>
            <a:pPr indent="0" lvl="0" marL="0" rtl="0" algn="l">
              <a:spcBef>
                <a:spcPts val="900"/>
              </a:spcBef>
              <a:spcAft>
                <a:spcPts val="0"/>
              </a:spcAft>
              <a:buNone/>
            </a:pPr>
            <a:r>
              <a:rPr b="0" lang="en-US" sz="1800">
                <a:solidFill>
                  <a:srgbClr val="1D2B3A"/>
                </a:solidFill>
                <a:latin typeface="Inter"/>
                <a:ea typeface="Inter"/>
                <a:cs typeface="Inter"/>
                <a:sym typeface="Inter"/>
              </a:rPr>
              <a:t>No globals, no framework imports. The graph just sequences these calls.</a:t>
            </a:r>
            <a:endParaRPr b="0" sz="1800">
              <a:solidFill>
                <a:srgbClr val="1D2B3A"/>
              </a:solidFill>
              <a:latin typeface="Inter"/>
              <a:ea typeface="Inter"/>
              <a:cs typeface="Inter"/>
              <a:sym typeface="Inter"/>
            </a:endParaRPr>
          </a:p>
        </p:txBody>
      </p:sp>
      <p:sp>
        <p:nvSpPr>
          <p:cNvPr id="583" name="Google Shape;583;p25"/>
          <p:cNvSpPr/>
          <p:nvPr/>
        </p:nvSpPr>
        <p:spPr>
          <a:xfrm>
            <a:off x="10706100" y="5292030"/>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5"/>
          <p:cNvSpPr/>
          <p:nvPr/>
        </p:nvSpPr>
        <p:spPr>
          <a:xfrm>
            <a:off x="11020425" y="5606358"/>
            <a:ext cx="62199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50">
                <a:solidFill>
                  <a:srgbClr val="47B881"/>
                </a:solidFill>
                <a:latin typeface="Inter"/>
                <a:ea typeface="Inter"/>
                <a:cs typeface="Inter"/>
                <a:sym typeface="Inter"/>
              </a:rPr>
              <a:t>RETURNS A PATCH</a:t>
            </a:r>
            <a:endParaRPr b="1" sz="1350">
              <a:solidFill>
                <a:srgbClr val="47B881"/>
              </a:solidFill>
              <a:latin typeface="Inter"/>
              <a:ea typeface="Inter"/>
              <a:cs typeface="Inter"/>
              <a:sym typeface="Inter"/>
            </a:endParaRPr>
          </a:p>
          <a:p>
            <a:pPr indent="0" lvl="0" marL="0" rtl="0" algn="l">
              <a:spcBef>
                <a:spcPts val="900"/>
              </a:spcBef>
              <a:spcAft>
                <a:spcPts val="0"/>
              </a:spcAft>
              <a:buNone/>
            </a:pPr>
            <a:r>
              <a:rPr b="0" lang="en-US" sz="1800">
                <a:solidFill>
                  <a:srgbClr val="1D2B3A"/>
                </a:solidFill>
                <a:latin typeface="Inter"/>
                <a:ea typeface="Inter"/>
                <a:cs typeface="Inter"/>
                <a:sym typeface="Inter"/>
              </a:rPr>
              <a:t>Only the keys you change. LangGraph merges with current state.</a:t>
            </a:r>
            <a:endParaRPr b="0" sz="1800">
              <a:solidFill>
                <a:srgbClr val="1D2B3A"/>
              </a:solidFill>
              <a:latin typeface="Inter"/>
              <a:ea typeface="Inter"/>
              <a:cs typeface="Inter"/>
              <a:sym typeface="Inter"/>
            </a:endParaRPr>
          </a:p>
        </p:txBody>
      </p:sp>
      <p:sp>
        <p:nvSpPr>
          <p:cNvPr id="585" name="Google Shape;585;p25"/>
          <p:cNvSpPr/>
          <p:nvPr/>
        </p:nvSpPr>
        <p:spPr>
          <a:xfrm>
            <a:off x="10706100" y="7078861"/>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5"/>
          <p:cNvSpPr/>
          <p:nvPr/>
        </p:nvSpPr>
        <p:spPr>
          <a:xfrm>
            <a:off x="11020425" y="7393191"/>
            <a:ext cx="62199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50">
                <a:solidFill>
                  <a:srgbClr val="D49000"/>
                </a:solidFill>
                <a:latin typeface="Inter"/>
                <a:ea typeface="Inter"/>
                <a:cs typeface="Inter"/>
                <a:sym typeface="Inter"/>
              </a:rPr>
              <a:t>READS REWRITTEN</a:t>
            </a:r>
            <a:endParaRPr b="1" sz="1350">
              <a:solidFill>
                <a:srgbClr val="D49000"/>
              </a:solidFill>
              <a:latin typeface="Inter"/>
              <a:ea typeface="Inter"/>
              <a:cs typeface="Inter"/>
              <a:sym typeface="Inter"/>
            </a:endParaRPr>
          </a:p>
          <a:p>
            <a:pPr indent="0" lvl="0" marL="0" rtl="0" algn="l">
              <a:spcBef>
                <a:spcPts val="900"/>
              </a:spcBef>
              <a:spcAft>
                <a:spcPts val="0"/>
              </a:spcAft>
              <a:buNone/>
            </a:pPr>
            <a:r>
              <a:rPr b="0" lang="en-US" sz="1800">
                <a:solidFill>
                  <a:srgbClr val="1D2B3A"/>
                </a:solidFill>
                <a:latin typeface="Inter"/>
                <a:ea typeface="Inter"/>
                <a:cs typeface="Inter"/>
                <a:sym typeface="Inter"/>
              </a:rPr>
              <a:t>Always search the standalone question — never the raw last turn.</a:t>
            </a:r>
            <a:endParaRPr b="0" sz="1800">
              <a:solidFill>
                <a:srgbClr val="1D2B3A"/>
              </a:solidFill>
              <a:latin typeface="Inter"/>
              <a:ea typeface="Inter"/>
              <a:cs typeface="Inter"/>
              <a:sym typeface="Inter"/>
            </a:endParaRPr>
          </a:p>
        </p:txBody>
      </p:sp>
      <p:sp>
        <p:nvSpPr>
          <p:cNvPr id="587" name="Google Shape;587;p25"/>
          <p:cNvSpPr/>
          <p:nvPr/>
        </p:nvSpPr>
        <p:spPr>
          <a:xfrm>
            <a:off x="10706100" y="8865691"/>
            <a:ext cx="6667500" cy="1284000"/>
          </a:xfrm>
          <a:prstGeom prst="roundRect">
            <a:avLst>
              <a:gd fmla="val 5935"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5"/>
          <p:cNvSpPr/>
          <p:nvPr/>
        </p:nvSpPr>
        <p:spPr>
          <a:xfrm>
            <a:off x="11020425" y="9037139"/>
            <a:ext cx="62199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50">
                <a:solidFill>
                  <a:srgbClr val="7A4BD9"/>
                </a:solidFill>
                <a:latin typeface="Inter"/>
                <a:ea typeface="Inter"/>
                <a:cs typeface="Inter"/>
                <a:sym typeface="Inter"/>
              </a:rPr>
              <a:t>TENANT ALWAYS</a:t>
            </a:r>
            <a:endParaRPr b="1" sz="1350">
              <a:solidFill>
                <a:srgbClr val="7A4BD9"/>
              </a:solidFill>
              <a:latin typeface="Inter"/>
              <a:ea typeface="Inter"/>
              <a:cs typeface="Inter"/>
              <a:sym typeface="Inter"/>
            </a:endParaRPr>
          </a:p>
          <a:p>
            <a:pPr indent="0" lvl="0" marL="0" rtl="0" algn="l">
              <a:spcBef>
                <a:spcPts val="600"/>
              </a:spcBef>
              <a:spcAft>
                <a:spcPts val="0"/>
              </a:spcAft>
              <a:buNone/>
            </a:pPr>
            <a:r>
              <a:rPr b="0" lang="en-US" sz="1800">
                <a:solidFill>
                  <a:srgbClr val="1D2B3A"/>
                </a:solidFill>
                <a:latin typeface="Inter"/>
                <a:ea typeface="Inter"/>
                <a:cs typeface="Inter"/>
                <a:sym typeface="Inter"/>
              </a:rPr>
              <a:t>Tenant filter is enforced inside </a:t>
            </a:r>
            <a:r>
              <a:rPr b="0" lang="en-US" sz="1800">
                <a:solidFill>
                  <a:srgbClr val="1D2B3A"/>
                </a:solidFill>
                <a:highlight>
                  <a:srgbClr val="E8E2D4"/>
                </a:highlight>
                <a:latin typeface="JetBrains Mono"/>
                <a:ea typeface="JetBrains Mono"/>
                <a:cs typeface="JetBrains Mono"/>
                <a:sym typeface="JetBrains Mono"/>
              </a:rPr>
              <a:t>hybrid_search</a:t>
            </a:r>
            <a:r>
              <a:rPr b="0" lang="en-US" sz="1800">
                <a:solidFill>
                  <a:srgbClr val="1D2B3A"/>
                </a:solidFill>
                <a:latin typeface="Inter"/>
                <a:ea typeface="Inter"/>
                <a:cs typeface="Inter"/>
                <a:sym typeface="Inter"/>
              </a:rPr>
              <a:t>.</a:t>
            </a:r>
            <a:endParaRPr b="0" sz="1800">
              <a:solidFill>
                <a:srgbClr val="1D2B3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593" name="Shape 593"/>
        <p:cNvGrpSpPr/>
        <p:nvPr/>
      </p:nvGrpSpPr>
      <p:grpSpPr>
        <a:xfrm>
          <a:off x="0" y="0"/>
          <a:ext cx="0" cy="0"/>
          <a:chOff x="0" y="0"/>
          <a:chExt cx="0" cy="0"/>
        </a:xfrm>
      </p:grpSpPr>
      <p:sp>
        <p:nvSpPr>
          <p:cNvPr id="594" name="Google Shape;594;p26"/>
          <p:cNvSpPr/>
          <p:nvPr/>
        </p:nvSpPr>
        <p:spPr>
          <a:xfrm>
            <a:off x="914400" y="45720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595" name="Google Shape;595;p26"/>
          <p:cNvSpPr/>
          <p:nvPr/>
        </p:nvSpPr>
        <p:spPr>
          <a:xfrm>
            <a:off x="914400" y="74295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596" name="Google Shape;596;p26"/>
          <p:cNvSpPr/>
          <p:nvPr/>
        </p:nvSpPr>
        <p:spPr>
          <a:xfrm>
            <a:off x="16567993" y="457200"/>
            <a:ext cx="8817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23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597" name="Google Shape;597;p26"/>
          <p:cNvSpPr/>
          <p:nvPr/>
        </p:nvSpPr>
        <p:spPr>
          <a:xfrm>
            <a:off x="914400" y="9620250"/>
            <a:ext cx="52557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598" name="Google Shape;598;p26"/>
          <p:cNvSpPr/>
          <p:nvPr/>
        </p:nvSpPr>
        <p:spPr>
          <a:xfrm>
            <a:off x="914400" y="1714500"/>
            <a:ext cx="16953000" cy="563100"/>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Generate node — grounded, cited, streamed</a:t>
            </a:r>
            <a:endParaRPr b="0" i="0" sz="3900" u="none" cap="none" strike="noStrike">
              <a:solidFill>
                <a:schemeClr val="dk1"/>
              </a:solidFill>
              <a:latin typeface="Calibri"/>
              <a:ea typeface="Calibri"/>
              <a:cs typeface="Calibri"/>
              <a:sym typeface="Calibri"/>
            </a:endParaRPr>
          </a:p>
        </p:txBody>
      </p:sp>
      <p:sp>
        <p:nvSpPr>
          <p:cNvPr id="599" name="Google Shape;599;p26"/>
          <p:cNvSpPr/>
          <p:nvPr/>
        </p:nvSpPr>
        <p:spPr>
          <a:xfrm>
            <a:off x="914400" y="2448967"/>
            <a:ext cx="13735200" cy="4248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The model is told to answer </a:t>
            </a:r>
            <a:r>
              <a:rPr b="0" i="1" lang="en-US" sz="2100" u="none" cap="none" strike="noStrike">
                <a:solidFill>
                  <a:srgbClr val="536171"/>
                </a:solidFill>
                <a:latin typeface="Inter"/>
                <a:ea typeface="Inter"/>
                <a:cs typeface="Inter"/>
                <a:sym typeface="Inter"/>
              </a:rPr>
              <a:t>only </a:t>
            </a:r>
            <a:r>
              <a:rPr b="0" i="0" lang="en-US" sz="2100" u="none" cap="none" strike="noStrike">
                <a:solidFill>
                  <a:srgbClr val="536171"/>
                </a:solidFill>
                <a:latin typeface="Inter"/>
                <a:ea typeface="Inter"/>
                <a:cs typeface="Inter"/>
                <a:sym typeface="Inter"/>
              </a:rPr>
              <a:t>from the chunks — and to refuse if they don't cover the question.</a:t>
            </a:r>
            <a:endParaRPr b="0" i="0" sz="2100" u="none" cap="none" strike="noStrike">
              <a:solidFill>
                <a:schemeClr val="dk1"/>
              </a:solidFill>
              <a:latin typeface="Calibri"/>
              <a:ea typeface="Calibri"/>
              <a:cs typeface="Calibri"/>
              <a:sym typeface="Calibri"/>
            </a:endParaRPr>
          </a:p>
        </p:txBody>
      </p:sp>
      <p:sp>
        <p:nvSpPr>
          <p:cNvPr id="600" name="Google Shape;600;p26"/>
          <p:cNvSpPr/>
          <p:nvPr/>
        </p:nvSpPr>
        <p:spPr>
          <a:xfrm>
            <a:off x="914400" y="3429000"/>
            <a:ext cx="9334500" cy="5960700"/>
          </a:xfrm>
          <a:prstGeom prst="roundRect">
            <a:avLst>
              <a:gd fmla="val 1153" name="adj"/>
            </a:avLst>
          </a:prstGeom>
          <a:solidFill>
            <a:srgbClr val="1D2B3A"/>
          </a:solidFill>
          <a:ln>
            <a:noFill/>
          </a:ln>
          <a:effectLst>
            <a:outerShdw blurRad="304800" rotWithShape="0" algn="bl" dir="5400000" dist="114300">
              <a:srgbClr val="030A1C">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6"/>
          <p:cNvSpPr/>
          <p:nvPr/>
        </p:nvSpPr>
        <p:spPr>
          <a:xfrm>
            <a:off x="1219200" y="3703839"/>
            <a:ext cx="9004800" cy="54453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i="1" lang="en-US" sz="1500">
                <a:solidFill>
                  <a:srgbClr val="8FA0AF"/>
                </a:solidFill>
                <a:latin typeface="JetBrains Mono"/>
                <a:ea typeface="JetBrains Mono"/>
                <a:cs typeface="JetBrains Mono"/>
                <a:sym typeface="JetBrains Mono"/>
              </a:rPr>
              <a:t># graph/nodes/generate.py</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FACC15"/>
                </a:solidFill>
                <a:latin typeface="JetBrains Mono"/>
                <a:ea typeface="JetBrains Mono"/>
                <a:cs typeface="JetBrains Mono"/>
                <a:sym typeface="JetBrains Mono"/>
              </a:rPr>
              <a:t>from</a:t>
            </a:r>
            <a:r>
              <a:rPr b="0" i="0" lang="en-US" sz="1500">
                <a:solidFill>
                  <a:srgbClr val="E8E2D4"/>
                </a:solidFill>
                <a:latin typeface="JetBrains Mono"/>
                <a:ea typeface="JetBrains Mono"/>
                <a:cs typeface="JetBrains Mono"/>
                <a:sym typeface="JetBrains Mono"/>
              </a:rPr>
              <a:t> langchain_google_genai </a:t>
            </a:r>
            <a:r>
              <a:rPr b="0" i="0" lang="en-US" sz="1500">
                <a:solidFill>
                  <a:srgbClr val="FACC15"/>
                </a:solidFill>
                <a:latin typeface="JetBrains Mono"/>
                <a:ea typeface="JetBrains Mono"/>
                <a:cs typeface="JetBrains Mono"/>
                <a:sym typeface="JetBrains Mono"/>
              </a:rPr>
              <a:t>import</a:t>
            </a:r>
            <a:r>
              <a:rPr b="0" i="0" lang="en-US" sz="1500">
                <a:solidFill>
                  <a:srgbClr val="E8E2D4"/>
                </a:solidFill>
                <a:latin typeface="JetBrains Mono"/>
                <a:ea typeface="JetBrains Mono"/>
                <a:cs typeface="JetBrains Mono"/>
                <a:sym typeface="JetBrains Mono"/>
              </a:rPr>
              <a:t> ChatGoogleGenerativeAI</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FACC15"/>
                </a:solidFill>
                <a:latin typeface="JetBrains Mono"/>
                <a:ea typeface="JetBrains Mono"/>
                <a:cs typeface="JetBrains Mono"/>
                <a:sym typeface="JetBrains Mono"/>
              </a:rPr>
              <a:t>from</a:t>
            </a:r>
            <a:r>
              <a:rPr b="0" i="0" lang="en-US" sz="1500">
                <a:solidFill>
                  <a:srgbClr val="E8E2D4"/>
                </a:solidFill>
                <a:latin typeface="JetBrains Mono"/>
                <a:ea typeface="JetBrains Mono"/>
                <a:cs typeface="JetBrains Mono"/>
                <a:sym typeface="JetBrains Mono"/>
              </a:rPr>
              <a:t> langchain_core.messages </a:t>
            </a:r>
            <a:r>
              <a:rPr b="0" i="0" lang="en-US" sz="1500">
                <a:solidFill>
                  <a:srgbClr val="FACC15"/>
                </a:solidFill>
                <a:latin typeface="JetBrains Mono"/>
                <a:ea typeface="JetBrains Mono"/>
                <a:cs typeface="JetBrains Mono"/>
                <a:sym typeface="JetBrains Mono"/>
              </a:rPr>
              <a:t>import</a:t>
            </a:r>
            <a:r>
              <a:rPr b="0" i="0" lang="en-US" sz="1500">
                <a:solidFill>
                  <a:srgbClr val="E8E2D4"/>
                </a:solidFill>
                <a:latin typeface="JetBrains Mono"/>
                <a:ea typeface="JetBrains Mono"/>
                <a:cs typeface="JetBrains Mono"/>
                <a:sym typeface="JetBrains Mono"/>
              </a:rPr>
              <a:t> SystemMessage, HumanMessage</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FACC15"/>
                </a:solidFill>
                <a:latin typeface="JetBrains Mono"/>
                <a:ea typeface="JetBrains Mono"/>
                <a:cs typeface="JetBrains Mono"/>
                <a:sym typeface="JetBrains Mono"/>
              </a:rPr>
              <a:t>from</a:t>
            </a:r>
            <a:r>
              <a:rPr b="0" i="0" lang="en-US" sz="1500">
                <a:solidFill>
                  <a:srgbClr val="E8E2D4"/>
                </a:solidFill>
                <a:latin typeface="JetBrains Mono"/>
                <a:ea typeface="JetBrains Mono"/>
                <a:cs typeface="JetBrains Mono"/>
                <a:sym typeface="JetBrains Mono"/>
              </a:rPr>
              <a:t> .state </a:t>
            </a:r>
            <a:r>
              <a:rPr b="0" i="0" lang="en-US" sz="1500">
                <a:solidFill>
                  <a:srgbClr val="FACC15"/>
                </a:solidFill>
                <a:latin typeface="JetBrains Mono"/>
                <a:ea typeface="JetBrains Mono"/>
                <a:cs typeface="JetBrains Mono"/>
                <a:sym typeface="JetBrains Mono"/>
              </a:rPr>
              <a:t>import</a:t>
            </a:r>
            <a:r>
              <a:rPr b="0" i="0" lang="en-US" sz="1500">
                <a:solidFill>
                  <a:srgbClr val="E8E2D4"/>
                </a:solidFill>
                <a:latin typeface="JetBrains Mono"/>
                <a:ea typeface="JetBrains Mono"/>
                <a:cs typeface="JetBrains Mono"/>
                <a:sym typeface="JetBrains Mono"/>
              </a:rPr>
              <a:t> ChatState</a:t>
            </a:r>
            <a:endParaRPr b="0" i="1" sz="150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500">
                <a:solidFill>
                  <a:srgbClr val="E8E2D4"/>
                </a:solidFill>
                <a:latin typeface="JetBrains Mono"/>
                <a:ea typeface="JetBrains Mono"/>
                <a:cs typeface="JetBrains Mono"/>
                <a:sym typeface="JetBrains Mono"/>
              </a:rPr>
              <a:t>llm = </a:t>
            </a:r>
            <a:r>
              <a:rPr b="0" i="0" lang="en-US" sz="1500">
                <a:solidFill>
                  <a:srgbClr val="6D8BE8"/>
                </a:solidFill>
                <a:latin typeface="JetBrains Mono"/>
                <a:ea typeface="JetBrains Mono"/>
                <a:cs typeface="JetBrains Mono"/>
                <a:sym typeface="JetBrains Mono"/>
              </a:rPr>
              <a:t>ChatGoogleGenerativeAI</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E8E2D4"/>
                </a:solidFill>
                <a:latin typeface="JetBrains Mono"/>
                <a:ea typeface="JetBrains Mono"/>
                <a:cs typeface="JetBrains Mono"/>
                <a:sym typeface="JetBrains Mono"/>
              </a:rPr>
              <a:t>model=</a:t>
            </a:r>
            <a:r>
              <a:rPr b="0" i="0" lang="en-US" sz="1500">
                <a:solidFill>
                  <a:srgbClr val="47B881"/>
                </a:solidFill>
                <a:latin typeface="JetBrains Mono"/>
                <a:ea typeface="JetBrains Mono"/>
                <a:cs typeface="JetBrains Mono"/>
                <a:sym typeface="JetBrains Mono"/>
              </a:rPr>
              <a:t>"gemini-2.0-flash"</a:t>
            </a:r>
            <a:r>
              <a:rPr b="0" i="0" lang="en-US" sz="1500">
                <a:solidFill>
                  <a:srgbClr val="E8E2D4"/>
                </a:solidFill>
                <a:latin typeface="JetBrains Mono"/>
                <a:ea typeface="JetBrains Mono"/>
                <a:cs typeface="JetBrains Mono"/>
                <a:sym typeface="JetBrains Mono"/>
              </a:rPr>
              <a:t>, temperature=</a:t>
            </a:r>
            <a:r>
              <a:rPr b="0" i="0" lang="en-US" sz="1500">
                <a:solidFill>
                  <a:srgbClr val="D49000"/>
                </a:solidFill>
                <a:latin typeface="JetBrains Mono"/>
                <a:ea typeface="JetBrains Mono"/>
                <a:cs typeface="JetBrains Mono"/>
                <a:sym typeface="JetBrains Mono"/>
              </a:rPr>
              <a:t>0</a:t>
            </a:r>
            <a:r>
              <a:rPr b="0" i="0" lang="en-US" sz="1500">
                <a:solidFill>
                  <a:srgbClr val="E8E2D4"/>
                </a:solidFill>
                <a:latin typeface="JetBrains Mono"/>
                <a:ea typeface="JetBrains Mono"/>
                <a:cs typeface="JetBrains Mono"/>
                <a:sym typeface="JetBrains Mono"/>
              </a:rPr>
              <a:t>, disable_streaming=</a:t>
            </a:r>
            <a:r>
              <a:rPr b="0" i="0" lang="en-US" sz="1500">
                <a:solidFill>
                  <a:srgbClr val="FACC15"/>
                </a:solidFill>
                <a:latin typeface="JetBrains Mono"/>
                <a:ea typeface="JetBrains Mono"/>
                <a:cs typeface="JetBrains Mono"/>
                <a:sym typeface="JetBrains Mono"/>
              </a:rPr>
              <a:t>False</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500">
                <a:solidFill>
                  <a:srgbClr val="E8E2D4"/>
                </a:solidFill>
                <a:latin typeface="JetBrains Mono"/>
                <a:ea typeface="JetBrains Mono"/>
                <a:cs typeface="JetBrains Mono"/>
                <a:sym typeface="JetBrains Mono"/>
              </a:rPr>
              <a:t>SYSTEM = </a:t>
            </a:r>
            <a:r>
              <a:rPr b="0" i="0" lang="en-US" sz="1500">
                <a:solidFill>
                  <a:srgbClr val="47B881"/>
                </a:solidFill>
                <a:latin typeface="JetBrains Mono"/>
                <a:ea typeface="JetBrains Mono"/>
                <a:cs typeface="JetBrains Mono"/>
                <a:sym typeface="JetBrains Mono"/>
              </a:rPr>
              <a:t>"""Answer using ONLY the context. Cite each fact as [doc-id]. If the context is insufficient, say so plainly — do not guess."""</a:t>
            </a:r>
            <a:endParaRPr b="0" i="1" sz="150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500">
                <a:solidFill>
                  <a:srgbClr val="FACC15"/>
                </a:solidFill>
                <a:latin typeface="JetBrains Mono"/>
                <a:ea typeface="JetBrains Mono"/>
                <a:cs typeface="JetBrains Mono"/>
                <a:sym typeface="JetBrains Mono"/>
              </a:rPr>
              <a:t>def</a:t>
            </a:r>
            <a:r>
              <a:rPr b="0" i="1" lang="en-US" sz="1500">
                <a:solidFill>
                  <a:srgbClr val="8FA0AF"/>
                </a:solidFill>
                <a:latin typeface="JetBrains Mono"/>
                <a:ea typeface="JetBrains Mono"/>
                <a:cs typeface="JetBrains Mono"/>
                <a:sym typeface="JetBrains Mono"/>
              </a:rPr>
              <a:t> </a:t>
            </a:r>
            <a:r>
              <a:rPr b="0" i="0" lang="en-US" sz="1500">
                <a:solidFill>
                  <a:srgbClr val="6D8BE8"/>
                </a:solidFill>
                <a:latin typeface="JetBrains Mono"/>
                <a:ea typeface="JetBrains Mono"/>
                <a:cs typeface="JetBrains Mono"/>
                <a:sym typeface="JetBrains Mono"/>
              </a:rPr>
              <a:t>generate</a:t>
            </a:r>
            <a:r>
              <a:rPr b="0" i="0" lang="en-US" sz="1500">
                <a:solidFill>
                  <a:srgbClr val="E8E2D4"/>
                </a:solidFill>
                <a:latin typeface="JetBrains Mono"/>
                <a:ea typeface="JetBrains Mono"/>
                <a:cs typeface="JetBrains Mono"/>
                <a:sym typeface="JetBrains Mono"/>
              </a:rPr>
              <a:t>(state: ChatState) </a:t>
            </a:r>
            <a:r>
              <a:rPr b="0" i="0" lang="en-US" sz="1500">
                <a:solidFill>
                  <a:srgbClr val="FACC15"/>
                </a:solidFill>
                <a:latin typeface="JetBrains Mono"/>
                <a:ea typeface="JetBrains Mono"/>
                <a:cs typeface="JetBrains Mono"/>
                <a:sym typeface="JetBrains Mono"/>
              </a:rPr>
              <a:t>-&gt;</a:t>
            </a:r>
            <a:r>
              <a:rPr b="0" i="1" lang="en-US" sz="1500">
                <a:solidFill>
                  <a:srgbClr val="8FA0AF"/>
                </a:solidFill>
                <a:latin typeface="JetBrains Mono"/>
                <a:ea typeface="JetBrains Mono"/>
                <a:cs typeface="JetBrains Mono"/>
                <a:sym typeface="JetBrains Mono"/>
              </a:rPr>
              <a:t> </a:t>
            </a:r>
            <a:r>
              <a:rPr b="0" i="0" lang="en-US" sz="1500">
                <a:solidFill>
                  <a:srgbClr val="FACC15"/>
                </a:solidFill>
                <a:latin typeface="JetBrains Mono"/>
                <a:ea typeface="JetBrains Mono"/>
                <a:cs typeface="JetBrains Mono"/>
                <a:sym typeface="JetBrains Mono"/>
              </a:rPr>
              <a:t>dict</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E8E2D4"/>
                </a:solidFill>
                <a:latin typeface="JetBrains Mono"/>
                <a:ea typeface="JetBrains Mono"/>
                <a:cs typeface="JetBrains Mono"/>
                <a:sym typeface="JetBrains Mono"/>
              </a:rPr>
              <a:t>context = </a:t>
            </a:r>
            <a:r>
              <a:rPr b="0" i="0" lang="en-US" sz="1500">
                <a:solidFill>
                  <a:srgbClr val="47B881"/>
                </a:solidFill>
                <a:latin typeface="JetBrains Mono"/>
                <a:ea typeface="JetBrains Mono"/>
                <a:cs typeface="JetBrains Mono"/>
                <a:sym typeface="JetBrains Mono"/>
              </a:rPr>
              <a:t>"\n\n"</a:t>
            </a:r>
            <a:r>
              <a:rPr b="0" i="0" lang="en-US" sz="1500">
                <a:solidFill>
                  <a:srgbClr val="E8E2D4"/>
                </a:solidFill>
                <a:latin typeface="JetBrains Mono"/>
                <a:ea typeface="JetBrains Mono"/>
                <a:cs typeface="JetBrains Mono"/>
                <a:sym typeface="JetBrains Mono"/>
              </a:rPr>
              <a:t>.</a:t>
            </a:r>
            <a:r>
              <a:rPr b="0" i="0" lang="en-US" sz="1500">
                <a:solidFill>
                  <a:srgbClr val="6D8BE8"/>
                </a:solidFill>
                <a:latin typeface="JetBrains Mono"/>
                <a:ea typeface="JetBrains Mono"/>
                <a:cs typeface="JetBrains Mono"/>
                <a:sym typeface="JetBrains Mono"/>
              </a:rPr>
              <a:t>join</a:t>
            </a:r>
            <a:r>
              <a:rPr b="0" i="0" lang="en-US" sz="1500">
                <a:solidFill>
                  <a:srgbClr val="E8E2D4"/>
                </a:solidFill>
                <a:latin typeface="JetBrains Mono"/>
                <a:ea typeface="JetBrains Mono"/>
                <a:cs typeface="JetBrains Mono"/>
                <a:sym typeface="JetBrains Mono"/>
              </a:rPr>
              <a:t>(</a:t>
            </a:r>
            <a:r>
              <a:rPr b="0" i="0" lang="en-US" sz="1500">
                <a:solidFill>
                  <a:srgbClr val="6D8BE8"/>
                </a:solidFill>
                <a:latin typeface="JetBrains Mono"/>
                <a:ea typeface="JetBrains Mono"/>
                <a:cs typeface="JetBrains Mono"/>
                <a:sym typeface="JetBrains Mono"/>
              </a:rPr>
              <a:t>f</a:t>
            </a:r>
            <a:r>
              <a:rPr b="0" i="0" lang="en-US" sz="1500">
                <a:solidFill>
                  <a:srgbClr val="47B881"/>
                </a:solidFill>
                <a:latin typeface="JetBrains Mono"/>
                <a:ea typeface="JetBrains Mono"/>
                <a:cs typeface="JetBrains Mono"/>
                <a:sym typeface="JetBrains Mono"/>
              </a:rPr>
              <a:t>"[{d['id']}] {d['text']}"</a:t>
            </a:r>
            <a:r>
              <a:rPr b="0" i="1" lang="en-US" sz="1500">
                <a:solidFill>
                  <a:srgbClr val="8FA0AF"/>
                </a:solidFill>
                <a:latin typeface="JetBrains Mono"/>
                <a:ea typeface="JetBrains Mono"/>
                <a:cs typeface="JetBrains Mono"/>
                <a:sym typeface="JetBrains Mono"/>
              </a:rPr>
              <a:t> </a:t>
            </a:r>
            <a:r>
              <a:rPr b="0" i="0" lang="en-US" sz="1500">
                <a:solidFill>
                  <a:srgbClr val="FACC15"/>
                </a:solidFill>
                <a:latin typeface="JetBrains Mono"/>
                <a:ea typeface="JetBrains Mono"/>
                <a:cs typeface="JetBrains Mono"/>
                <a:sym typeface="JetBrains Mono"/>
              </a:rPr>
              <a:t>for</a:t>
            </a:r>
            <a:r>
              <a:rPr b="0" i="0" lang="en-US" sz="1500">
                <a:solidFill>
                  <a:srgbClr val="E8E2D4"/>
                </a:solidFill>
                <a:latin typeface="JetBrains Mono"/>
                <a:ea typeface="JetBrains Mono"/>
                <a:cs typeface="JetBrains Mono"/>
                <a:sym typeface="JetBrains Mono"/>
              </a:rPr>
              <a:t> d </a:t>
            </a:r>
            <a:r>
              <a:rPr b="0" i="0" lang="en-US" sz="1500">
                <a:solidFill>
                  <a:srgbClr val="FACC15"/>
                </a:solidFill>
                <a:latin typeface="JetBrains Mono"/>
                <a:ea typeface="JetBrains Mono"/>
                <a:cs typeface="JetBrains Mono"/>
                <a:sym typeface="JetBrains Mono"/>
              </a:rPr>
              <a:t>in</a:t>
            </a:r>
            <a:r>
              <a:rPr b="0" i="0" lang="en-US" sz="1500">
                <a:solidFill>
                  <a:srgbClr val="E8E2D4"/>
                </a:solidFill>
                <a:latin typeface="JetBrains Mono"/>
                <a:ea typeface="JetBrains Mono"/>
                <a:cs typeface="JetBrains Mono"/>
                <a:sym typeface="JetBrains Mono"/>
              </a:rPr>
              <a:t> state[</a:t>
            </a:r>
            <a:r>
              <a:rPr b="0" i="0" lang="en-US" sz="1500">
                <a:solidFill>
                  <a:srgbClr val="47B881"/>
                </a:solidFill>
                <a:latin typeface="JetBrains Mono"/>
                <a:ea typeface="JetBrains Mono"/>
                <a:cs typeface="JetBrains Mono"/>
                <a:sym typeface="JetBrains Mono"/>
              </a:rPr>
              <a:t>"documents"</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E8E2D4"/>
                </a:solidFill>
                <a:latin typeface="JetBrains Mono"/>
                <a:ea typeface="JetBrains Mono"/>
                <a:cs typeface="JetBrains Mono"/>
                <a:sym typeface="JetBrains Mono"/>
              </a:rPr>
              <a:t>msg = [</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6D8BE8"/>
                </a:solidFill>
                <a:latin typeface="JetBrains Mono"/>
                <a:ea typeface="JetBrains Mono"/>
                <a:cs typeface="JetBrains Mono"/>
                <a:sym typeface="JetBrains Mono"/>
              </a:rPr>
              <a:t>SystemMessage</a:t>
            </a:r>
            <a:r>
              <a:rPr b="0" i="0" lang="en-US" sz="1500">
                <a:solidFill>
                  <a:srgbClr val="E8E2D4"/>
                </a:solidFill>
                <a:latin typeface="JetBrains Mono"/>
                <a:ea typeface="JetBrains Mono"/>
                <a:cs typeface="JetBrains Mono"/>
                <a:sym typeface="JetBrains Mono"/>
              </a:rPr>
              <a:t>(content=SYSTEM),</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FACC15"/>
                </a:solidFill>
                <a:latin typeface="JetBrains Mono"/>
                <a:ea typeface="JetBrains Mono"/>
                <a:cs typeface="JetBrains Mono"/>
                <a:sym typeface="JetBrains Mono"/>
              </a:rPr>
              <a:t>*</a:t>
            </a:r>
            <a:r>
              <a:rPr b="0" i="0" lang="en-US" sz="1500">
                <a:solidFill>
                  <a:srgbClr val="E8E2D4"/>
                </a:solidFill>
                <a:latin typeface="JetBrains Mono"/>
                <a:ea typeface="JetBrains Mono"/>
                <a:cs typeface="JetBrains Mono"/>
                <a:sym typeface="JetBrains Mono"/>
              </a:rPr>
              <a:t>state[</a:t>
            </a:r>
            <a:r>
              <a:rPr b="0" i="0" lang="en-US" sz="1500">
                <a:solidFill>
                  <a:srgbClr val="47B881"/>
                </a:solidFill>
                <a:latin typeface="JetBrains Mono"/>
                <a:ea typeface="JetBrains Mono"/>
                <a:cs typeface="JetBrains Mono"/>
                <a:sym typeface="JetBrains Mono"/>
              </a:rPr>
              <a:t>"messages"</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6D8BE8"/>
                </a:solidFill>
                <a:latin typeface="JetBrains Mono"/>
                <a:ea typeface="JetBrains Mono"/>
                <a:cs typeface="JetBrains Mono"/>
                <a:sym typeface="JetBrains Mono"/>
              </a:rPr>
              <a:t>HumanMessage</a:t>
            </a:r>
            <a:r>
              <a:rPr b="0" i="0" lang="en-US" sz="1500">
                <a:solidFill>
                  <a:srgbClr val="E8E2D4"/>
                </a:solidFill>
                <a:latin typeface="JetBrains Mono"/>
                <a:ea typeface="JetBrains Mono"/>
                <a:cs typeface="JetBrains Mono"/>
                <a:sym typeface="JetBrains Mono"/>
              </a:rPr>
              <a:t>(content=</a:t>
            </a:r>
            <a:r>
              <a:rPr b="0" i="0" lang="en-US" sz="1500">
                <a:solidFill>
                  <a:srgbClr val="6D8BE8"/>
                </a:solidFill>
                <a:latin typeface="JetBrains Mono"/>
                <a:ea typeface="JetBrains Mono"/>
                <a:cs typeface="JetBrains Mono"/>
                <a:sym typeface="JetBrains Mono"/>
              </a:rPr>
              <a:t>f</a:t>
            </a:r>
            <a:r>
              <a:rPr b="0" i="0" lang="en-US" sz="1500">
                <a:solidFill>
                  <a:srgbClr val="47B881"/>
                </a:solidFill>
                <a:latin typeface="JetBrains Mono"/>
                <a:ea typeface="JetBrains Mono"/>
                <a:cs typeface="JetBrains Mono"/>
                <a:sym typeface="JetBrains Mono"/>
              </a:rPr>
              <a:t>"Question: {state['rewritten']}\n\nContext:\n{context}"</a:t>
            </a: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E8E2D4"/>
                </a:solidFill>
                <a:latin typeface="JetBrains Mono"/>
                <a:ea typeface="JetBrains Mono"/>
                <a:cs typeface="JetBrains Mono"/>
                <a:sym typeface="JetBrains Mono"/>
              </a:rPr>
              <a:t>]</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E8E2D4"/>
                </a:solidFill>
                <a:latin typeface="JetBrains Mono"/>
                <a:ea typeface="JetBrains Mono"/>
                <a:cs typeface="JetBrains Mono"/>
                <a:sym typeface="JetBrains Mono"/>
              </a:rPr>
              <a:t>reply = llm.</a:t>
            </a:r>
            <a:r>
              <a:rPr b="0" i="0" lang="en-US" sz="1500">
                <a:solidFill>
                  <a:srgbClr val="6D8BE8"/>
                </a:solidFill>
                <a:latin typeface="JetBrains Mono"/>
                <a:ea typeface="JetBrains Mono"/>
                <a:cs typeface="JetBrains Mono"/>
                <a:sym typeface="JetBrains Mono"/>
              </a:rPr>
              <a:t>invoke</a:t>
            </a:r>
            <a:r>
              <a:rPr b="0" i="0" lang="en-US" sz="1500">
                <a:solidFill>
                  <a:srgbClr val="E8E2D4"/>
                </a:solidFill>
                <a:latin typeface="JetBrains Mono"/>
                <a:ea typeface="JetBrains Mono"/>
                <a:cs typeface="JetBrains Mono"/>
                <a:sym typeface="JetBrains Mono"/>
              </a:rPr>
              <a:t>(msg)</a:t>
            </a:r>
            <a:endParaRPr b="0" i="1" sz="150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00">
                <a:solidFill>
                  <a:srgbClr val="FACC15"/>
                </a:solidFill>
                <a:latin typeface="JetBrains Mono"/>
                <a:ea typeface="JetBrains Mono"/>
                <a:cs typeface="JetBrains Mono"/>
                <a:sym typeface="JetBrains Mono"/>
              </a:rPr>
              <a:t>return</a:t>
            </a:r>
            <a:r>
              <a:rPr b="0" i="0" lang="en-US" sz="1500">
                <a:solidFill>
                  <a:srgbClr val="E8E2D4"/>
                </a:solidFill>
                <a:latin typeface="JetBrains Mono"/>
                <a:ea typeface="JetBrains Mono"/>
                <a:cs typeface="JetBrains Mono"/>
                <a:sym typeface="JetBrains Mono"/>
              </a:rPr>
              <a:t> {</a:t>
            </a:r>
            <a:r>
              <a:rPr b="0" i="0" lang="en-US" sz="1500">
                <a:solidFill>
                  <a:srgbClr val="47B881"/>
                </a:solidFill>
                <a:latin typeface="JetBrains Mono"/>
                <a:ea typeface="JetBrains Mono"/>
                <a:cs typeface="JetBrains Mono"/>
                <a:sym typeface="JetBrains Mono"/>
              </a:rPr>
              <a:t>"messages"</a:t>
            </a:r>
            <a:r>
              <a:rPr b="0" i="0" lang="en-US" sz="1500">
                <a:solidFill>
                  <a:srgbClr val="E8E2D4"/>
                </a:solidFill>
                <a:latin typeface="JetBrains Mono"/>
                <a:ea typeface="JetBrains Mono"/>
                <a:cs typeface="JetBrains Mono"/>
                <a:sym typeface="JetBrains Mono"/>
              </a:rPr>
              <a:t>: [reply], </a:t>
            </a:r>
            <a:r>
              <a:rPr b="0" i="0" lang="en-US" sz="1500">
                <a:solidFill>
                  <a:srgbClr val="47B881"/>
                </a:solidFill>
                <a:latin typeface="JetBrains Mono"/>
                <a:ea typeface="JetBrains Mono"/>
                <a:cs typeface="JetBrains Mono"/>
                <a:sym typeface="JetBrains Mono"/>
              </a:rPr>
              <a:t>"answer"</a:t>
            </a:r>
            <a:r>
              <a:rPr b="0" i="0" lang="en-US" sz="1500">
                <a:solidFill>
                  <a:srgbClr val="E8E2D4"/>
                </a:solidFill>
                <a:latin typeface="JetBrains Mono"/>
                <a:ea typeface="JetBrains Mono"/>
                <a:cs typeface="JetBrains Mono"/>
                <a:sym typeface="JetBrains Mono"/>
              </a:rPr>
              <a:t>: reply.content}</a:t>
            </a:r>
            <a:endParaRPr b="0" i="1" sz="1500">
              <a:solidFill>
                <a:srgbClr val="8FA0AF"/>
              </a:solidFill>
              <a:latin typeface="JetBrains Mono"/>
              <a:ea typeface="JetBrains Mono"/>
              <a:cs typeface="JetBrains Mono"/>
              <a:sym typeface="JetBrains Mono"/>
            </a:endParaRPr>
          </a:p>
        </p:txBody>
      </p:sp>
      <p:sp>
        <p:nvSpPr>
          <p:cNvPr id="602" name="Google Shape;602;p26"/>
          <p:cNvSpPr/>
          <p:nvPr/>
        </p:nvSpPr>
        <p:spPr>
          <a:xfrm>
            <a:off x="10706100" y="2978202"/>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6"/>
          <p:cNvSpPr/>
          <p:nvPr/>
        </p:nvSpPr>
        <p:spPr>
          <a:xfrm>
            <a:off x="11020425" y="3292527"/>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GROUNDED PROMPT</a:t>
            </a:r>
            <a:endParaRPr b="0" i="0" sz="1350" u="none" cap="none" strike="noStrike">
              <a:solidFill>
                <a:schemeClr val="dk1"/>
              </a:solidFill>
              <a:latin typeface="Calibri"/>
              <a:ea typeface="Calibri"/>
              <a:cs typeface="Calibri"/>
              <a:sym typeface="Calibri"/>
            </a:endParaRPr>
          </a:p>
        </p:txBody>
      </p:sp>
      <p:sp>
        <p:nvSpPr>
          <p:cNvPr id="604" name="Google Shape;604;p26"/>
          <p:cNvSpPr/>
          <p:nvPr/>
        </p:nvSpPr>
        <p:spPr>
          <a:xfrm>
            <a:off x="11020425" y="3616377"/>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"Only from context" + citations. Hallucinations drop hard.</a:t>
            </a:r>
            <a:endParaRPr b="0" i="0" sz="1800" u="none" cap="none" strike="noStrike">
              <a:solidFill>
                <a:schemeClr val="dk1"/>
              </a:solidFill>
              <a:latin typeface="Calibri"/>
              <a:ea typeface="Calibri"/>
              <a:cs typeface="Calibri"/>
              <a:sym typeface="Calibri"/>
            </a:endParaRPr>
          </a:p>
        </p:txBody>
      </p:sp>
      <p:sp>
        <p:nvSpPr>
          <p:cNvPr id="605" name="Google Shape;605;p26"/>
          <p:cNvSpPr/>
          <p:nvPr/>
        </p:nvSpPr>
        <p:spPr>
          <a:xfrm>
            <a:off x="10706100" y="4765032"/>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6"/>
          <p:cNvSpPr/>
          <p:nvPr/>
        </p:nvSpPr>
        <p:spPr>
          <a:xfrm>
            <a:off x="11020425" y="5079357"/>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HISTORY IN PROMPT</a:t>
            </a:r>
            <a:endParaRPr b="0" i="0" sz="1350" u="none" cap="none" strike="noStrike">
              <a:solidFill>
                <a:schemeClr val="dk1"/>
              </a:solidFill>
              <a:latin typeface="Calibri"/>
              <a:ea typeface="Calibri"/>
              <a:cs typeface="Calibri"/>
              <a:sym typeface="Calibri"/>
            </a:endParaRPr>
          </a:p>
        </p:txBody>
      </p:sp>
      <p:sp>
        <p:nvSpPr>
          <p:cNvPr id="607" name="Google Shape;607;p26"/>
          <p:cNvSpPr/>
          <p:nvPr/>
        </p:nvSpPr>
        <p:spPr>
          <a:xfrm>
            <a:off x="11020425" y="5403207"/>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Full chat </a:t>
            </a:r>
            <a:r>
              <a:rPr b="0" i="0" lang="en-US" sz="1800" u="none" cap="none" strike="noStrike">
                <a:solidFill>
                  <a:srgbClr val="1D2B3A"/>
                </a:solidFill>
                <a:highlight>
                  <a:srgbClr val="E8E2D4"/>
                </a:highlight>
                <a:latin typeface="JetBrains Mono"/>
                <a:ea typeface="JetBrains Mono"/>
                <a:cs typeface="JetBrains Mono"/>
                <a:sym typeface="JetBrains Mono"/>
              </a:rPr>
              <a:t>messages </a:t>
            </a:r>
            <a:r>
              <a:rPr b="0" i="0" lang="en-US" sz="1800" u="none" cap="none" strike="noStrike">
                <a:solidFill>
                  <a:srgbClr val="1D2B3A"/>
                </a:solidFill>
                <a:latin typeface="Inter"/>
                <a:ea typeface="Inter"/>
                <a:cs typeface="Inter"/>
                <a:sym typeface="Inter"/>
              </a:rPr>
              <a:t>flow in — the model can follow references.</a:t>
            </a:r>
            <a:endParaRPr b="0" i="0" sz="1800" u="none" cap="none" strike="noStrike">
              <a:solidFill>
                <a:schemeClr val="dk1"/>
              </a:solidFill>
              <a:latin typeface="Calibri"/>
              <a:ea typeface="Calibri"/>
              <a:cs typeface="Calibri"/>
              <a:sym typeface="Calibri"/>
            </a:endParaRPr>
          </a:p>
        </p:txBody>
      </p:sp>
      <p:sp>
        <p:nvSpPr>
          <p:cNvPr id="608" name="Google Shape;608;p26"/>
          <p:cNvSpPr/>
          <p:nvPr/>
        </p:nvSpPr>
        <p:spPr>
          <a:xfrm>
            <a:off x="10706100" y="6551863"/>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6"/>
          <p:cNvSpPr/>
          <p:nvPr/>
        </p:nvSpPr>
        <p:spPr>
          <a:xfrm>
            <a:off x="11020425" y="6866188"/>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REFUSE GRACEFULLY</a:t>
            </a:r>
            <a:endParaRPr b="0" i="0" sz="1350" u="none" cap="none" strike="noStrike">
              <a:solidFill>
                <a:schemeClr val="dk1"/>
              </a:solidFill>
              <a:latin typeface="Calibri"/>
              <a:ea typeface="Calibri"/>
              <a:cs typeface="Calibri"/>
              <a:sym typeface="Calibri"/>
            </a:endParaRPr>
          </a:p>
        </p:txBody>
      </p:sp>
      <p:sp>
        <p:nvSpPr>
          <p:cNvPr id="610" name="Google Shape;610;p26"/>
          <p:cNvSpPr/>
          <p:nvPr/>
        </p:nvSpPr>
        <p:spPr>
          <a:xfrm>
            <a:off x="11020425" y="7190038"/>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If context is thin, the model says so — better than confident wrong.</a:t>
            </a:r>
            <a:endParaRPr b="0" i="0" sz="1800" u="none" cap="none" strike="noStrike">
              <a:solidFill>
                <a:schemeClr val="dk1"/>
              </a:solidFill>
              <a:latin typeface="Calibri"/>
              <a:ea typeface="Calibri"/>
              <a:cs typeface="Calibri"/>
              <a:sym typeface="Calibri"/>
            </a:endParaRPr>
          </a:p>
        </p:txBody>
      </p:sp>
      <p:sp>
        <p:nvSpPr>
          <p:cNvPr id="611" name="Google Shape;611;p26"/>
          <p:cNvSpPr/>
          <p:nvPr/>
        </p:nvSpPr>
        <p:spPr>
          <a:xfrm>
            <a:off x="10706100" y="8338693"/>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6"/>
          <p:cNvSpPr/>
          <p:nvPr/>
        </p:nvSpPr>
        <p:spPr>
          <a:xfrm>
            <a:off x="11020425" y="8653018"/>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STREAMING-READY</a:t>
            </a:r>
            <a:endParaRPr b="0" i="0" sz="1350" u="none" cap="none" strike="noStrike">
              <a:solidFill>
                <a:schemeClr val="dk1"/>
              </a:solidFill>
              <a:latin typeface="Calibri"/>
              <a:ea typeface="Calibri"/>
              <a:cs typeface="Calibri"/>
              <a:sym typeface="Calibri"/>
            </a:endParaRPr>
          </a:p>
        </p:txBody>
      </p:sp>
      <p:sp>
        <p:nvSpPr>
          <p:cNvPr id="613" name="Google Shape;613;p26"/>
          <p:cNvSpPr/>
          <p:nvPr/>
        </p:nvSpPr>
        <p:spPr>
          <a:xfrm>
            <a:off x="11020425" y="8976868"/>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JetBrains Mono"/>
              <a:buNone/>
            </a:pPr>
            <a:r>
              <a:rPr b="0" i="0" lang="en-US" sz="1800" u="none" cap="none" strike="noStrike">
                <a:solidFill>
                  <a:srgbClr val="1D2B3A"/>
                </a:solidFill>
                <a:highlight>
                  <a:srgbClr val="E8E2D4"/>
                </a:highlight>
                <a:latin typeface="JetBrains Mono"/>
                <a:ea typeface="JetBrains Mono"/>
                <a:cs typeface="JetBrains Mono"/>
                <a:sym typeface="JetBrains Mono"/>
              </a:rPr>
              <a:t>langchain-google-genai </a:t>
            </a:r>
            <a:r>
              <a:rPr b="0" i="0" lang="en-US" sz="1800" u="none" cap="none" strike="noStrike">
                <a:solidFill>
                  <a:srgbClr val="1D2B3A"/>
                </a:solidFill>
                <a:latin typeface="Inter"/>
                <a:ea typeface="Inter"/>
                <a:cs typeface="Inter"/>
                <a:sym typeface="Inter"/>
              </a:rPr>
              <a:t>streams Gemini tokens — pipe through FastAPI to the client.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618" name="Shape 618"/>
        <p:cNvGrpSpPr/>
        <p:nvPr/>
      </p:nvGrpSpPr>
      <p:grpSpPr>
        <a:xfrm>
          <a:off x="0" y="0"/>
          <a:ext cx="0" cy="0"/>
          <a:chOff x="0" y="0"/>
          <a:chExt cx="0" cy="0"/>
        </a:xfrm>
      </p:grpSpPr>
      <p:sp>
        <p:nvSpPr>
          <p:cNvPr id="619" name="Google Shape;619;p27"/>
          <p:cNvSpPr/>
          <p:nvPr/>
        </p:nvSpPr>
        <p:spPr>
          <a:xfrm>
            <a:off x="914400" y="45720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620" name="Google Shape;620;p27"/>
          <p:cNvSpPr/>
          <p:nvPr/>
        </p:nvSpPr>
        <p:spPr>
          <a:xfrm>
            <a:off x="914400" y="74295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621" name="Google Shape;621;p27"/>
          <p:cNvSpPr/>
          <p:nvPr/>
        </p:nvSpPr>
        <p:spPr>
          <a:xfrm>
            <a:off x="16564719" y="457200"/>
            <a:ext cx="8850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24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622" name="Google Shape;622;p27"/>
          <p:cNvSpPr/>
          <p:nvPr/>
        </p:nvSpPr>
        <p:spPr>
          <a:xfrm>
            <a:off x="914400" y="9620250"/>
            <a:ext cx="52557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623" name="Google Shape;623;p27"/>
          <p:cNvSpPr/>
          <p:nvPr/>
        </p:nvSpPr>
        <p:spPr>
          <a:xfrm>
            <a:off x="914400" y="1714500"/>
            <a:ext cx="16953000" cy="563100"/>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Compile the graph — then invoke per request</a:t>
            </a:r>
            <a:endParaRPr b="0" i="0" sz="3900" u="none" cap="none" strike="noStrike">
              <a:solidFill>
                <a:schemeClr val="dk1"/>
              </a:solidFill>
              <a:latin typeface="Calibri"/>
              <a:ea typeface="Calibri"/>
              <a:cs typeface="Calibri"/>
              <a:sym typeface="Calibri"/>
            </a:endParaRPr>
          </a:p>
        </p:txBody>
      </p:sp>
      <p:sp>
        <p:nvSpPr>
          <p:cNvPr id="624" name="Google Shape;624;p27"/>
          <p:cNvSpPr/>
          <p:nvPr/>
        </p:nvSpPr>
        <p:spPr>
          <a:xfrm>
            <a:off x="914400" y="2448967"/>
            <a:ext cx="13735200" cy="4248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Static edges wire the spine. One conditional edge decides whether to loop.</a:t>
            </a:r>
            <a:endParaRPr b="0" i="0" sz="2100" u="none" cap="none" strike="noStrike">
              <a:solidFill>
                <a:schemeClr val="dk1"/>
              </a:solidFill>
              <a:latin typeface="Calibri"/>
              <a:ea typeface="Calibri"/>
              <a:cs typeface="Calibri"/>
              <a:sym typeface="Calibri"/>
            </a:endParaRPr>
          </a:p>
        </p:txBody>
      </p:sp>
      <p:sp>
        <p:nvSpPr>
          <p:cNvPr id="625" name="Google Shape;625;p27"/>
          <p:cNvSpPr/>
          <p:nvPr/>
        </p:nvSpPr>
        <p:spPr>
          <a:xfrm>
            <a:off x="914400" y="3429000"/>
            <a:ext cx="9334500" cy="7467600"/>
          </a:xfrm>
          <a:prstGeom prst="roundRect">
            <a:avLst>
              <a:gd fmla="val 1020" name="adj"/>
            </a:avLst>
          </a:prstGeom>
          <a:solidFill>
            <a:srgbClr val="1D2B3A"/>
          </a:solidFill>
          <a:ln>
            <a:noFill/>
          </a:ln>
          <a:effectLst>
            <a:outerShdw blurRad="304800" rotWithShape="0" algn="bl" dir="5400000" dist="114300">
              <a:srgbClr val="030A1C">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7"/>
          <p:cNvSpPr/>
          <p:nvPr/>
        </p:nvSpPr>
        <p:spPr>
          <a:xfrm>
            <a:off x="1219200" y="3733800"/>
            <a:ext cx="9004800" cy="6896100"/>
          </a:xfrm>
          <a:prstGeom prst="rect">
            <a:avLst/>
          </a:prstGeom>
          <a:solidFill>
            <a:srgbClr val="000000">
              <a:alpha val="0"/>
            </a:srgbClr>
          </a:solidFill>
          <a:ln>
            <a:noFill/>
          </a:ln>
        </p:spPr>
        <p:txBody>
          <a:bodyPr anchorCtr="0" anchor="t" bIns="95250" lIns="95250" spcFirstLastPara="1" rIns="95250" wrap="square" tIns="95250">
            <a:noAutofit/>
          </a:bodyPr>
          <a:lstStyle/>
          <a:p>
            <a:pPr indent="0" lvl="0" marL="0" rtl="0" algn="l">
              <a:spcBef>
                <a:spcPts val="0"/>
              </a:spcBef>
              <a:spcAft>
                <a:spcPts val="0"/>
              </a:spcAft>
              <a:buNone/>
            </a:pPr>
            <a:r>
              <a:rPr b="0" i="1" lang="en-US" sz="1450">
                <a:solidFill>
                  <a:srgbClr val="8FA0AF"/>
                </a:solidFill>
                <a:latin typeface="JetBrains Mono"/>
                <a:ea typeface="JetBrains Mono"/>
                <a:cs typeface="JetBrains Mono"/>
                <a:sym typeface="JetBrains Mono"/>
              </a:rPr>
              <a:t># graph/build.py</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FACC15"/>
                </a:solidFill>
                <a:latin typeface="JetBrains Mono"/>
                <a:ea typeface="JetBrains Mono"/>
                <a:cs typeface="JetBrains Mono"/>
                <a:sym typeface="JetBrains Mono"/>
              </a:rPr>
              <a:t>from</a:t>
            </a:r>
            <a:r>
              <a:rPr b="0" i="0" lang="en-US" sz="1450">
                <a:solidFill>
                  <a:srgbClr val="E8E2D4"/>
                </a:solidFill>
                <a:latin typeface="JetBrains Mono"/>
                <a:ea typeface="JetBrains Mono"/>
                <a:cs typeface="JetBrains Mono"/>
                <a:sym typeface="JetBrains Mono"/>
              </a:rPr>
              <a:t> langgraph.graph </a:t>
            </a:r>
            <a:r>
              <a:rPr b="0" i="0" lang="en-US" sz="1450">
                <a:solidFill>
                  <a:srgbClr val="FACC15"/>
                </a:solidFill>
                <a:latin typeface="JetBrains Mono"/>
                <a:ea typeface="JetBrains Mono"/>
                <a:cs typeface="JetBrains Mono"/>
                <a:sym typeface="JetBrains Mono"/>
              </a:rPr>
              <a:t>import</a:t>
            </a:r>
            <a:r>
              <a:rPr b="0" i="0" lang="en-US" sz="1450">
                <a:solidFill>
                  <a:srgbClr val="E8E2D4"/>
                </a:solidFill>
                <a:latin typeface="JetBrains Mono"/>
                <a:ea typeface="JetBrains Mono"/>
                <a:cs typeface="JetBrains Mono"/>
                <a:sym typeface="JetBrains Mono"/>
              </a:rPr>
              <a:t> StateGraph, START, END</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FACC15"/>
                </a:solidFill>
                <a:latin typeface="JetBrains Mono"/>
                <a:ea typeface="JetBrains Mono"/>
                <a:cs typeface="JetBrains Mono"/>
                <a:sym typeface="JetBrains Mono"/>
              </a:rPr>
              <a:t>from</a:t>
            </a:r>
            <a:r>
              <a:rPr b="0" i="0" lang="en-US" sz="1450">
                <a:solidFill>
                  <a:srgbClr val="E8E2D4"/>
                </a:solidFill>
                <a:latin typeface="JetBrains Mono"/>
                <a:ea typeface="JetBrains Mono"/>
                <a:cs typeface="JetBrains Mono"/>
                <a:sym typeface="JetBrains Mono"/>
              </a:rPr>
              <a:t> .state </a:t>
            </a:r>
            <a:r>
              <a:rPr b="0" i="0" lang="en-US" sz="1450">
                <a:solidFill>
                  <a:srgbClr val="FACC15"/>
                </a:solidFill>
                <a:latin typeface="JetBrains Mono"/>
                <a:ea typeface="JetBrains Mono"/>
                <a:cs typeface="JetBrains Mono"/>
                <a:sym typeface="JetBrains Mono"/>
              </a:rPr>
              <a:t>import</a:t>
            </a:r>
            <a:r>
              <a:rPr b="0" i="0" lang="en-US" sz="1450">
                <a:solidFill>
                  <a:srgbClr val="E8E2D4"/>
                </a:solidFill>
                <a:latin typeface="JetBrains Mono"/>
                <a:ea typeface="JetBrains Mono"/>
                <a:cs typeface="JetBrains Mono"/>
                <a:sym typeface="JetBrains Mono"/>
              </a:rPr>
              <a:t> ChatState</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FACC15"/>
                </a:solidFill>
                <a:latin typeface="JetBrains Mono"/>
                <a:ea typeface="JetBrains Mono"/>
                <a:cs typeface="JetBrains Mono"/>
                <a:sym typeface="JetBrains Mono"/>
              </a:rPr>
              <a:t>from</a:t>
            </a:r>
            <a:r>
              <a:rPr b="0" i="0" lang="en-US" sz="1450">
                <a:solidFill>
                  <a:srgbClr val="E8E2D4"/>
                </a:solidFill>
                <a:latin typeface="JetBrains Mono"/>
                <a:ea typeface="JetBrains Mono"/>
                <a:cs typeface="JetBrains Mono"/>
                <a:sym typeface="JetBrains Mono"/>
              </a:rPr>
              <a:t> .nodes </a:t>
            </a:r>
            <a:r>
              <a:rPr b="0" i="0" lang="en-US" sz="1450">
                <a:solidFill>
                  <a:srgbClr val="FACC15"/>
                </a:solidFill>
                <a:latin typeface="JetBrains Mono"/>
                <a:ea typeface="JetBrains Mono"/>
                <a:cs typeface="JetBrains Mono"/>
                <a:sym typeface="JetBrains Mono"/>
              </a:rPr>
              <a:t>import</a:t>
            </a:r>
            <a:r>
              <a:rPr b="0" i="0" lang="en-US" sz="1450">
                <a:solidFill>
                  <a:srgbClr val="E8E2D4"/>
                </a:solidFill>
                <a:latin typeface="JetBrains Mono"/>
                <a:ea typeface="JetBrains Mono"/>
                <a:cs typeface="JetBrains Mono"/>
                <a:sym typeface="JetBrains Mono"/>
              </a:rPr>
              <a:t> rewrite, retrieve, grade, generate</a:t>
            </a:r>
            <a:endParaRPr b="0" i="1" sz="145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450">
                <a:solidFill>
                  <a:srgbClr val="FACC15"/>
                </a:solidFill>
                <a:latin typeface="JetBrains Mono"/>
                <a:ea typeface="JetBrains Mono"/>
                <a:cs typeface="JetBrains Mono"/>
                <a:sym typeface="JetBrains Mono"/>
              </a:rPr>
              <a:t>def</a:t>
            </a:r>
            <a:r>
              <a:rPr b="0" i="1" lang="en-US" sz="1450">
                <a:solidFill>
                  <a:srgbClr val="8FA0AF"/>
                </a:solidFill>
                <a:latin typeface="JetBrains Mono"/>
                <a:ea typeface="JetBrains Mono"/>
                <a:cs typeface="JetBrains Mono"/>
                <a:sym typeface="JetBrains Mono"/>
              </a:rPr>
              <a:t> </a:t>
            </a:r>
            <a:r>
              <a:rPr b="0" i="0" lang="en-US" sz="1450">
                <a:solidFill>
                  <a:srgbClr val="6D8BE8"/>
                </a:solidFill>
                <a:latin typeface="JetBrains Mono"/>
                <a:ea typeface="JetBrains Mono"/>
                <a:cs typeface="JetBrains Mono"/>
                <a:sym typeface="JetBrains Mono"/>
              </a:rPr>
              <a:t>route_after_grade</a:t>
            </a:r>
            <a:r>
              <a:rPr b="0" i="0" lang="en-US" sz="1450">
                <a:solidFill>
                  <a:srgbClr val="E8E2D4"/>
                </a:solidFill>
                <a:latin typeface="JetBrains Mono"/>
                <a:ea typeface="JetBrains Mono"/>
                <a:cs typeface="JetBrains Mono"/>
                <a:sym typeface="JetBrains Mono"/>
              </a:rPr>
              <a:t>(state: ChatState) </a:t>
            </a:r>
            <a:r>
              <a:rPr b="0" i="0" lang="en-US" sz="1450">
                <a:solidFill>
                  <a:srgbClr val="FACC15"/>
                </a:solidFill>
                <a:latin typeface="JetBrains Mono"/>
                <a:ea typeface="JetBrains Mono"/>
                <a:cs typeface="JetBrains Mono"/>
                <a:sym typeface="JetBrains Mono"/>
              </a:rPr>
              <a:t>-&gt;</a:t>
            </a:r>
            <a:r>
              <a:rPr b="0" i="1" lang="en-US" sz="1450">
                <a:solidFill>
                  <a:srgbClr val="8FA0AF"/>
                </a:solidFill>
                <a:latin typeface="JetBrains Mono"/>
                <a:ea typeface="JetBrains Mono"/>
                <a:cs typeface="JetBrains Mono"/>
                <a:sym typeface="JetBrains Mono"/>
              </a:rPr>
              <a:t> </a:t>
            </a:r>
            <a:r>
              <a:rPr b="0" i="0" lang="en-US" sz="1450">
                <a:solidFill>
                  <a:srgbClr val="FACC15"/>
                </a:solidFill>
                <a:latin typeface="JetBrains Mono"/>
                <a:ea typeface="JetBrains Mono"/>
                <a:cs typeface="JetBrains Mono"/>
                <a:sym typeface="JetBrains Mono"/>
              </a:rPr>
              <a:t>str</a:t>
            </a:r>
            <a:r>
              <a:rPr b="0" i="0" lang="en-US" sz="1450">
                <a:solidFill>
                  <a:srgbClr val="E8E2D4"/>
                </a:solidFill>
                <a:latin typeface="JetBrains Mono"/>
                <a:ea typeface="JetBrains Mono"/>
                <a:cs typeface="JetBrains Mono"/>
                <a:sym typeface="JetBrains Mono"/>
              </a:rPr>
              <a:t>:</a:t>
            </a:r>
            <a:endParaRPr b="0" i="1" sz="1450">
              <a:solidFill>
                <a:srgbClr val="8FA0AF"/>
              </a:solidFill>
              <a:latin typeface="JetBrains Mono"/>
              <a:ea typeface="JetBrains Mono"/>
              <a:cs typeface="JetBrains Mono"/>
              <a:sym typeface="JetBrains Mono"/>
            </a:endParaRPr>
          </a:p>
          <a:p>
            <a:pPr indent="0" lvl="0" marL="190500" marR="0" rtl="0" algn="l">
              <a:spcBef>
                <a:spcPts val="0"/>
              </a:spcBef>
              <a:spcAft>
                <a:spcPts val="0"/>
              </a:spcAft>
              <a:buNone/>
            </a:pPr>
            <a:r>
              <a:rPr b="0" i="0" lang="en-US" sz="1450">
                <a:solidFill>
                  <a:srgbClr val="FACC15"/>
                </a:solidFill>
                <a:latin typeface="JetBrains Mono"/>
                <a:ea typeface="JetBrains Mono"/>
                <a:cs typeface="JetBrains Mono"/>
                <a:sym typeface="JetBrains Mono"/>
              </a:rPr>
              <a:t>if</a:t>
            </a:r>
            <a:r>
              <a:rPr b="0" i="0" lang="en-US" sz="1450">
                <a:solidFill>
                  <a:srgbClr val="E8E2D4"/>
                </a:solidFill>
                <a:latin typeface="JetBrains Mono"/>
                <a:ea typeface="JetBrains Mono"/>
                <a:cs typeface="JetBrains Mono"/>
                <a:sym typeface="JetBrains Mono"/>
              </a:rPr>
              <a:t> state[</a:t>
            </a:r>
            <a:r>
              <a:rPr b="0" i="0" lang="en-US" sz="1450">
                <a:solidFill>
                  <a:srgbClr val="47B881"/>
                </a:solidFill>
                <a:latin typeface="JetBrains Mono"/>
                <a:ea typeface="JetBrains Mono"/>
                <a:cs typeface="JetBrains Mono"/>
                <a:sym typeface="JetBrains Mono"/>
              </a:rPr>
              <a:t>"grade"</a:t>
            </a:r>
            <a:r>
              <a:rPr b="0" i="0" lang="en-US" sz="1450">
                <a:solidFill>
                  <a:srgbClr val="E8E2D4"/>
                </a:solidFill>
                <a:latin typeface="JetBrains Mono"/>
                <a:ea typeface="JetBrains Mono"/>
                <a:cs typeface="JetBrains Mono"/>
                <a:sym typeface="JetBrains Mono"/>
              </a:rPr>
              <a:t>] </a:t>
            </a:r>
            <a:r>
              <a:rPr b="0" i="0" lang="en-US" sz="1450">
                <a:solidFill>
                  <a:srgbClr val="FACC15"/>
                </a:solidFill>
                <a:latin typeface="JetBrains Mono"/>
                <a:ea typeface="JetBrains Mono"/>
                <a:cs typeface="JetBrains Mono"/>
                <a:sym typeface="JetBrains Mono"/>
              </a:rPr>
              <a:t>==</a:t>
            </a:r>
            <a:r>
              <a:rPr b="0" i="1" lang="en-US" sz="1450">
                <a:solidFill>
                  <a:srgbClr val="8FA0AF"/>
                </a:solidFill>
                <a:latin typeface="JetBrains Mono"/>
                <a:ea typeface="JetBrains Mono"/>
                <a:cs typeface="JetBrains Mono"/>
                <a:sym typeface="JetBrains Mono"/>
              </a:rPr>
              <a:t> </a:t>
            </a:r>
            <a:r>
              <a:rPr b="0" i="0" lang="en-US" sz="1450">
                <a:solidFill>
                  <a:srgbClr val="47B881"/>
                </a:solidFill>
                <a:latin typeface="JetBrains Mono"/>
                <a:ea typeface="JetBrains Mono"/>
                <a:cs typeface="JetBrains Mono"/>
                <a:sym typeface="JetBrains Mono"/>
              </a:rPr>
              <a:t>"good"</a:t>
            </a:r>
            <a:r>
              <a:rPr b="0" i="1" lang="en-US" sz="1450">
                <a:solidFill>
                  <a:srgbClr val="8FA0AF"/>
                </a:solidFill>
                <a:latin typeface="JetBrains Mono"/>
                <a:ea typeface="JetBrains Mono"/>
                <a:cs typeface="JetBrains Mono"/>
                <a:sym typeface="JetBrains Mono"/>
              </a:rPr>
              <a:t> </a:t>
            </a:r>
            <a:r>
              <a:rPr b="0" i="0" lang="en-US" sz="1450">
                <a:solidFill>
                  <a:srgbClr val="FACC15"/>
                </a:solidFill>
                <a:latin typeface="JetBrains Mono"/>
                <a:ea typeface="JetBrains Mono"/>
                <a:cs typeface="JetBrains Mono"/>
                <a:sym typeface="JetBrains Mono"/>
              </a:rPr>
              <a:t>or</a:t>
            </a:r>
            <a:r>
              <a:rPr b="0" i="0" lang="en-US" sz="1450">
                <a:solidFill>
                  <a:srgbClr val="E8E2D4"/>
                </a:solidFill>
                <a:latin typeface="JetBrains Mono"/>
                <a:ea typeface="JetBrains Mono"/>
                <a:cs typeface="JetBrains Mono"/>
                <a:sym typeface="JetBrains Mono"/>
              </a:rPr>
              <a:t> state[</a:t>
            </a:r>
            <a:r>
              <a:rPr b="0" i="0" lang="en-US" sz="1450">
                <a:solidFill>
                  <a:srgbClr val="47B881"/>
                </a:solidFill>
                <a:latin typeface="JetBrains Mono"/>
                <a:ea typeface="JetBrains Mono"/>
                <a:cs typeface="JetBrains Mono"/>
                <a:sym typeface="JetBrains Mono"/>
              </a:rPr>
              <a:t>"attempts"</a:t>
            </a:r>
            <a:r>
              <a:rPr b="0" i="0" lang="en-US" sz="1450">
                <a:solidFill>
                  <a:srgbClr val="E8E2D4"/>
                </a:solidFill>
                <a:latin typeface="JetBrains Mono"/>
                <a:ea typeface="JetBrains Mono"/>
                <a:cs typeface="JetBrains Mono"/>
                <a:sym typeface="JetBrains Mono"/>
              </a:rPr>
              <a:t>] </a:t>
            </a:r>
            <a:r>
              <a:rPr b="0" i="0" lang="en-US" sz="1450">
                <a:solidFill>
                  <a:srgbClr val="FACC15"/>
                </a:solidFill>
                <a:latin typeface="JetBrains Mono"/>
                <a:ea typeface="JetBrains Mono"/>
                <a:cs typeface="JetBrains Mono"/>
                <a:sym typeface="JetBrains Mono"/>
              </a:rPr>
              <a:t>&gt;=</a:t>
            </a:r>
            <a:r>
              <a:rPr b="0" i="1" lang="en-US" sz="1450">
                <a:solidFill>
                  <a:srgbClr val="8FA0AF"/>
                </a:solidFill>
                <a:latin typeface="JetBrains Mono"/>
                <a:ea typeface="JetBrains Mono"/>
                <a:cs typeface="JetBrains Mono"/>
                <a:sym typeface="JetBrains Mono"/>
              </a:rPr>
              <a:t> </a:t>
            </a:r>
            <a:r>
              <a:rPr b="0" i="0" lang="en-US" sz="1450">
                <a:solidFill>
                  <a:srgbClr val="D49000"/>
                </a:solidFill>
                <a:latin typeface="JetBrains Mono"/>
                <a:ea typeface="JetBrains Mono"/>
                <a:cs typeface="JetBrains Mono"/>
                <a:sym typeface="JetBrains Mono"/>
              </a:rPr>
              <a:t>2</a:t>
            </a:r>
            <a:r>
              <a:rPr b="0" i="0" lang="en-US" sz="1450">
                <a:solidFill>
                  <a:srgbClr val="E8E2D4"/>
                </a:solidFill>
                <a:latin typeface="JetBrains Mono"/>
                <a:ea typeface="JetBrains Mono"/>
                <a:cs typeface="JetBrains Mono"/>
                <a:sym typeface="JetBrains Mono"/>
              </a:rPr>
              <a:t>:</a:t>
            </a:r>
            <a:endParaRPr b="0" i="1" sz="1450">
              <a:solidFill>
                <a:srgbClr val="8FA0AF"/>
              </a:solidFill>
              <a:latin typeface="JetBrains Mono"/>
              <a:ea typeface="JetBrains Mono"/>
              <a:cs typeface="JetBrains Mono"/>
              <a:sym typeface="JetBrains Mono"/>
            </a:endParaRPr>
          </a:p>
          <a:p>
            <a:pPr indent="0" lvl="0" marL="381000" marR="0" rtl="0" algn="l">
              <a:spcBef>
                <a:spcPts val="0"/>
              </a:spcBef>
              <a:spcAft>
                <a:spcPts val="0"/>
              </a:spcAft>
              <a:buNone/>
            </a:pPr>
            <a:r>
              <a:rPr b="0" i="0" lang="en-US" sz="1450">
                <a:solidFill>
                  <a:srgbClr val="FACC15"/>
                </a:solidFill>
                <a:latin typeface="JetBrains Mono"/>
                <a:ea typeface="JetBrains Mono"/>
                <a:cs typeface="JetBrains Mono"/>
                <a:sym typeface="JetBrains Mono"/>
              </a:rPr>
              <a:t>return</a:t>
            </a:r>
            <a:r>
              <a:rPr b="0" i="1" lang="en-US" sz="1450">
                <a:solidFill>
                  <a:srgbClr val="8FA0AF"/>
                </a:solidFill>
                <a:latin typeface="JetBrains Mono"/>
                <a:ea typeface="JetBrains Mono"/>
                <a:cs typeface="JetBrains Mono"/>
                <a:sym typeface="JetBrains Mono"/>
              </a:rPr>
              <a:t> </a:t>
            </a:r>
            <a:r>
              <a:rPr b="0" i="0" lang="en-US" sz="1450">
                <a:solidFill>
                  <a:srgbClr val="47B881"/>
                </a:solidFill>
                <a:latin typeface="JetBrains Mono"/>
                <a:ea typeface="JetBrains Mono"/>
                <a:cs typeface="JetBrains Mono"/>
                <a:sym typeface="JetBrains Mono"/>
              </a:rPr>
              <a:t>"generate"</a:t>
            </a:r>
            <a:endParaRPr b="0" i="1" sz="1450">
              <a:solidFill>
                <a:srgbClr val="8FA0AF"/>
              </a:solidFill>
              <a:latin typeface="JetBrains Mono"/>
              <a:ea typeface="JetBrains Mono"/>
              <a:cs typeface="JetBrains Mono"/>
              <a:sym typeface="JetBrains Mono"/>
            </a:endParaRPr>
          </a:p>
          <a:p>
            <a:pPr indent="0" lvl="0" marL="190500" marR="0" rtl="0" algn="l">
              <a:spcBef>
                <a:spcPts val="0"/>
              </a:spcBef>
              <a:spcAft>
                <a:spcPts val="0"/>
              </a:spcAft>
              <a:buNone/>
            </a:pPr>
            <a:r>
              <a:rPr b="0" i="0" lang="en-US" sz="1450">
                <a:solidFill>
                  <a:srgbClr val="FACC15"/>
                </a:solidFill>
                <a:latin typeface="JetBrains Mono"/>
                <a:ea typeface="JetBrains Mono"/>
                <a:cs typeface="JetBrains Mono"/>
                <a:sym typeface="JetBrains Mono"/>
              </a:rPr>
              <a:t>return</a:t>
            </a:r>
            <a:r>
              <a:rPr b="0" i="1" lang="en-US" sz="1450">
                <a:solidFill>
                  <a:srgbClr val="8FA0AF"/>
                </a:solidFill>
                <a:latin typeface="JetBrains Mono"/>
                <a:ea typeface="JetBrains Mono"/>
                <a:cs typeface="JetBrains Mono"/>
                <a:sym typeface="JetBrains Mono"/>
              </a:rPr>
              <a:t> </a:t>
            </a:r>
            <a:r>
              <a:rPr b="0" i="0" lang="en-US" sz="1450">
                <a:solidFill>
                  <a:srgbClr val="47B881"/>
                </a:solidFill>
                <a:latin typeface="JetBrains Mono"/>
                <a:ea typeface="JetBrains Mono"/>
                <a:cs typeface="JetBrains Mono"/>
                <a:sym typeface="JetBrains Mono"/>
              </a:rPr>
              <a:t>"rewrite"</a:t>
            </a:r>
            <a:endParaRPr b="0" i="1" sz="145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450">
                <a:solidFill>
                  <a:srgbClr val="E8E2D4"/>
                </a:solidFill>
                <a:latin typeface="JetBrains Mono"/>
                <a:ea typeface="JetBrains Mono"/>
                <a:cs typeface="JetBrains Mono"/>
                <a:sym typeface="JetBrains Mono"/>
              </a:rPr>
              <a:t>g </a:t>
            </a:r>
            <a:r>
              <a:rPr b="0" i="0" lang="en-US" sz="1450">
                <a:solidFill>
                  <a:srgbClr val="FACC15"/>
                </a:solidFill>
                <a:latin typeface="JetBrains Mono"/>
                <a:ea typeface="JetBrains Mono"/>
                <a:cs typeface="JetBrains Mono"/>
                <a:sym typeface="JetBrains Mono"/>
              </a:rPr>
              <a:t>=</a:t>
            </a:r>
            <a:r>
              <a:rPr b="0" i="1" lang="en-US" sz="1450">
                <a:solidFill>
                  <a:srgbClr val="8FA0AF"/>
                </a:solidFill>
                <a:latin typeface="JetBrains Mono"/>
                <a:ea typeface="JetBrains Mono"/>
                <a:cs typeface="JetBrains Mono"/>
                <a:sym typeface="JetBrains Mono"/>
              </a:rPr>
              <a:t> </a:t>
            </a:r>
            <a:r>
              <a:rPr b="0" i="0" lang="en-US" sz="1450">
                <a:solidFill>
                  <a:srgbClr val="6D8BE8"/>
                </a:solidFill>
                <a:latin typeface="JetBrains Mono"/>
                <a:ea typeface="JetBrains Mono"/>
                <a:cs typeface="JetBrains Mono"/>
                <a:sym typeface="JetBrains Mono"/>
              </a:rPr>
              <a:t>StateGraph</a:t>
            </a:r>
            <a:r>
              <a:rPr b="0" i="0" lang="en-US" sz="1450">
                <a:solidFill>
                  <a:srgbClr val="E8E2D4"/>
                </a:solidFill>
                <a:latin typeface="JetBrains Mono"/>
                <a:ea typeface="JetBrains Mono"/>
                <a:cs typeface="JetBrains Mono"/>
                <a:sym typeface="JetBrains Mono"/>
              </a:rPr>
              <a:t>(ChatState)</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add_node</a:t>
            </a:r>
            <a:r>
              <a:rPr b="0" i="0" lang="en-US" sz="1450">
                <a:solidFill>
                  <a:srgbClr val="E8E2D4"/>
                </a:solidFill>
                <a:latin typeface="JetBrains Mono"/>
                <a:ea typeface="JetBrains Mono"/>
                <a:cs typeface="JetBrains Mono"/>
                <a:sym typeface="JetBrains Mono"/>
              </a:rPr>
              <a:t>(</a:t>
            </a:r>
            <a:r>
              <a:rPr b="0" i="0" lang="en-US" sz="1450">
                <a:solidFill>
                  <a:srgbClr val="47B881"/>
                </a:solidFill>
                <a:latin typeface="JetBrains Mono"/>
                <a:ea typeface="JetBrains Mono"/>
                <a:cs typeface="JetBrains Mono"/>
                <a:sym typeface="JetBrains Mono"/>
              </a:rPr>
              <a:t>"rewrite"</a:t>
            </a:r>
            <a:r>
              <a:rPr b="0" i="0" lang="en-US" sz="1450">
                <a:solidFill>
                  <a:srgbClr val="E8E2D4"/>
                </a:solidFill>
                <a:latin typeface="JetBrains Mono"/>
                <a:ea typeface="JetBrains Mono"/>
                <a:cs typeface="JetBrains Mono"/>
                <a:sym typeface="JetBrains Mono"/>
              </a:rPr>
              <a:t>, rewrite)</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add_node</a:t>
            </a:r>
            <a:r>
              <a:rPr b="0" i="0" lang="en-US" sz="1450">
                <a:solidFill>
                  <a:srgbClr val="E8E2D4"/>
                </a:solidFill>
                <a:latin typeface="JetBrains Mono"/>
                <a:ea typeface="JetBrains Mono"/>
                <a:cs typeface="JetBrains Mono"/>
                <a:sym typeface="JetBrains Mono"/>
              </a:rPr>
              <a:t>(</a:t>
            </a:r>
            <a:r>
              <a:rPr b="0" i="0" lang="en-US" sz="1450">
                <a:solidFill>
                  <a:srgbClr val="47B881"/>
                </a:solidFill>
                <a:latin typeface="JetBrains Mono"/>
                <a:ea typeface="JetBrains Mono"/>
                <a:cs typeface="JetBrains Mono"/>
                <a:sym typeface="JetBrains Mono"/>
              </a:rPr>
              <a:t>"retrieve"</a:t>
            </a:r>
            <a:r>
              <a:rPr b="0" i="0" lang="en-US" sz="1450">
                <a:solidFill>
                  <a:srgbClr val="E8E2D4"/>
                </a:solidFill>
                <a:latin typeface="JetBrains Mono"/>
                <a:ea typeface="JetBrains Mono"/>
                <a:cs typeface="JetBrains Mono"/>
                <a:sym typeface="JetBrains Mono"/>
              </a:rPr>
              <a:t>, retrieve)</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add_node</a:t>
            </a:r>
            <a:r>
              <a:rPr b="0" i="0" lang="en-US" sz="1450">
                <a:solidFill>
                  <a:srgbClr val="E8E2D4"/>
                </a:solidFill>
                <a:latin typeface="JetBrains Mono"/>
                <a:ea typeface="JetBrains Mono"/>
                <a:cs typeface="JetBrains Mono"/>
                <a:sym typeface="JetBrains Mono"/>
              </a:rPr>
              <a:t>(</a:t>
            </a:r>
            <a:r>
              <a:rPr b="0" i="0" lang="en-US" sz="1450">
                <a:solidFill>
                  <a:srgbClr val="47B881"/>
                </a:solidFill>
                <a:latin typeface="JetBrains Mono"/>
                <a:ea typeface="JetBrains Mono"/>
                <a:cs typeface="JetBrains Mono"/>
                <a:sym typeface="JetBrains Mono"/>
              </a:rPr>
              <a:t>"grade"</a:t>
            </a:r>
            <a:r>
              <a:rPr b="0" i="0" lang="en-US" sz="1450">
                <a:solidFill>
                  <a:srgbClr val="E8E2D4"/>
                </a:solidFill>
                <a:latin typeface="JetBrains Mono"/>
                <a:ea typeface="JetBrains Mono"/>
                <a:cs typeface="JetBrains Mono"/>
                <a:sym typeface="JetBrains Mono"/>
              </a:rPr>
              <a:t>, grade)</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add_node</a:t>
            </a:r>
            <a:r>
              <a:rPr b="0" i="0" lang="en-US" sz="1450">
                <a:solidFill>
                  <a:srgbClr val="E8E2D4"/>
                </a:solidFill>
                <a:latin typeface="JetBrains Mono"/>
                <a:ea typeface="JetBrains Mono"/>
                <a:cs typeface="JetBrains Mono"/>
                <a:sym typeface="JetBrains Mono"/>
              </a:rPr>
              <a:t>(</a:t>
            </a:r>
            <a:r>
              <a:rPr b="0" i="0" lang="en-US" sz="1450">
                <a:solidFill>
                  <a:srgbClr val="47B881"/>
                </a:solidFill>
                <a:latin typeface="JetBrains Mono"/>
                <a:ea typeface="JetBrains Mono"/>
                <a:cs typeface="JetBrains Mono"/>
                <a:sym typeface="JetBrains Mono"/>
              </a:rPr>
              <a:t>"generate"</a:t>
            </a:r>
            <a:r>
              <a:rPr b="0" i="0" lang="en-US" sz="1450">
                <a:solidFill>
                  <a:srgbClr val="E8E2D4"/>
                </a:solidFill>
                <a:latin typeface="JetBrains Mono"/>
                <a:ea typeface="JetBrains Mono"/>
                <a:cs typeface="JetBrains Mono"/>
                <a:sym typeface="JetBrains Mono"/>
              </a:rPr>
              <a:t>, generate)</a:t>
            </a:r>
            <a:endParaRPr b="0" i="1" sz="145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add_edge</a:t>
            </a:r>
            <a:r>
              <a:rPr b="0" i="0" lang="en-US" sz="1450">
                <a:solidFill>
                  <a:srgbClr val="E8E2D4"/>
                </a:solidFill>
                <a:latin typeface="JetBrains Mono"/>
                <a:ea typeface="JetBrains Mono"/>
                <a:cs typeface="JetBrains Mono"/>
                <a:sym typeface="JetBrains Mono"/>
              </a:rPr>
              <a:t>(START, </a:t>
            </a:r>
            <a:r>
              <a:rPr b="0" i="0" lang="en-US" sz="1450">
                <a:solidFill>
                  <a:srgbClr val="47B881"/>
                </a:solidFill>
                <a:latin typeface="JetBrains Mono"/>
                <a:ea typeface="JetBrains Mono"/>
                <a:cs typeface="JetBrains Mono"/>
                <a:sym typeface="JetBrains Mono"/>
              </a:rPr>
              <a:t>"rewrite"</a:t>
            </a:r>
            <a:r>
              <a:rPr b="0" i="0" lang="en-US" sz="1450">
                <a:solidFill>
                  <a:srgbClr val="E8E2D4"/>
                </a:solidFill>
                <a:latin typeface="JetBrains Mono"/>
                <a:ea typeface="JetBrains Mono"/>
                <a:cs typeface="JetBrains Mono"/>
                <a:sym typeface="JetBrains Mono"/>
              </a:rPr>
              <a:t>)</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add_edge</a:t>
            </a:r>
            <a:r>
              <a:rPr b="0" i="0" lang="en-US" sz="1450">
                <a:solidFill>
                  <a:srgbClr val="E8E2D4"/>
                </a:solidFill>
                <a:latin typeface="JetBrains Mono"/>
                <a:ea typeface="JetBrains Mono"/>
                <a:cs typeface="JetBrains Mono"/>
                <a:sym typeface="JetBrains Mono"/>
              </a:rPr>
              <a:t>(</a:t>
            </a:r>
            <a:r>
              <a:rPr b="0" i="0" lang="en-US" sz="1450">
                <a:solidFill>
                  <a:srgbClr val="47B881"/>
                </a:solidFill>
                <a:latin typeface="JetBrains Mono"/>
                <a:ea typeface="JetBrains Mono"/>
                <a:cs typeface="JetBrains Mono"/>
                <a:sym typeface="JetBrains Mono"/>
              </a:rPr>
              <a:t>"rewrite"</a:t>
            </a:r>
            <a:r>
              <a:rPr b="0" i="0" lang="en-US" sz="1450">
                <a:solidFill>
                  <a:srgbClr val="E8E2D4"/>
                </a:solidFill>
                <a:latin typeface="JetBrains Mono"/>
                <a:ea typeface="JetBrains Mono"/>
                <a:cs typeface="JetBrains Mono"/>
                <a:sym typeface="JetBrains Mono"/>
              </a:rPr>
              <a:t>, </a:t>
            </a:r>
            <a:r>
              <a:rPr b="0" i="0" lang="en-US" sz="1450">
                <a:solidFill>
                  <a:srgbClr val="47B881"/>
                </a:solidFill>
                <a:latin typeface="JetBrains Mono"/>
                <a:ea typeface="JetBrains Mono"/>
                <a:cs typeface="JetBrains Mono"/>
                <a:sym typeface="JetBrains Mono"/>
              </a:rPr>
              <a:t>"retrieve"</a:t>
            </a:r>
            <a:r>
              <a:rPr b="0" i="0" lang="en-US" sz="1450">
                <a:solidFill>
                  <a:srgbClr val="E8E2D4"/>
                </a:solidFill>
                <a:latin typeface="JetBrains Mono"/>
                <a:ea typeface="JetBrains Mono"/>
                <a:cs typeface="JetBrains Mono"/>
                <a:sym typeface="JetBrains Mono"/>
              </a:rPr>
              <a:t>)</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add_edge</a:t>
            </a:r>
            <a:r>
              <a:rPr b="0" i="0" lang="en-US" sz="1450">
                <a:solidFill>
                  <a:srgbClr val="E8E2D4"/>
                </a:solidFill>
                <a:latin typeface="JetBrains Mono"/>
                <a:ea typeface="JetBrains Mono"/>
                <a:cs typeface="JetBrains Mono"/>
                <a:sym typeface="JetBrains Mono"/>
              </a:rPr>
              <a:t>(</a:t>
            </a:r>
            <a:r>
              <a:rPr b="0" i="0" lang="en-US" sz="1450">
                <a:solidFill>
                  <a:srgbClr val="47B881"/>
                </a:solidFill>
                <a:latin typeface="JetBrains Mono"/>
                <a:ea typeface="JetBrains Mono"/>
                <a:cs typeface="JetBrains Mono"/>
                <a:sym typeface="JetBrains Mono"/>
              </a:rPr>
              <a:t>"retrieve"</a:t>
            </a:r>
            <a:r>
              <a:rPr b="0" i="0" lang="en-US" sz="1450">
                <a:solidFill>
                  <a:srgbClr val="E8E2D4"/>
                </a:solidFill>
                <a:latin typeface="JetBrains Mono"/>
                <a:ea typeface="JetBrains Mono"/>
                <a:cs typeface="JetBrains Mono"/>
                <a:sym typeface="JetBrains Mono"/>
              </a:rPr>
              <a:t>, </a:t>
            </a:r>
            <a:r>
              <a:rPr b="0" i="0" lang="en-US" sz="1450">
                <a:solidFill>
                  <a:srgbClr val="47B881"/>
                </a:solidFill>
                <a:latin typeface="JetBrains Mono"/>
                <a:ea typeface="JetBrains Mono"/>
                <a:cs typeface="JetBrains Mono"/>
                <a:sym typeface="JetBrains Mono"/>
              </a:rPr>
              <a:t>"grade"</a:t>
            </a:r>
            <a:r>
              <a:rPr b="0" i="0" lang="en-US" sz="1450">
                <a:solidFill>
                  <a:srgbClr val="E8E2D4"/>
                </a:solidFill>
                <a:latin typeface="JetBrains Mono"/>
                <a:ea typeface="JetBrains Mono"/>
                <a:cs typeface="JetBrains Mono"/>
                <a:sym typeface="JetBrains Mono"/>
              </a:rPr>
              <a:t>)</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add_conditional_edges</a:t>
            </a:r>
            <a:r>
              <a:rPr b="0" i="0" lang="en-US" sz="1450">
                <a:solidFill>
                  <a:srgbClr val="E8E2D4"/>
                </a:solidFill>
                <a:latin typeface="JetBrains Mono"/>
                <a:ea typeface="JetBrains Mono"/>
                <a:cs typeface="JetBrains Mono"/>
                <a:sym typeface="JetBrains Mono"/>
              </a:rPr>
              <a:t>(</a:t>
            </a:r>
            <a:r>
              <a:rPr b="0" i="0" lang="en-US" sz="1450">
                <a:solidFill>
                  <a:srgbClr val="47B881"/>
                </a:solidFill>
                <a:latin typeface="JetBrains Mono"/>
                <a:ea typeface="JetBrains Mono"/>
                <a:cs typeface="JetBrains Mono"/>
                <a:sym typeface="JetBrains Mono"/>
              </a:rPr>
              <a:t>"grade"</a:t>
            </a:r>
            <a:r>
              <a:rPr b="0" i="0" lang="en-US" sz="1450">
                <a:solidFill>
                  <a:srgbClr val="E8E2D4"/>
                </a:solidFill>
                <a:latin typeface="JetBrains Mono"/>
                <a:ea typeface="JetBrains Mono"/>
                <a:cs typeface="JetBrains Mono"/>
                <a:sym typeface="JetBrains Mono"/>
              </a:rPr>
              <a:t>, route_after_grade, {</a:t>
            </a:r>
            <a:endParaRPr b="0" i="1" sz="1450">
              <a:solidFill>
                <a:srgbClr val="8FA0AF"/>
              </a:solidFill>
              <a:latin typeface="JetBrains Mono"/>
              <a:ea typeface="JetBrains Mono"/>
              <a:cs typeface="JetBrains Mono"/>
              <a:sym typeface="JetBrains Mono"/>
            </a:endParaRPr>
          </a:p>
          <a:p>
            <a:pPr indent="0" lvl="0" marL="238125" marR="0" rtl="0" algn="l">
              <a:spcBef>
                <a:spcPts val="0"/>
              </a:spcBef>
              <a:spcAft>
                <a:spcPts val="0"/>
              </a:spcAft>
              <a:buNone/>
            </a:pPr>
            <a:r>
              <a:rPr b="0" i="0" lang="en-US" sz="1450">
                <a:solidFill>
                  <a:srgbClr val="47B881"/>
                </a:solidFill>
                <a:latin typeface="JetBrains Mono"/>
                <a:ea typeface="JetBrains Mono"/>
                <a:cs typeface="JetBrains Mono"/>
                <a:sym typeface="JetBrains Mono"/>
              </a:rPr>
              <a:t>"generate"</a:t>
            </a:r>
            <a:r>
              <a:rPr b="0" i="0" lang="en-US" sz="1450">
                <a:solidFill>
                  <a:srgbClr val="E8E2D4"/>
                </a:solidFill>
                <a:latin typeface="JetBrains Mono"/>
                <a:ea typeface="JetBrains Mono"/>
                <a:cs typeface="JetBrains Mono"/>
                <a:sym typeface="JetBrains Mono"/>
              </a:rPr>
              <a:t>: </a:t>
            </a:r>
            <a:r>
              <a:rPr b="0" i="0" lang="en-US" sz="1450">
                <a:solidFill>
                  <a:srgbClr val="47B881"/>
                </a:solidFill>
                <a:latin typeface="JetBrains Mono"/>
                <a:ea typeface="JetBrains Mono"/>
                <a:cs typeface="JetBrains Mono"/>
                <a:sym typeface="JetBrains Mono"/>
              </a:rPr>
              <a:t>"generate"</a:t>
            </a:r>
            <a:r>
              <a:rPr b="0" i="0" lang="en-US" sz="1450">
                <a:solidFill>
                  <a:srgbClr val="E8E2D4"/>
                </a:solidFill>
                <a:latin typeface="JetBrains Mono"/>
                <a:ea typeface="JetBrains Mono"/>
                <a:cs typeface="JetBrains Mono"/>
                <a:sym typeface="JetBrains Mono"/>
              </a:rPr>
              <a:t>, </a:t>
            </a:r>
            <a:r>
              <a:rPr b="0" i="0" lang="en-US" sz="1450">
                <a:solidFill>
                  <a:srgbClr val="47B881"/>
                </a:solidFill>
                <a:latin typeface="JetBrains Mono"/>
                <a:ea typeface="JetBrains Mono"/>
                <a:cs typeface="JetBrains Mono"/>
                <a:sym typeface="JetBrains Mono"/>
              </a:rPr>
              <a:t>"rewrite"</a:t>
            </a:r>
            <a:r>
              <a:rPr b="0" i="0" lang="en-US" sz="1450">
                <a:solidFill>
                  <a:srgbClr val="E8E2D4"/>
                </a:solidFill>
                <a:latin typeface="JetBrains Mono"/>
                <a:ea typeface="JetBrains Mono"/>
                <a:cs typeface="JetBrains Mono"/>
                <a:sym typeface="JetBrains Mono"/>
              </a:rPr>
              <a:t>: </a:t>
            </a:r>
            <a:r>
              <a:rPr b="0" i="0" lang="en-US" sz="1450">
                <a:solidFill>
                  <a:srgbClr val="47B881"/>
                </a:solidFill>
                <a:latin typeface="JetBrains Mono"/>
                <a:ea typeface="JetBrains Mono"/>
                <a:cs typeface="JetBrains Mono"/>
                <a:sym typeface="JetBrains Mono"/>
              </a:rPr>
              <a:t>"rewrite"</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a:t>
            </a:r>
            <a:endParaRPr b="0" i="1" sz="1450">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450">
                <a:solidFill>
                  <a:srgbClr val="E8E2D4"/>
                </a:solidFill>
                <a:latin typeface="JetBrains Mono"/>
                <a:ea typeface="JetBrains Mono"/>
                <a:cs typeface="JetBrains Mono"/>
                <a:sym typeface="JetBrains Mono"/>
              </a:rPr>
              <a:t>g.</a:t>
            </a:r>
            <a:r>
              <a:rPr b="0" i="0" lang="en-US" sz="1450">
                <a:solidFill>
                  <a:srgbClr val="6D8BE8"/>
                </a:solidFill>
                <a:latin typeface="JetBrains Mono"/>
                <a:ea typeface="JetBrains Mono"/>
                <a:cs typeface="JetBrains Mono"/>
                <a:sym typeface="JetBrains Mono"/>
              </a:rPr>
              <a:t>add_edge</a:t>
            </a:r>
            <a:r>
              <a:rPr b="0" i="0" lang="en-US" sz="1450">
                <a:solidFill>
                  <a:srgbClr val="E8E2D4"/>
                </a:solidFill>
                <a:latin typeface="JetBrains Mono"/>
                <a:ea typeface="JetBrains Mono"/>
                <a:cs typeface="JetBrains Mono"/>
                <a:sym typeface="JetBrains Mono"/>
              </a:rPr>
              <a:t>(</a:t>
            </a:r>
            <a:r>
              <a:rPr b="0" i="0" lang="en-US" sz="1450">
                <a:solidFill>
                  <a:srgbClr val="47B881"/>
                </a:solidFill>
                <a:latin typeface="JetBrains Mono"/>
                <a:ea typeface="JetBrains Mono"/>
                <a:cs typeface="JetBrains Mono"/>
                <a:sym typeface="JetBrains Mono"/>
              </a:rPr>
              <a:t>"generate"</a:t>
            </a:r>
            <a:r>
              <a:rPr b="0" i="0" lang="en-US" sz="1450">
                <a:solidFill>
                  <a:srgbClr val="E8E2D4"/>
                </a:solidFill>
                <a:latin typeface="JetBrains Mono"/>
                <a:ea typeface="JetBrains Mono"/>
                <a:cs typeface="JetBrains Mono"/>
                <a:sym typeface="JetBrains Mono"/>
              </a:rPr>
              <a:t>, END)</a:t>
            </a:r>
            <a:endParaRPr b="0" i="1" sz="1450">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0" lang="en-US" sz="1450">
                <a:solidFill>
                  <a:srgbClr val="E8E2D4"/>
                </a:solidFill>
                <a:latin typeface="JetBrains Mono"/>
                <a:ea typeface="JetBrains Mono"/>
                <a:cs typeface="JetBrains Mono"/>
                <a:sym typeface="JetBrains Mono"/>
              </a:rPr>
              <a:t>chat_graph </a:t>
            </a:r>
            <a:r>
              <a:rPr b="0" i="0" lang="en-US" sz="1450">
                <a:solidFill>
                  <a:srgbClr val="FACC15"/>
                </a:solidFill>
                <a:latin typeface="JetBrains Mono"/>
                <a:ea typeface="JetBrains Mono"/>
                <a:cs typeface="JetBrains Mono"/>
                <a:sym typeface="JetBrains Mono"/>
              </a:rPr>
              <a:t>=</a:t>
            </a:r>
            <a:r>
              <a:rPr b="0" i="0" lang="en-US" sz="1450">
                <a:solidFill>
                  <a:srgbClr val="E8E2D4"/>
                </a:solidFill>
                <a:latin typeface="JetBrains Mono"/>
                <a:ea typeface="JetBrains Mono"/>
                <a:cs typeface="JetBrains Mono"/>
                <a:sym typeface="JetBrains Mono"/>
              </a:rPr>
              <a:t> g.</a:t>
            </a:r>
            <a:r>
              <a:rPr b="0" i="0" lang="en-US" sz="1450">
                <a:solidFill>
                  <a:srgbClr val="6D8BE8"/>
                </a:solidFill>
                <a:latin typeface="JetBrains Mono"/>
                <a:ea typeface="JetBrains Mono"/>
                <a:cs typeface="JetBrains Mono"/>
                <a:sym typeface="JetBrains Mono"/>
              </a:rPr>
              <a:t>compile</a:t>
            </a:r>
            <a:r>
              <a:rPr b="0" i="0" lang="en-US" sz="1450">
                <a:solidFill>
                  <a:srgbClr val="E8E2D4"/>
                </a:solidFill>
                <a:latin typeface="JetBrains Mono"/>
                <a:ea typeface="JetBrains Mono"/>
                <a:cs typeface="JetBrains Mono"/>
                <a:sym typeface="JetBrains Mono"/>
              </a:rPr>
              <a:t>() </a:t>
            </a:r>
            <a:r>
              <a:rPr b="0" i="1" lang="en-US" sz="1450">
                <a:solidFill>
                  <a:srgbClr val="8FA0AF"/>
                </a:solidFill>
                <a:latin typeface="JetBrains Mono"/>
                <a:ea typeface="JetBrains Mono"/>
                <a:cs typeface="JetBrains Mono"/>
                <a:sym typeface="JetBrains Mono"/>
              </a:rPr>
              <a:t># reuse across requests</a:t>
            </a:r>
            <a:endParaRPr b="0" i="1" sz="1450">
              <a:solidFill>
                <a:srgbClr val="8FA0AF"/>
              </a:solidFill>
              <a:latin typeface="JetBrains Mono"/>
              <a:ea typeface="JetBrains Mono"/>
              <a:cs typeface="JetBrains Mono"/>
              <a:sym typeface="JetBrains Mono"/>
            </a:endParaRPr>
          </a:p>
        </p:txBody>
      </p:sp>
      <p:sp>
        <p:nvSpPr>
          <p:cNvPr id="627" name="Google Shape;627;p27"/>
          <p:cNvSpPr/>
          <p:nvPr/>
        </p:nvSpPr>
        <p:spPr>
          <a:xfrm>
            <a:off x="10706100" y="3505200"/>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7"/>
          <p:cNvSpPr/>
          <p:nvPr/>
        </p:nvSpPr>
        <p:spPr>
          <a:xfrm>
            <a:off x="11020425" y="3819525"/>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COMPILE ONCE</a:t>
            </a:r>
            <a:endParaRPr b="0" i="0" sz="1350" u="none" cap="none" strike="noStrike">
              <a:solidFill>
                <a:schemeClr val="dk1"/>
              </a:solidFill>
              <a:latin typeface="Calibri"/>
              <a:ea typeface="Calibri"/>
              <a:cs typeface="Calibri"/>
              <a:sym typeface="Calibri"/>
            </a:endParaRPr>
          </a:p>
        </p:txBody>
      </p:sp>
      <p:sp>
        <p:nvSpPr>
          <p:cNvPr id="629" name="Google Shape;629;p27"/>
          <p:cNvSpPr/>
          <p:nvPr/>
        </p:nvSpPr>
        <p:spPr>
          <a:xfrm>
            <a:off x="11020425" y="4143375"/>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App-startup work. Compilation is cheap; reuse the graph instance.</a:t>
            </a:r>
            <a:endParaRPr b="0" i="0" sz="1800" u="none" cap="none" strike="noStrike">
              <a:solidFill>
                <a:schemeClr val="dk1"/>
              </a:solidFill>
              <a:latin typeface="Calibri"/>
              <a:ea typeface="Calibri"/>
              <a:cs typeface="Calibri"/>
              <a:sym typeface="Calibri"/>
            </a:endParaRPr>
          </a:p>
        </p:txBody>
      </p:sp>
      <p:sp>
        <p:nvSpPr>
          <p:cNvPr id="630" name="Google Shape;630;p27"/>
          <p:cNvSpPr/>
          <p:nvPr/>
        </p:nvSpPr>
        <p:spPr>
          <a:xfrm>
            <a:off x="10706100" y="5292030"/>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7"/>
          <p:cNvSpPr/>
          <p:nvPr/>
        </p:nvSpPr>
        <p:spPr>
          <a:xfrm>
            <a:off x="11020425" y="5606355"/>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CONDITIONAL EDGE</a:t>
            </a:r>
            <a:endParaRPr b="0" i="0" sz="1350" u="none" cap="none" strike="noStrike">
              <a:solidFill>
                <a:schemeClr val="dk1"/>
              </a:solidFill>
              <a:latin typeface="Calibri"/>
              <a:ea typeface="Calibri"/>
              <a:cs typeface="Calibri"/>
              <a:sym typeface="Calibri"/>
            </a:endParaRPr>
          </a:p>
        </p:txBody>
      </p:sp>
      <p:sp>
        <p:nvSpPr>
          <p:cNvPr id="632" name="Google Shape;632;p27"/>
          <p:cNvSpPr/>
          <p:nvPr/>
        </p:nvSpPr>
        <p:spPr>
          <a:xfrm>
            <a:off x="11020425" y="5930205"/>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A router function returns the name of the next node — that's the whole loop.</a:t>
            </a:r>
            <a:endParaRPr b="0" i="0" sz="1800" u="none" cap="none" strike="noStrike">
              <a:solidFill>
                <a:schemeClr val="dk1"/>
              </a:solidFill>
              <a:latin typeface="Calibri"/>
              <a:ea typeface="Calibri"/>
              <a:cs typeface="Calibri"/>
              <a:sym typeface="Calibri"/>
            </a:endParaRPr>
          </a:p>
        </p:txBody>
      </p:sp>
      <p:sp>
        <p:nvSpPr>
          <p:cNvPr id="633" name="Google Shape;633;p27"/>
          <p:cNvSpPr/>
          <p:nvPr/>
        </p:nvSpPr>
        <p:spPr>
          <a:xfrm>
            <a:off x="10706100" y="7078861"/>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7"/>
          <p:cNvSpPr/>
          <p:nvPr/>
        </p:nvSpPr>
        <p:spPr>
          <a:xfrm>
            <a:off x="11020425" y="7393186"/>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LOOP CAP</a:t>
            </a:r>
            <a:endParaRPr b="0" i="0" sz="1350" u="none" cap="none" strike="noStrike">
              <a:solidFill>
                <a:schemeClr val="dk1"/>
              </a:solidFill>
              <a:latin typeface="Calibri"/>
              <a:ea typeface="Calibri"/>
              <a:cs typeface="Calibri"/>
              <a:sym typeface="Calibri"/>
            </a:endParaRPr>
          </a:p>
        </p:txBody>
      </p:sp>
      <p:sp>
        <p:nvSpPr>
          <p:cNvPr id="635" name="Google Shape;635;p27"/>
          <p:cNvSpPr/>
          <p:nvPr/>
        </p:nvSpPr>
        <p:spPr>
          <a:xfrm>
            <a:off x="11020425" y="7717036"/>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JetBrains Mono"/>
              <a:buNone/>
            </a:pPr>
            <a:r>
              <a:rPr b="0" i="0" lang="en-US" sz="1800" u="none" cap="none" strike="noStrike">
                <a:solidFill>
                  <a:srgbClr val="1D2B3A"/>
                </a:solidFill>
                <a:highlight>
                  <a:srgbClr val="E8E2D4"/>
                </a:highlight>
                <a:latin typeface="JetBrains Mono"/>
                <a:ea typeface="JetBrains Mono"/>
                <a:cs typeface="JetBrains Mono"/>
                <a:sym typeface="JetBrains Mono"/>
              </a:rPr>
              <a:t>attempts &gt;= 2 </a:t>
            </a:r>
            <a:r>
              <a:rPr b="0" i="0" lang="en-US" sz="1800" u="none" cap="none" strike="noStrike">
                <a:solidFill>
                  <a:srgbClr val="1D2B3A"/>
                </a:solidFill>
                <a:latin typeface="Inter"/>
                <a:ea typeface="Inter"/>
                <a:cs typeface="Inter"/>
                <a:sym typeface="Inter"/>
              </a:rPr>
              <a:t>forces an answer even if the grade is still weak.</a:t>
            </a:r>
            <a:endParaRPr b="0" i="0" sz="1800" u="none" cap="none" strike="noStrike">
              <a:solidFill>
                <a:schemeClr val="dk1"/>
              </a:solidFill>
              <a:latin typeface="Calibri"/>
              <a:ea typeface="Calibri"/>
              <a:cs typeface="Calibri"/>
              <a:sym typeface="Calibri"/>
            </a:endParaRPr>
          </a:p>
        </p:txBody>
      </p:sp>
      <p:sp>
        <p:nvSpPr>
          <p:cNvPr id="636" name="Google Shape;636;p27"/>
          <p:cNvSpPr/>
          <p:nvPr/>
        </p:nvSpPr>
        <p:spPr>
          <a:xfrm>
            <a:off x="10706100" y="8865691"/>
            <a:ext cx="6667500" cy="1615500"/>
          </a:xfrm>
          <a:prstGeom prst="roundRect">
            <a:avLst>
              <a:gd fmla="val 4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7"/>
          <p:cNvSpPr/>
          <p:nvPr/>
        </p:nvSpPr>
        <p:spPr>
          <a:xfrm>
            <a:off x="11020425" y="9180016"/>
            <a:ext cx="62199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FASTAPI HANDLER</a:t>
            </a:r>
            <a:endParaRPr b="0" i="0" sz="1350" u="none" cap="none" strike="noStrike">
              <a:solidFill>
                <a:schemeClr val="dk1"/>
              </a:solidFill>
              <a:latin typeface="Calibri"/>
              <a:ea typeface="Calibri"/>
              <a:cs typeface="Calibri"/>
              <a:sym typeface="Calibri"/>
            </a:endParaRPr>
          </a:p>
        </p:txBody>
      </p:sp>
      <p:sp>
        <p:nvSpPr>
          <p:cNvPr id="638" name="Google Shape;638;p27"/>
          <p:cNvSpPr/>
          <p:nvPr/>
        </p:nvSpPr>
        <p:spPr>
          <a:xfrm>
            <a:off x="11020425" y="9503866"/>
            <a:ext cx="6219900" cy="7011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JetBrains Mono"/>
              <a:buNone/>
            </a:pPr>
            <a:r>
              <a:rPr b="0" i="0" lang="en-US" sz="1800" u="none" cap="none" strike="noStrike">
                <a:solidFill>
                  <a:srgbClr val="1D2B3A"/>
                </a:solidFill>
                <a:highlight>
                  <a:srgbClr val="E8E2D4"/>
                </a:highlight>
                <a:latin typeface="JetBrains Mono"/>
                <a:ea typeface="JetBrains Mono"/>
                <a:cs typeface="JetBrains Mono"/>
                <a:sym typeface="JetBrains Mono"/>
              </a:rPr>
              <a:t>chat_graph.invoke({...}) </a:t>
            </a:r>
            <a:r>
              <a:rPr b="0" i="0" lang="en-US" sz="1800" u="none" cap="none" strike="noStrike">
                <a:solidFill>
                  <a:srgbClr val="1D2B3A"/>
                </a:solidFill>
                <a:latin typeface="Inter"/>
                <a:ea typeface="Inter"/>
                <a:cs typeface="Inter"/>
                <a:sym typeface="Inter"/>
              </a:rPr>
              <a:t>or </a:t>
            </a:r>
            <a:r>
              <a:rPr b="0" i="0" lang="en-US" sz="1800" u="none" cap="none" strike="noStrike">
                <a:solidFill>
                  <a:srgbClr val="1D2B3A"/>
                </a:solidFill>
                <a:highlight>
                  <a:srgbClr val="E8E2D4"/>
                </a:highlight>
                <a:latin typeface="JetBrains Mono"/>
                <a:ea typeface="JetBrains Mono"/>
                <a:cs typeface="JetBrains Mono"/>
                <a:sym typeface="JetBrains Mono"/>
              </a:rPr>
              <a:t>.astream() </a:t>
            </a:r>
            <a:r>
              <a:rPr b="0" i="0" lang="en-US" sz="1800" u="none" cap="none" strike="noStrike">
                <a:solidFill>
                  <a:srgbClr val="1D2B3A"/>
                </a:solidFill>
                <a:latin typeface="Inter"/>
                <a:ea typeface="Inter"/>
                <a:cs typeface="Inter"/>
                <a:sym typeface="Inter"/>
              </a:rPr>
              <a:t>from your endpoint.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643" name="Shape 643"/>
        <p:cNvGrpSpPr/>
        <p:nvPr/>
      </p:nvGrpSpPr>
      <p:grpSpPr>
        <a:xfrm>
          <a:off x="0" y="0"/>
          <a:ext cx="0" cy="0"/>
          <a:chOff x="0" y="0"/>
          <a:chExt cx="0" cy="0"/>
        </a:xfrm>
      </p:grpSpPr>
      <p:sp>
        <p:nvSpPr>
          <p:cNvPr id="644" name="Google Shape;644;p28"/>
          <p:cNvSpPr/>
          <p:nvPr/>
        </p:nvSpPr>
        <p:spPr>
          <a:xfrm>
            <a:off x="914400" y="45720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645" name="Google Shape;645;p28"/>
          <p:cNvSpPr/>
          <p:nvPr/>
        </p:nvSpPr>
        <p:spPr>
          <a:xfrm>
            <a:off x="914400" y="742950"/>
            <a:ext cx="21828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646" name="Google Shape;646;p28"/>
          <p:cNvSpPr/>
          <p:nvPr/>
        </p:nvSpPr>
        <p:spPr>
          <a:xfrm>
            <a:off x="16572905" y="457200"/>
            <a:ext cx="8769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25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647" name="Google Shape;647;p28"/>
          <p:cNvSpPr/>
          <p:nvPr/>
        </p:nvSpPr>
        <p:spPr>
          <a:xfrm>
            <a:off x="914400" y="9794837"/>
            <a:ext cx="52557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648" name="Google Shape;648;p28"/>
          <p:cNvSpPr/>
          <p:nvPr/>
        </p:nvSpPr>
        <p:spPr>
          <a:xfrm>
            <a:off x="914400" y="1714500"/>
            <a:ext cx="16953000" cy="563100"/>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Visualize the graph — export it as a PNG</a:t>
            </a:r>
            <a:endParaRPr b="0" i="0" sz="3900" u="none" cap="none" strike="noStrike">
              <a:solidFill>
                <a:schemeClr val="dk1"/>
              </a:solidFill>
              <a:latin typeface="Calibri"/>
              <a:ea typeface="Calibri"/>
              <a:cs typeface="Calibri"/>
              <a:sym typeface="Calibri"/>
            </a:endParaRPr>
          </a:p>
        </p:txBody>
      </p:sp>
      <p:sp>
        <p:nvSpPr>
          <p:cNvPr id="649" name="Google Shape;649;p28"/>
          <p:cNvSpPr/>
          <p:nvPr/>
        </p:nvSpPr>
        <p:spPr>
          <a:xfrm>
            <a:off x="914400" y="2448967"/>
            <a:ext cx="14716200" cy="811500"/>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LangGraph renders the compiled graph via Mermaid. Commit the PNG with your code — it's the cheapest architecture diagram you'll ever own.</a:t>
            </a:r>
            <a:endParaRPr b="0" i="0" sz="2100" u="none" cap="none" strike="noStrike">
              <a:solidFill>
                <a:schemeClr val="dk1"/>
              </a:solidFill>
              <a:latin typeface="Calibri"/>
              <a:ea typeface="Calibri"/>
              <a:cs typeface="Calibri"/>
              <a:sym typeface="Calibri"/>
            </a:endParaRPr>
          </a:p>
        </p:txBody>
      </p:sp>
      <p:sp>
        <p:nvSpPr>
          <p:cNvPr id="650" name="Google Shape;650;p28"/>
          <p:cNvSpPr/>
          <p:nvPr/>
        </p:nvSpPr>
        <p:spPr>
          <a:xfrm>
            <a:off x="914400" y="3429000"/>
            <a:ext cx="8889900" cy="5410200"/>
          </a:xfrm>
          <a:prstGeom prst="roundRect">
            <a:avLst>
              <a:gd fmla="val 1408" name="adj"/>
            </a:avLst>
          </a:prstGeom>
          <a:solidFill>
            <a:srgbClr val="1D2B3A"/>
          </a:solidFill>
          <a:ln>
            <a:noFill/>
          </a:ln>
          <a:effectLst>
            <a:outerShdw blurRad="304800" rotWithShape="0" algn="bl" dir="5400000" dist="114300">
              <a:srgbClr val="030A1C">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8"/>
          <p:cNvSpPr/>
          <p:nvPr/>
        </p:nvSpPr>
        <p:spPr>
          <a:xfrm>
            <a:off x="1219200" y="3733800"/>
            <a:ext cx="8547000" cy="48387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i="1" lang="en-US" sz="1575">
                <a:solidFill>
                  <a:srgbClr val="8FA0AF"/>
                </a:solidFill>
                <a:latin typeface="JetBrains Mono"/>
                <a:ea typeface="JetBrains Mono"/>
                <a:cs typeface="JetBrains Mono"/>
                <a:sym typeface="JetBrains Mono"/>
              </a:rPr>
              <a:t># scripts/draw_graph.py</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FACC15"/>
                </a:solidFill>
                <a:latin typeface="JetBrains Mono"/>
                <a:ea typeface="JetBrains Mono"/>
                <a:cs typeface="JetBrains Mono"/>
                <a:sym typeface="JetBrains Mono"/>
              </a:rPr>
              <a:t>from</a:t>
            </a:r>
            <a:r>
              <a:rPr b="0" i="0" lang="en-US" sz="1575">
                <a:solidFill>
                  <a:srgbClr val="E8E2D4"/>
                </a:solidFill>
                <a:latin typeface="JetBrains Mono"/>
                <a:ea typeface="JetBrains Mono"/>
                <a:cs typeface="JetBrains Mono"/>
                <a:sym typeface="JetBrains Mono"/>
              </a:rPr>
              <a:t> pathlib </a:t>
            </a:r>
            <a:r>
              <a:rPr b="0" i="0" lang="en-US" sz="1575">
                <a:solidFill>
                  <a:srgbClr val="FACC15"/>
                </a:solidFill>
                <a:latin typeface="JetBrains Mono"/>
                <a:ea typeface="JetBrains Mono"/>
                <a:cs typeface="JetBrains Mono"/>
                <a:sym typeface="JetBrains Mono"/>
              </a:rPr>
              <a:t>import</a:t>
            </a:r>
            <a:r>
              <a:rPr b="0" i="0" lang="en-US" sz="1575">
                <a:solidFill>
                  <a:srgbClr val="E8E2D4"/>
                </a:solidFill>
                <a:latin typeface="JetBrains Mono"/>
                <a:ea typeface="JetBrains Mono"/>
                <a:cs typeface="JetBrains Mono"/>
                <a:sym typeface="JetBrains Mono"/>
              </a:rPr>
              <a:t> Path</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FACC15"/>
                </a:solidFill>
                <a:latin typeface="JetBrains Mono"/>
                <a:ea typeface="JetBrains Mono"/>
                <a:cs typeface="JetBrains Mono"/>
                <a:sym typeface="JetBrains Mono"/>
              </a:rPr>
              <a:t>from</a:t>
            </a:r>
            <a:r>
              <a:rPr b="0" i="0" lang="en-US" sz="1575">
                <a:solidFill>
                  <a:srgbClr val="E8E2D4"/>
                </a:solidFill>
                <a:latin typeface="JetBrains Mono"/>
                <a:ea typeface="JetBrains Mono"/>
                <a:cs typeface="JetBrains Mono"/>
                <a:sym typeface="JetBrains Mono"/>
              </a:rPr>
              <a:t> graph.build </a:t>
            </a:r>
            <a:r>
              <a:rPr b="0" i="0" lang="en-US" sz="1575">
                <a:solidFill>
                  <a:srgbClr val="FACC15"/>
                </a:solidFill>
                <a:latin typeface="JetBrains Mono"/>
                <a:ea typeface="JetBrains Mono"/>
                <a:cs typeface="JetBrains Mono"/>
                <a:sym typeface="JetBrains Mono"/>
              </a:rPr>
              <a:t>import</a:t>
            </a:r>
            <a:r>
              <a:rPr b="0" i="0" lang="en-US" sz="1575">
                <a:solidFill>
                  <a:srgbClr val="E8E2D4"/>
                </a:solidFill>
                <a:latin typeface="JetBrains Mono"/>
                <a:ea typeface="JetBrains Mono"/>
                <a:cs typeface="JetBrains Mono"/>
                <a:sym typeface="JetBrains Mono"/>
              </a:rPr>
              <a:t> chat_graph</a:t>
            </a:r>
            <a:endParaRPr b="0" i="1" sz="1575">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1" lang="en-US" sz="1575">
                <a:solidFill>
                  <a:srgbClr val="8FA0AF"/>
                </a:solidFill>
                <a:latin typeface="JetBrains Mono"/>
                <a:ea typeface="JetBrains Mono"/>
                <a:cs typeface="JetBrains Mono"/>
                <a:sym typeface="JetBrains Mono"/>
              </a:rPr>
              <a:t># 1) Get the underlying graph object</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E8E2D4"/>
                </a:solidFill>
                <a:latin typeface="JetBrains Mono"/>
                <a:ea typeface="JetBrains Mono"/>
                <a:cs typeface="JetBrains Mono"/>
                <a:sym typeface="JetBrains Mono"/>
              </a:rPr>
              <a:t>graph = chat_graph.</a:t>
            </a:r>
            <a:r>
              <a:rPr b="0" i="0" lang="en-US" sz="1575">
                <a:solidFill>
                  <a:srgbClr val="6D8BE8"/>
                </a:solidFill>
                <a:latin typeface="JetBrains Mono"/>
                <a:ea typeface="JetBrains Mono"/>
                <a:cs typeface="JetBrains Mono"/>
                <a:sym typeface="JetBrains Mono"/>
              </a:rPr>
              <a:t>get_graph</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1" lang="en-US" sz="1575">
                <a:solidFill>
                  <a:srgbClr val="8FA0AF"/>
                </a:solidFill>
                <a:latin typeface="JetBrains Mono"/>
                <a:ea typeface="JetBrains Mono"/>
                <a:cs typeface="JetBrains Mono"/>
                <a:sym typeface="JetBrains Mono"/>
              </a:rPr>
              <a:t># 2) ASCII — handy for terminals &amp; PRs</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6D8BE8"/>
                </a:solidFill>
                <a:latin typeface="JetBrains Mono"/>
                <a:ea typeface="JetBrains Mono"/>
                <a:cs typeface="JetBrains Mono"/>
                <a:sym typeface="JetBrains Mono"/>
              </a:rPr>
              <a:t>print</a:t>
            </a:r>
            <a:r>
              <a:rPr b="0" i="0" lang="en-US" sz="1575">
                <a:solidFill>
                  <a:srgbClr val="E8E2D4"/>
                </a:solidFill>
                <a:latin typeface="JetBrains Mono"/>
                <a:ea typeface="JetBrains Mono"/>
                <a:cs typeface="JetBrains Mono"/>
                <a:sym typeface="JetBrains Mono"/>
              </a:rPr>
              <a:t>(graph.</a:t>
            </a:r>
            <a:r>
              <a:rPr b="0" i="0" lang="en-US" sz="1575">
                <a:solidFill>
                  <a:srgbClr val="6D8BE8"/>
                </a:solidFill>
                <a:latin typeface="JetBrains Mono"/>
                <a:ea typeface="JetBrains Mono"/>
                <a:cs typeface="JetBrains Mono"/>
                <a:sym typeface="JetBrains Mono"/>
              </a:rPr>
              <a:t>draw_ascii</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1" lang="en-US" sz="1575">
                <a:solidFill>
                  <a:srgbClr val="8FA0AF"/>
                </a:solidFill>
                <a:latin typeface="JetBrains Mono"/>
                <a:ea typeface="JetBrains Mono"/>
                <a:cs typeface="JetBrains Mono"/>
                <a:sym typeface="JetBrains Mono"/>
              </a:rPr>
              <a:t># 3) PNG via Mermaid</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E8E2D4"/>
                </a:solidFill>
                <a:latin typeface="JetBrains Mono"/>
                <a:ea typeface="JetBrains Mono"/>
                <a:cs typeface="JetBrains Mono"/>
                <a:sym typeface="JetBrains Mono"/>
              </a:rPr>
              <a:t>png_bytes: </a:t>
            </a:r>
            <a:r>
              <a:rPr b="0" i="0" lang="en-US" sz="1575">
                <a:solidFill>
                  <a:srgbClr val="FACC15"/>
                </a:solidFill>
                <a:latin typeface="JetBrains Mono"/>
                <a:ea typeface="JetBrains Mono"/>
                <a:cs typeface="JetBrains Mono"/>
                <a:sym typeface="JetBrains Mono"/>
              </a:rPr>
              <a:t>bytes</a:t>
            </a:r>
            <a:r>
              <a:rPr b="0" i="0" lang="en-US" sz="1575">
                <a:solidFill>
                  <a:srgbClr val="E8E2D4"/>
                </a:solidFill>
                <a:latin typeface="JetBrains Mono"/>
                <a:ea typeface="JetBrains Mono"/>
                <a:cs typeface="JetBrains Mono"/>
                <a:sym typeface="JetBrains Mono"/>
              </a:rPr>
              <a:t> = graph.</a:t>
            </a:r>
            <a:r>
              <a:rPr b="0" i="0" lang="en-US" sz="1575">
                <a:solidFill>
                  <a:srgbClr val="6D8BE8"/>
                </a:solidFill>
                <a:latin typeface="JetBrains Mono"/>
                <a:ea typeface="JetBrains Mono"/>
                <a:cs typeface="JetBrains Mono"/>
                <a:sym typeface="JetBrains Mono"/>
              </a:rPr>
              <a:t>draw_mermaid_png</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6D8BE8"/>
                </a:solidFill>
                <a:latin typeface="JetBrains Mono"/>
                <a:ea typeface="JetBrains Mono"/>
                <a:cs typeface="JetBrains Mono"/>
                <a:sym typeface="JetBrains Mono"/>
              </a:rPr>
              <a:t>Path</a:t>
            </a:r>
            <a:r>
              <a:rPr b="0" i="0" lang="en-US" sz="1575">
                <a:solidFill>
                  <a:srgbClr val="E8E2D4"/>
                </a:solidFill>
                <a:latin typeface="JetBrains Mono"/>
                <a:ea typeface="JetBrains Mono"/>
                <a:cs typeface="JetBrains Mono"/>
                <a:sym typeface="JetBrains Mono"/>
              </a:rPr>
              <a:t>(</a:t>
            </a:r>
            <a:r>
              <a:rPr b="0" i="0" lang="en-US" sz="1575">
                <a:solidFill>
                  <a:srgbClr val="47B881"/>
                </a:solidFill>
                <a:latin typeface="JetBrains Mono"/>
                <a:ea typeface="JetBrains Mono"/>
                <a:cs typeface="JetBrains Mono"/>
                <a:sym typeface="JetBrains Mono"/>
              </a:rPr>
              <a:t>"docs/chat_graph.png"</a:t>
            </a:r>
            <a:r>
              <a:rPr b="0" i="0" lang="en-US" sz="1575">
                <a:solidFill>
                  <a:srgbClr val="E8E2D4"/>
                </a:solidFill>
                <a:latin typeface="JetBrains Mono"/>
                <a:ea typeface="JetBrains Mono"/>
                <a:cs typeface="JetBrains Mono"/>
                <a:sym typeface="JetBrains Mono"/>
              </a:rPr>
              <a:t>).</a:t>
            </a:r>
            <a:r>
              <a:rPr b="0" i="0" lang="en-US" sz="1575">
                <a:solidFill>
                  <a:srgbClr val="6D8BE8"/>
                </a:solidFill>
                <a:latin typeface="JetBrains Mono"/>
                <a:ea typeface="JetBrains Mono"/>
                <a:cs typeface="JetBrains Mono"/>
                <a:sym typeface="JetBrains Mono"/>
              </a:rPr>
              <a:t>write_bytes</a:t>
            </a:r>
            <a:r>
              <a:rPr b="0" i="0" lang="en-US" sz="1575">
                <a:solidFill>
                  <a:srgbClr val="E8E2D4"/>
                </a:solidFill>
                <a:latin typeface="JetBrains Mono"/>
                <a:ea typeface="JetBrains Mono"/>
                <a:cs typeface="JetBrains Mono"/>
                <a:sym typeface="JetBrains Mono"/>
              </a:rPr>
              <a:t>(png_bytes)</a:t>
            </a:r>
            <a:endParaRPr b="0" i="1" sz="1575">
              <a:solidFill>
                <a:srgbClr val="8FA0AF"/>
              </a:solidFill>
              <a:latin typeface="JetBrains Mono"/>
              <a:ea typeface="JetBrains Mono"/>
              <a:cs typeface="JetBrains Mono"/>
              <a:sym typeface="JetBrains Mono"/>
            </a:endParaRPr>
          </a:p>
          <a:p>
            <a:pPr indent="0" lvl="0" marL="0" rtl="0" algn="l">
              <a:spcBef>
                <a:spcPts val="750"/>
              </a:spcBef>
              <a:spcAft>
                <a:spcPts val="0"/>
              </a:spcAft>
              <a:buNone/>
            </a:pPr>
            <a:r>
              <a:rPr b="0" i="1" lang="en-US" sz="1575">
                <a:solidFill>
                  <a:srgbClr val="8FA0AF"/>
                </a:solidFill>
                <a:latin typeface="JetBrains Mono"/>
                <a:ea typeface="JetBrains Mono"/>
                <a:cs typeface="JetBrains Mono"/>
                <a:sym typeface="JetBrains Mono"/>
              </a:rPr>
              <a:t># 4) Or just dump the Mermaid source</a:t>
            </a:r>
            <a:endParaRPr b="0" i="1" sz="1575">
              <a:solidFill>
                <a:srgbClr val="8FA0AF"/>
              </a:solidFill>
              <a:latin typeface="JetBrains Mono"/>
              <a:ea typeface="JetBrains Mono"/>
              <a:cs typeface="JetBrains Mono"/>
              <a:sym typeface="JetBrains Mono"/>
            </a:endParaRPr>
          </a:p>
          <a:p>
            <a:pPr indent="0" lvl="0" marL="0" rtl="0" algn="l">
              <a:spcBef>
                <a:spcPts val="0"/>
              </a:spcBef>
              <a:spcAft>
                <a:spcPts val="0"/>
              </a:spcAft>
              <a:buNone/>
            </a:pPr>
            <a:r>
              <a:rPr b="0" i="0" lang="en-US" sz="1575">
                <a:solidFill>
                  <a:srgbClr val="6D8BE8"/>
                </a:solidFill>
                <a:latin typeface="JetBrains Mono"/>
                <a:ea typeface="JetBrains Mono"/>
                <a:cs typeface="JetBrains Mono"/>
                <a:sym typeface="JetBrains Mono"/>
              </a:rPr>
              <a:t>Path</a:t>
            </a:r>
            <a:r>
              <a:rPr b="0" i="0" lang="en-US" sz="1575">
                <a:solidFill>
                  <a:srgbClr val="E8E2D4"/>
                </a:solidFill>
                <a:latin typeface="JetBrains Mono"/>
                <a:ea typeface="JetBrains Mono"/>
                <a:cs typeface="JetBrains Mono"/>
                <a:sym typeface="JetBrains Mono"/>
              </a:rPr>
              <a:t>(</a:t>
            </a:r>
            <a:r>
              <a:rPr b="0" i="0" lang="en-US" sz="1575">
                <a:solidFill>
                  <a:srgbClr val="47B881"/>
                </a:solidFill>
                <a:latin typeface="JetBrains Mono"/>
                <a:ea typeface="JetBrains Mono"/>
                <a:cs typeface="JetBrains Mono"/>
                <a:sym typeface="JetBrains Mono"/>
              </a:rPr>
              <a:t>"docs/chat_graph.mmd"</a:t>
            </a:r>
            <a:r>
              <a:rPr b="0" i="0" lang="en-US" sz="1575">
                <a:solidFill>
                  <a:srgbClr val="E8E2D4"/>
                </a:solidFill>
                <a:latin typeface="JetBrains Mono"/>
                <a:ea typeface="JetBrains Mono"/>
                <a:cs typeface="JetBrains Mono"/>
                <a:sym typeface="JetBrains Mono"/>
              </a:rPr>
              <a:t>).</a:t>
            </a:r>
            <a:r>
              <a:rPr b="0" i="0" lang="en-US" sz="1575">
                <a:solidFill>
                  <a:srgbClr val="6D8BE8"/>
                </a:solidFill>
                <a:latin typeface="JetBrains Mono"/>
                <a:ea typeface="JetBrains Mono"/>
                <a:cs typeface="JetBrains Mono"/>
                <a:sym typeface="JetBrains Mono"/>
              </a:rPr>
              <a:t>write_text</a:t>
            </a:r>
            <a:r>
              <a:rPr b="0" i="0" lang="en-US" sz="1575">
                <a:solidFill>
                  <a:srgbClr val="E8E2D4"/>
                </a:solidFill>
                <a:latin typeface="JetBrains Mono"/>
                <a:ea typeface="JetBrains Mono"/>
                <a:cs typeface="JetBrains Mono"/>
                <a:sym typeface="JetBrains Mono"/>
              </a:rPr>
              <a:t>(graph.</a:t>
            </a:r>
            <a:r>
              <a:rPr b="0" i="0" lang="en-US" sz="1575">
                <a:solidFill>
                  <a:srgbClr val="6D8BE8"/>
                </a:solidFill>
                <a:latin typeface="JetBrains Mono"/>
                <a:ea typeface="JetBrains Mono"/>
                <a:cs typeface="JetBrains Mono"/>
                <a:sym typeface="JetBrains Mono"/>
              </a:rPr>
              <a:t>draw_mermaid</a:t>
            </a:r>
            <a:r>
              <a:rPr b="0" i="0" lang="en-US" sz="1575">
                <a:solidFill>
                  <a:srgbClr val="E8E2D4"/>
                </a:solidFill>
                <a:latin typeface="JetBrains Mono"/>
                <a:ea typeface="JetBrains Mono"/>
                <a:cs typeface="JetBrains Mono"/>
                <a:sym typeface="JetBrains Mono"/>
              </a:rPr>
              <a:t>())</a:t>
            </a:r>
            <a:endParaRPr b="0" i="1" sz="1575">
              <a:solidFill>
                <a:srgbClr val="8FA0AF"/>
              </a:solidFill>
              <a:latin typeface="JetBrains Mono"/>
              <a:ea typeface="JetBrains Mono"/>
              <a:cs typeface="JetBrains Mono"/>
              <a:sym typeface="JetBrains Mono"/>
            </a:endParaRPr>
          </a:p>
        </p:txBody>
      </p:sp>
      <p:sp>
        <p:nvSpPr>
          <p:cNvPr id="652" name="Google Shape;652;p28"/>
          <p:cNvSpPr/>
          <p:nvPr/>
        </p:nvSpPr>
        <p:spPr>
          <a:xfrm>
            <a:off x="10261550" y="3429000"/>
            <a:ext cx="7112100" cy="4438800"/>
          </a:xfrm>
          <a:prstGeom prst="roundRect">
            <a:avLst>
              <a:gd fmla="val 1717"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8"/>
          <p:cNvSpPr/>
          <p:nvPr/>
        </p:nvSpPr>
        <p:spPr>
          <a:xfrm>
            <a:off x="10461575" y="3629025"/>
            <a:ext cx="6913500" cy="209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DOCS/CHAT_GRAPH.PNG</a:t>
            </a:r>
            <a:endParaRPr b="0" i="0" sz="1350" u="none" cap="none" strike="noStrike">
              <a:solidFill>
                <a:schemeClr val="dk1"/>
              </a:solidFill>
              <a:latin typeface="Calibri"/>
              <a:ea typeface="Calibri"/>
              <a:cs typeface="Calibri"/>
              <a:sym typeface="Calibri"/>
            </a:endParaRPr>
          </a:p>
        </p:txBody>
      </p:sp>
      <p:sp>
        <p:nvSpPr>
          <p:cNvPr id="654" name="Google Shape;654;p28"/>
          <p:cNvSpPr/>
          <p:nvPr/>
        </p:nvSpPr>
        <p:spPr>
          <a:xfrm>
            <a:off x="10461575" y="4048125"/>
            <a:ext cx="6711900" cy="3619500"/>
          </a:xfrm>
          <a:prstGeom prst="roundRect">
            <a:avLst>
              <a:gd fmla="val 1579" name="adj"/>
            </a:avLst>
          </a:prstGeom>
          <a:solidFill>
            <a:srgbClr val="F2EF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5" name="Google Shape;655;p28"/>
          <p:cNvPicPr preferRelativeResize="0"/>
          <p:nvPr/>
        </p:nvPicPr>
        <p:blipFill rotWithShape="1">
          <a:blip r:embed="rId3">
            <a:alphaModFix/>
          </a:blip>
          <a:srcRect b="10" l="0" r="0" t="10"/>
          <a:stretch/>
        </p:blipFill>
        <p:spPr>
          <a:xfrm>
            <a:off x="10461593" y="4048125"/>
            <a:ext cx="6711900" cy="3619500"/>
          </a:xfrm>
          <a:prstGeom prst="rect">
            <a:avLst/>
          </a:prstGeom>
          <a:noFill/>
          <a:ln>
            <a:noFill/>
          </a:ln>
        </p:spPr>
      </p:pic>
      <p:sp>
        <p:nvSpPr>
          <p:cNvPr id="656" name="Google Shape;656;p28"/>
          <p:cNvSpPr/>
          <p:nvPr/>
        </p:nvSpPr>
        <p:spPr>
          <a:xfrm>
            <a:off x="914400" y="9260235"/>
            <a:ext cx="4105800"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DRAW_ASCII</a:t>
            </a:r>
            <a:endParaRPr b="0" i="0" sz="1200" u="none" cap="none" strike="noStrike">
              <a:solidFill>
                <a:schemeClr val="dk1"/>
              </a:solidFill>
              <a:latin typeface="Calibri"/>
              <a:ea typeface="Calibri"/>
              <a:cs typeface="Calibri"/>
              <a:sym typeface="Calibri"/>
            </a:endParaRPr>
          </a:p>
        </p:txBody>
      </p:sp>
      <p:sp>
        <p:nvSpPr>
          <p:cNvPr id="657" name="Google Shape;657;p28"/>
          <p:cNvSpPr/>
          <p:nvPr/>
        </p:nvSpPr>
        <p:spPr>
          <a:xfrm>
            <a:off x="914400" y="9488834"/>
            <a:ext cx="4105800" cy="3810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i="0" lang="en-US" sz="1275">
                <a:solidFill>
                  <a:srgbClr val="536171"/>
                </a:solidFill>
                <a:latin typeface="Inter"/>
                <a:ea typeface="Inter"/>
                <a:cs typeface="Inter"/>
                <a:sym typeface="Inter"/>
              </a:rPr>
              <a:t>For terminals and PR descriptions.</a:t>
            </a:r>
            <a:endParaRPr b="0" i="0" sz="1275">
              <a:solidFill>
                <a:srgbClr val="536171"/>
              </a:solidFill>
              <a:latin typeface="Inter"/>
              <a:ea typeface="Inter"/>
              <a:cs typeface="Inter"/>
              <a:sym typeface="Inter"/>
            </a:endParaRPr>
          </a:p>
        </p:txBody>
      </p:sp>
      <p:sp>
        <p:nvSpPr>
          <p:cNvPr id="658" name="Google Shape;658;p28"/>
          <p:cNvSpPr/>
          <p:nvPr/>
        </p:nvSpPr>
        <p:spPr>
          <a:xfrm>
            <a:off x="5072063" y="9260235"/>
            <a:ext cx="4105800"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DRAW_MERMAID_PNG</a:t>
            </a:r>
            <a:endParaRPr b="0" i="0" sz="1200" u="none" cap="none" strike="noStrike">
              <a:solidFill>
                <a:schemeClr val="dk1"/>
              </a:solidFill>
              <a:latin typeface="Calibri"/>
              <a:ea typeface="Calibri"/>
              <a:cs typeface="Calibri"/>
              <a:sym typeface="Calibri"/>
            </a:endParaRPr>
          </a:p>
        </p:txBody>
      </p:sp>
      <p:sp>
        <p:nvSpPr>
          <p:cNvPr id="659" name="Google Shape;659;p28"/>
          <p:cNvSpPr/>
          <p:nvPr/>
        </p:nvSpPr>
        <p:spPr>
          <a:xfrm>
            <a:off x="5072063" y="9488834"/>
            <a:ext cx="4105800" cy="3810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i="0" lang="en-US" sz="1275">
                <a:solidFill>
                  <a:srgbClr val="536171"/>
                </a:solidFill>
                <a:latin typeface="Inter"/>
                <a:ea typeface="Inter"/>
                <a:cs typeface="Inter"/>
                <a:sym typeface="Inter"/>
              </a:rPr>
              <a:t>Bytes — write to </a:t>
            </a:r>
            <a:r>
              <a:rPr b="0" i="0" lang="en-US" sz="1275">
                <a:solidFill>
                  <a:srgbClr val="1D2B3A"/>
                </a:solidFill>
                <a:highlight>
                  <a:srgbClr val="E8E2D4"/>
                </a:highlight>
                <a:latin typeface="JetBrains Mono"/>
                <a:ea typeface="JetBrains Mono"/>
                <a:cs typeface="JetBrains Mono"/>
                <a:sym typeface="JetBrains Mono"/>
              </a:rPr>
              <a:t>docs/</a:t>
            </a:r>
            <a:r>
              <a:rPr b="0" i="0" lang="en-US" sz="1275">
                <a:solidFill>
                  <a:srgbClr val="536171"/>
                </a:solidFill>
                <a:latin typeface="Inter"/>
                <a:ea typeface="Inter"/>
                <a:cs typeface="Inter"/>
                <a:sym typeface="Inter"/>
              </a:rPr>
              <a:t>, commit.</a:t>
            </a:r>
            <a:endParaRPr b="0" i="0" sz="1275">
              <a:solidFill>
                <a:srgbClr val="536171"/>
              </a:solidFill>
              <a:latin typeface="Inter"/>
              <a:ea typeface="Inter"/>
              <a:cs typeface="Inter"/>
              <a:sym typeface="Inter"/>
            </a:endParaRPr>
          </a:p>
        </p:txBody>
      </p:sp>
      <p:sp>
        <p:nvSpPr>
          <p:cNvPr id="660" name="Google Shape;660;p28"/>
          <p:cNvSpPr/>
          <p:nvPr/>
        </p:nvSpPr>
        <p:spPr>
          <a:xfrm>
            <a:off x="9229725" y="9260235"/>
            <a:ext cx="4105800"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200"/>
              <a:buFont typeface="Inter"/>
              <a:buNone/>
            </a:pPr>
            <a:r>
              <a:rPr b="1" i="0" lang="en-US" sz="1200" u="none" cap="none" strike="noStrike">
                <a:solidFill>
                  <a:srgbClr val="214CB8"/>
                </a:solidFill>
                <a:latin typeface="Inter"/>
                <a:ea typeface="Inter"/>
                <a:cs typeface="Inter"/>
                <a:sym typeface="Inter"/>
              </a:rPr>
              <a:t>DRAW_MERMAID</a:t>
            </a:r>
            <a:endParaRPr b="0" i="0" sz="1200" u="none" cap="none" strike="noStrike">
              <a:solidFill>
                <a:schemeClr val="dk1"/>
              </a:solidFill>
              <a:latin typeface="Calibri"/>
              <a:ea typeface="Calibri"/>
              <a:cs typeface="Calibri"/>
              <a:sym typeface="Calibri"/>
            </a:endParaRPr>
          </a:p>
        </p:txBody>
      </p:sp>
      <p:sp>
        <p:nvSpPr>
          <p:cNvPr id="661" name="Google Shape;661;p28"/>
          <p:cNvSpPr/>
          <p:nvPr/>
        </p:nvSpPr>
        <p:spPr>
          <a:xfrm>
            <a:off x="9229725" y="9488834"/>
            <a:ext cx="4105800" cy="3810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i="0" lang="en-US" sz="1275">
                <a:solidFill>
                  <a:srgbClr val="536171"/>
                </a:solidFill>
                <a:latin typeface="Inter"/>
                <a:ea typeface="Inter"/>
                <a:cs typeface="Inter"/>
                <a:sym typeface="Inter"/>
              </a:rPr>
              <a:t>Source — renders in any wiki.</a:t>
            </a:r>
            <a:endParaRPr b="0" i="0" sz="1275">
              <a:solidFill>
                <a:srgbClr val="536171"/>
              </a:solidFill>
              <a:latin typeface="Inter"/>
              <a:ea typeface="Inter"/>
              <a:cs typeface="Inter"/>
              <a:sym typeface="Inter"/>
            </a:endParaRPr>
          </a:p>
        </p:txBody>
      </p:sp>
      <p:sp>
        <p:nvSpPr>
          <p:cNvPr id="662" name="Google Shape;662;p28"/>
          <p:cNvSpPr/>
          <p:nvPr/>
        </p:nvSpPr>
        <p:spPr>
          <a:xfrm>
            <a:off x="13387388" y="9260235"/>
            <a:ext cx="4105800" cy="1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200"/>
              <a:buFont typeface="Inter"/>
              <a:buNone/>
            </a:pPr>
            <a:r>
              <a:rPr b="1" i="0" lang="en-US" sz="1200" u="none" cap="none" strike="noStrike">
                <a:solidFill>
                  <a:srgbClr val="D49000"/>
                </a:solidFill>
                <a:latin typeface="Inter"/>
                <a:ea typeface="Inter"/>
                <a:cs typeface="Inter"/>
                <a:sym typeface="Inter"/>
              </a:rPr>
              <a:t>RUN IN CI</a:t>
            </a:r>
            <a:endParaRPr b="0" i="0" sz="1200" u="none" cap="none" strike="noStrike">
              <a:solidFill>
                <a:schemeClr val="dk1"/>
              </a:solidFill>
              <a:latin typeface="Calibri"/>
              <a:ea typeface="Calibri"/>
              <a:cs typeface="Calibri"/>
              <a:sym typeface="Calibri"/>
            </a:endParaRPr>
          </a:p>
        </p:txBody>
      </p:sp>
      <p:sp>
        <p:nvSpPr>
          <p:cNvPr id="663" name="Google Shape;663;p28"/>
          <p:cNvSpPr/>
          <p:nvPr/>
        </p:nvSpPr>
        <p:spPr>
          <a:xfrm>
            <a:off x="13387388" y="9488834"/>
            <a:ext cx="4105800" cy="3810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0" i="0" lang="en-US" sz="1275">
                <a:solidFill>
                  <a:srgbClr val="536171"/>
                </a:solidFill>
                <a:latin typeface="Inter"/>
                <a:ea typeface="Inter"/>
                <a:cs typeface="Inter"/>
                <a:sym typeface="Inter"/>
              </a:rPr>
              <a:t>Regenerate on every graph change.</a:t>
            </a:r>
            <a:endParaRPr b="0" i="0" sz="1275">
              <a:solidFill>
                <a:srgbClr val="536171"/>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668" name="Shape 668"/>
        <p:cNvGrpSpPr/>
        <p:nvPr/>
      </p:nvGrpSpPr>
      <p:grpSpPr>
        <a:xfrm>
          <a:off x="0" y="0"/>
          <a:ext cx="0" cy="0"/>
          <a:chOff x="0" y="0"/>
          <a:chExt cx="0" cy="0"/>
        </a:xfrm>
      </p:grpSpPr>
      <p:sp>
        <p:nvSpPr>
          <p:cNvPr id="669" name="Google Shape;669;p29"/>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670" name="Google Shape;670;p29"/>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671" name="Google Shape;671;p29"/>
          <p:cNvSpPr/>
          <p:nvPr/>
        </p:nvSpPr>
        <p:spPr>
          <a:xfrm>
            <a:off x="16567100" y="457200"/>
            <a:ext cx="882700"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26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672" name="Google Shape;672;p29"/>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673" name="Google Shape;673;p29"/>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The full chat-turn lifecycle</a:t>
            </a:r>
            <a:endParaRPr b="0" i="0" sz="3900" u="none" cap="none" strike="noStrike">
              <a:solidFill>
                <a:schemeClr val="dk1"/>
              </a:solidFill>
              <a:latin typeface="Calibri"/>
              <a:ea typeface="Calibri"/>
              <a:cs typeface="Calibri"/>
              <a:sym typeface="Calibri"/>
            </a:endParaRPr>
          </a:p>
        </p:txBody>
      </p:sp>
      <p:sp>
        <p:nvSpPr>
          <p:cNvPr id="674" name="Google Shape;674;p29"/>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Rewrite to first streamed token in under two seconds — and a citation trail for every fact.</a:t>
            </a:r>
            <a:endParaRPr b="0" i="0" sz="2100" u="none" cap="none" strike="noStrike">
              <a:solidFill>
                <a:schemeClr val="dk1"/>
              </a:solidFill>
              <a:latin typeface="Calibri"/>
              <a:ea typeface="Calibri"/>
              <a:cs typeface="Calibri"/>
              <a:sym typeface="Calibri"/>
            </a:endParaRPr>
          </a:p>
        </p:txBody>
      </p:sp>
      <p:sp>
        <p:nvSpPr>
          <p:cNvPr id="675" name="Google Shape;675;p29"/>
          <p:cNvSpPr/>
          <p:nvPr/>
        </p:nvSpPr>
        <p:spPr>
          <a:xfrm>
            <a:off x="1143000" y="5429250"/>
            <a:ext cx="16002000" cy="19050"/>
          </a:xfrm>
          <a:prstGeom prst="rect">
            <a:avLst/>
          </a:prstGeom>
          <a:solidFill>
            <a:srgbClr val="D9D3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9"/>
          <p:cNvSpPr/>
          <p:nvPr/>
        </p:nvSpPr>
        <p:spPr>
          <a:xfrm>
            <a:off x="1038225" y="5353050"/>
            <a:ext cx="209550" cy="209550"/>
          </a:xfrm>
          <a:prstGeom prst="ellipse">
            <a:avLst/>
          </a:prstGeom>
          <a:solidFill>
            <a:srgbClr val="FFD21F"/>
          </a:solidFill>
          <a:ln cap="flat" cmpd="sng" w="19050">
            <a:solidFill>
              <a:srgbClr val="D49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677" name="Google Shape;677;p29"/>
          <p:cNvSpPr/>
          <p:nvPr/>
        </p:nvSpPr>
        <p:spPr>
          <a:xfrm>
            <a:off x="4238625" y="5353050"/>
            <a:ext cx="209550" cy="209550"/>
          </a:xfrm>
          <a:prstGeom prst="ellipse">
            <a:avLst/>
          </a:prstGeom>
          <a:solidFill>
            <a:srgbClr val="F8F6EF"/>
          </a:solidFill>
          <a:ln cap="flat" cmpd="sng" w="19050">
            <a:solidFill>
              <a:srgbClr val="214C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678" name="Google Shape;678;p29"/>
          <p:cNvSpPr/>
          <p:nvPr/>
        </p:nvSpPr>
        <p:spPr>
          <a:xfrm>
            <a:off x="7439025" y="5353050"/>
            <a:ext cx="209550" cy="209550"/>
          </a:xfrm>
          <a:prstGeom prst="ellipse">
            <a:avLst/>
          </a:prstGeom>
          <a:solidFill>
            <a:srgbClr val="F8F6EF"/>
          </a:solidFill>
          <a:ln cap="flat" cmpd="sng" w="19050">
            <a:solidFill>
              <a:srgbClr val="214C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679" name="Google Shape;679;p29"/>
          <p:cNvSpPr/>
          <p:nvPr/>
        </p:nvSpPr>
        <p:spPr>
          <a:xfrm>
            <a:off x="10639425" y="5353050"/>
            <a:ext cx="209550" cy="209550"/>
          </a:xfrm>
          <a:prstGeom prst="ellipse">
            <a:avLst/>
          </a:prstGeom>
          <a:solidFill>
            <a:srgbClr val="F8F6EF"/>
          </a:solidFill>
          <a:ln cap="flat" cmpd="sng" w="19050">
            <a:solidFill>
              <a:srgbClr val="214C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680" name="Google Shape;680;p29"/>
          <p:cNvSpPr/>
          <p:nvPr/>
        </p:nvSpPr>
        <p:spPr>
          <a:xfrm>
            <a:off x="13839825" y="5353050"/>
            <a:ext cx="209550" cy="209550"/>
          </a:xfrm>
          <a:prstGeom prst="ellipse">
            <a:avLst/>
          </a:prstGeom>
          <a:solidFill>
            <a:srgbClr val="F8F6EF"/>
          </a:solidFill>
          <a:ln cap="flat" cmpd="sng" w="19050">
            <a:solidFill>
              <a:srgbClr val="214C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681" name="Google Shape;681;p29"/>
          <p:cNvSpPr/>
          <p:nvPr/>
        </p:nvSpPr>
        <p:spPr>
          <a:xfrm>
            <a:off x="17040225" y="5353050"/>
            <a:ext cx="209550" cy="209550"/>
          </a:xfrm>
          <a:prstGeom prst="ellipse">
            <a:avLst/>
          </a:prstGeom>
          <a:solidFill>
            <a:srgbClr val="47B881"/>
          </a:solidFill>
          <a:ln cap="flat" cmpd="sng" w="19050">
            <a:solidFill>
              <a:srgbClr val="47B8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682" name="Google Shape;682;p29"/>
          <p:cNvSpPr/>
          <p:nvPr/>
        </p:nvSpPr>
        <p:spPr>
          <a:xfrm>
            <a:off x="152400" y="5715000"/>
            <a:ext cx="1981200"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JetBrains Mono"/>
              <a:buNone/>
            </a:pPr>
            <a:r>
              <a:rPr b="1" i="0" lang="en-US" sz="1500" u="none" cap="none" strike="noStrike">
                <a:solidFill>
                  <a:srgbClr val="214CB8"/>
                </a:solidFill>
                <a:latin typeface="JetBrains Mono"/>
                <a:ea typeface="JetBrains Mono"/>
                <a:cs typeface="JetBrains Mono"/>
                <a:sym typeface="JetBrains Mono"/>
              </a:rPr>
              <a:t>t = 0</a:t>
            </a:r>
            <a:endParaRPr b="0" i="0" sz="1500" u="none" cap="none" strike="noStrike">
              <a:solidFill>
                <a:schemeClr val="dk1"/>
              </a:solidFill>
              <a:latin typeface="Calibri"/>
              <a:ea typeface="Calibri"/>
              <a:cs typeface="Calibri"/>
              <a:sym typeface="Calibri"/>
            </a:endParaRPr>
          </a:p>
        </p:txBody>
      </p:sp>
      <p:sp>
        <p:nvSpPr>
          <p:cNvPr id="683" name="Google Shape;683;p29"/>
          <p:cNvSpPr/>
          <p:nvPr/>
        </p:nvSpPr>
        <p:spPr>
          <a:xfrm>
            <a:off x="152400" y="5943600"/>
            <a:ext cx="1981200"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1D2B3A"/>
              </a:buClr>
              <a:buSzPts val="1350"/>
              <a:buFont typeface="Play"/>
              <a:buNone/>
            </a:pPr>
            <a:r>
              <a:rPr b="1" i="0" lang="en-US" sz="1650" u="none" cap="none" strike="noStrike">
                <a:solidFill>
                  <a:srgbClr val="1D2B3A"/>
                </a:solidFill>
                <a:latin typeface="Play"/>
                <a:ea typeface="Play"/>
                <a:cs typeface="Play"/>
                <a:sym typeface="Play"/>
              </a:rPr>
              <a:t>User sends turn</a:t>
            </a:r>
            <a:endParaRPr b="0" i="0" sz="1650" u="none" cap="none" strike="noStrike">
              <a:solidFill>
                <a:schemeClr val="dk1"/>
              </a:solidFill>
              <a:latin typeface="Calibri"/>
              <a:ea typeface="Calibri"/>
              <a:cs typeface="Calibri"/>
              <a:sym typeface="Calibri"/>
            </a:endParaRPr>
          </a:p>
        </p:txBody>
      </p:sp>
      <p:sp>
        <p:nvSpPr>
          <p:cNvPr id="684" name="Google Shape;684;p29"/>
          <p:cNvSpPr/>
          <p:nvPr/>
        </p:nvSpPr>
        <p:spPr>
          <a:xfrm>
            <a:off x="152400" y="6187380"/>
            <a:ext cx="1981200" cy="223838"/>
          </a:xfrm>
          <a:prstGeom prst="rect">
            <a:avLst/>
          </a:prstGeom>
          <a:noFill/>
          <a:ln>
            <a:noFill/>
          </a:ln>
        </p:spPr>
        <p:txBody>
          <a:bodyPr anchorCtr="0" anchor="t" bIns="25400" lIns="25400" spcFirstLastPara="1" rIns="25400" wrap="square" tIns="25400">
            <a:noAutofit/>
          </a:bodyPr>
          <a:lstStyle/>
          <a:p>
            <a:pPr indent="0" lvl="0" marL="0" marR="0" rtl="0" algn="ctr">
              <a:lnSpc>
                <a:spcPct val="130000"/>
              </a:lnSpc>
              <a:spcBef>
                <a:spcPts val="0"/>
              </a:spcBef>
              <a:spcAft>
                <a:spcPts val="0"/>
              </a:spcAft>
              <a:buClr>
                <a:srgbClr val="536171"/>
              </a:buClr>
              <a:buSzPts val="1125"/>
              <a:buFont typeface="Inter"/>
              <a:buNone/>
            </a:pPr>
            <a:r>
              <a:rPr b="0" i="0" lang="en-US" sz="1425" u="none" cap="none" strike="noStrike">
                <a:solidFill>
                  <a:srgbClr val="536171"/>
                </a:solidFill>
                <a:latin typeface="Inter"/>
                <a:ea typeface="Inter"/>
                <a:cs typeface="Inter"/>
                <a:sym typeface="Inter"/>
              </a:rPr>
              <a:t>follow-up question</a:t>
            </a:r>
            <a:endParaRPr b="0" i="0" sz="1425" u="none" cap="none" strike="noStrike">
              <a:solidFill>
                <a:schemeClr val="dk1"/>
              </a:solidFill>
              <a:latin typeface="Calibri"/>
              <a:ea typeface="Calibri"/>
              <a:cs typeface="Calibri"/>
              <a:sym typeface="Calibri"/>
            </a:endParaRPr>
          </a:p>
        </p:txBody>
      </p:sp>
      <p:sp>
        <p:nvSpPr>
          <p:cNvPr id="685" name="Google Shape;685;p29"/>
          <p:cNvSpPr/>
          <p:nvPr/>
        </p:nvSpPr>
        <p:spPr>
          <a:xfrm>
            <a:off x="3352800" y="5715000"/>
            <a:ext cx="1981200"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JetBrains Mono"/>
              <a:buNone/>
            </a:pPr>
            <a:r>
              <a:rPr b="1" i="0" lang="en-US" sz="1500" u="none" cap="none" strike="noStrike">
                <a:solidFill>
                  <a:srgbClr val="214CB8"/>
                </a:solidFill>
                <a:latin typeface="JetBrains Mono"/>
                <a:ea typeface="JetBrains Mono"/>
                <a:cs typeface="JetBrains Mono"/>
                <a:sym typeface="JetBrains Mono"/>
              </a:rPr>
              <a:t>t = 50 ms</a:t>
            </a:r>
            <a:endParaRPr b="0" i="0" sz="1500" u="none" cap="none" strike="noStrike">
              <a:solidFill>
                <a:schemeClr val="dk1"/>
              </a:solidFill>
              <a:latin typeface="Calibri"/>
              <a:ea typeface="Calibri"/>
              <a:cs typeface="Calibri"/>
              <a:sym typeface="Calibri"/>
            </a:endParaRPr>
          </a:p>
        </p:txBody>
      </p:sp>
      <p:sp>
        <p:nvSpPr>
          <p:cNvPr id="686" name="Google Shape;686;p29"/>
          <p:cNvSpPr/>
          <p:nvPr/>
        </p:nvSpPr>
        <p:spPr>
          <a:xfrm>
            <a:off x="3352800" y="5943600"/>
            <a:ext cx="1981200"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1D2B3A"/>
              </a:buClr>
              <a:buSzPts val="1350"/>
              <a:buFont typeface="Play"/>
              <a:buNone/>
            </a:pPr>
            <a:r>
              <a:rPr b="1" i="0" lang="en-US" sz="1650" u="none" cap="none" strike="noStrike">
                <a:solidFill>
                  <a:srgbClr val="1D2B3A"/>
                </a:solidFill>
                <a:latin typeface="Play"/>
                <a:ea typeface="Play"/>
                <a:cs typeface="Play"/>
                <a:sym typeface="Play"/>
              </a:rPr>
              <a:t>Rewrite returns</a:t>
            </a:r>
            <a:endParaRPr b="0" i="0" sz="1650" u="none" cap="none" strike="noStrike">
              <a:solidFill>
                <a:schemeClr val="dk1"/>
              </a:solidFill>
              <a:latin typeface="Calibri"/>
              <a:ea typeface="Calibri"/>
              <a:cs typeface="Calibri"/>
              <a:sym typeface="Calibri"/>
            </a:endParaRPr>
          </a:p>
        </p:txBody>
      </p:sp>
      <p:sp>
        <p:nvSpPr>
          <p:cNvPr id="687" name="Google Shape;687;p29"/>
          <p:cNvSpPr/>
          <p:nvPr/>
        </p:nvSpPr>
        <p:spPr>
          <a:xfrm>
            <a:off x="3352800" y="6187380"/>
            <a:ext cx="1981200" cy="223838"/>
          </a:xfrm>
          <a:prstGeom prst="rect">
            <a:avLst/>
          </a:prstGeom>
          <a:noFill/>
          <a:ln>
            <a:noFill/>
          </a:ln>
        </p:spPr>
        <p:txBody>
          <a:bodyPr anchorCtr="0" anchor="t" bIns="25400" lIns="25400" spcFirstLastPara="1" rIns="25400" wrap="square" tIns="25400">
            <a:noAutofit/>
          </a:bodyPr>
          <a:lstStyle/>
          <a:p>
            <a:pPr indent="0" lvl="0" marL="0" marR="0" rtl="0" algn="ctr">
              <a:lnSpc>
                <a:spcPct val="130000"/>
              </a:lnSpc>
              <a:spcBef>
                <a:spcPts val="0"/>
              </a:spcBef>
              <a:spcAft>
                <a:spcPts val="0"/>
              </a:spcAft>
              <a:buClr>
                <a:srgbClr val="536171"/>
              </a:buClr>
              <a:buSzPts val="1125"/>
              <a:buFont typeface="Inter"/>
              <a:buNone/>
            </a:pPr>
            <a:r>
              <a:rPr b="0" i="0" lang="en-US" sz="1425" u="none" cap="none" strike="noStrike">
                <a:solidFill>
                  <a:srgbClr val="536171"/>
                </a:solidFill>
                <a:latin typeface="Inter"/>
                <a:ea typeface="Inter"/>
                <a:cs typeface="Inter"/>
                <a:sym typeface="Inter"/>
              </a:rPr>
              <a:t>standalone question</a:t>
            </a:r>
            <a:endParaRPr b="0" i="0" sz="1425" u="none" cap="none" strike="noStrike">
              <a:solidFill>
                <a:schemeClr val="dk1"/>
              </a:solidFill>
              <a:latin typeface="Calibri"/>
              <a:ea typeface="Calibri"/>
              <a:cs typeface="Calibri"/>
              <a:sym typeface="Calibri"/>
            </a:endParaRPr>
          </a:p>
        </p:txBody>
      </p:sp>
      <p:sp>
        <p:nvSpPr>
          <p:cNvPr id="688" name="Google Shape;688;p29"/>
          <p:cNvSpPr/>
          <p:nvPr/>
        </p:nvSpPr>
        <p:spPr>
          <a:xfrm>
            <a:off x="6553200" y="5715000"/>
            <a:ext cx="1981200"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JetBrains Mono"/>
              <a:buNone/>
            </a:pPr>
            <a:r>
              <a:rPr b="1" i="0" lang="en-US" sz="1500" u="none" cap="none" strike="noStrike">
                <a:solidFill>
                  <a:srgbClr val="214CB8"/>
                </a:solidFill>
                <a:latin typeface="JetBrains Mono"/>
                <a:ea typeface="JetBrains Mono"/>
                <a:cs typeface="JetBrains Mono"/>
                <a:sym typeface="JetBrains Mono"/>
              </a:rPr>
              <a:t>t = 150 ms</a:t>
            </a:r>
            <a:endParaRPr b="0" i="0" sz="1500" u="none" cap="none" strike="noStrike">
              <a:solidFill>
                <a:schemeClr val="dk1"/>
              </a:solidFill>
              <a:latin typeface="Calibri"/>
              <a:ea typeface="Calibri"/>
              <a:cs typeface="Calibri"/>
              <a:sym typeface="Calibri"/>
            </a:endParaRPr>
          </a:p>
        </p:txBody>
      </p:sp>
      <p:sp>
        <p:nvSpPr>
          <p:cNvPr id="689" name="Google Shape;689;p29"/>
          <p:cNvSpPr/>
          <p:nvPr/>
        </p:nvSpPr>
        <p:spPr>
          <a:xfrm>
            <a:off x="6553200" y="5943600"/>
            <a:ext cx="1981200"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1D2B3A"/>
              </a:buClr>
              <a:buSzPts val="1350"/>
              <a:buFont typeface="Play"/>
              <a:buNone/>
            </a:pPr>
            <a:r>
              <a:rPr b="1" i="0" lang="en-US" sz="1650" u="none" cap="none" strike="noStrike">
                <a:solidFill>
                  <a:srgbClr val="1D2B3A"/>
                </a:solidFill>
                <a:latin typeface="Play"/>
                <a:ea typeface="Play"/>
                <a:cs typeface="Play"/>
                <a:sym typeface="Play"/>
              </a:rPr>
              <a:t>Hybrid search</a:t>
            </a:r>
            <a:endParaRPr b="0" i="0" sz="1650" u="none" cap="none" strike="noStrike">
              <a:solidFill>
                <a:schemeClr val="dk1"/>
              </a:solidFill>
              <a:latin typeface="Calibri"/>
              <a:ea typeface="Calibri"/>
              <a:cs typeface="Calibri"/>
              <a:sym typeface="Calibri"/>
            </a:endParaRPr>
          </a:p>
        </p:txBody>
      </p:sp>
      <p:sp>
        <p:nvSpPr>
          <p:cNvPr id="690" name="Google Shape;690;p29"/>
          <p:cNvSpPr/>
          <p:nvPr/>
        </p:nvSpPr>
        <p:spPr>
          <a:xfrm>
            <a:off x="6553200" y="6187380"/>
            <a:ext cx="1981200" cy="223838"/>
          </a:xfrm>
          <a:prstGeom prst="rect">
            <a:avLst/>
          </a:prstGeom>
          <a:noFill/>
          <a:ln>
            <a:noFill/>
          </a:ln>
        </p:spPr>
        <p:txBody>
          <a:bodyPr anchorCtr="0" anchor="t" bIns="25400" lIns="25400" spcFirstLastPara="1" rIns="25400" wrap="square" tIns="25400">
            <a:noAutofit/>
          </a:bodyPr>
          <a:lstStyle/>
          <a:p>
            <a:pPr indent="0" lvl="0" marL="0" marR="0" rtl="0" algn="ctr">
              <a:lnSpc>
                <a:spcPct val="130000"/>
              </a:lnSpc>
              <a:spcBef>
                <a:spcPts val="0"/>
              </a:spcBef>
              <a:spcAft>
                <a:spcPts val="0"/>
              </a:spcAft>
              <a:buClr>
                <a:srgbClr val="536171"/>
              </a:buClr>
              <a:buSzPts val="1125"/>
              <a:buFont typeface="Inter"/>
              <a:buNone/>
            </a:pPr>
            <a:r>
              <a:rPr b="0" i="0" lang="en-US" sz="1425" u="none" cap="none" strike="noStrike">
                <a:solidFill>
                  <a:srgbClr val="536171"/>
                </a:solidFill>
                <a:latin typeface="Inter"/>
                <a:ea typeface="Inter"/>
                <a:cs typeface="Inter"/>
                <a:sym typeface="Inter"/>
              </a:rPr>
              <a:t>top-8 chunks from Qdrant</a:t>
            </a:r>
            <a:endParaRPr b="0" i="0" sz="1425" u="none" cap="none" strike="noStrike">
              <a:solidFill>
                <a:schemeClr val="dk1"/>
              </a:solidFill>
              <a:latin typeface="Calibri"/>
              <a:ea typeface="Calibri"/>
              <a:cs typeface="Calibri"/>
              <a:sym typeface="Calibri"/>
            </a:endParaRPr>
          </a:p>
        </p:txBody>
      </p:sp>
      <p:sp>
        <p:nvSpPr>
          <p:cNvPr id="691" name="Google Shape;691;p29"/>
          <p:cNvSpPr/>
          <p:nvPr/>
        </p:nvSpPr>
        <p:spPr>
          <a:xfrm>
            <a:off x="9753600" y="5715000"/>
            <a:ext cx="1981200"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JetBrains Mono"/>
              <a:buNone/>
            </a:pPr>
            <a:r>
              <a:rPr b="1" i="0" lang="en-US" sz="1500" u="none" cap="none" strike="noStrike">
                <a:solidFill>
                  <a:srgbClr val="214CB8"/>
                </a:solidFill>
                <a:latin typeface="JetBrains Mono"/>
                <a:ea typeface="JetBrains Mono"/>
                <a:cs typeface="JetBrains Mono"/>
                <a:sym typeface="JetBrains Mono"/>
              </a:rPr>
              <a:t>t = 300 ms</a:t>
            </a:r>
            <a:endParaRPr b="0" i="0" sz="1500" u="none" cap="none" strike="noStrike">
              <a:solidFill>
                <a:schemeClr val="dk1"/>
              </a:solidFill>
              <a:latin typeface="Calibri"/>
              <a:ea typeface="Calibri"/>
              <a:cs typeface="Calibri"/>
              <a:sym typeface="Calibri"/>
            </a:endParaRPr>
          </a:p>
        </p:txBody>
      </p:sp>
      <p:sp>
        <p:nvSpPr>
          <p:cNvPr id="692" name="Google Shape;692;p29"/>
          <p:cNvSpPr/>
          <p:nvPr/>
        </p:nvSpPr>
        <p:spPr>
          <a:xfrm>
            <a:off x="9753600" y="5943600"/>
            <a:ext cx="1981200"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1D2B3A"/>
              </a:buClr>
              <a:buSzPts val="1350"/>
              <a:buFont typeface="Play"/>
              <a:buNone/>
            </a:pPr>
            <a:r>
              <a:rPr b="1" i="0" lang="en-US" sz="1650" u="none" cap="none" strike="noStrike">
                <a:solidFill>
                  <a:srgbClr val="1D2B3A"/>
                </a:solidFill>
                <a:latin typeface="Play"/>
                <a:ea typeface="Play"/>
                <a:cs typeface="Play"/>
                <a:sym typeface="Play"/>
              </a:rPr>
              <a:t>Grade returns</a:t>
            </a:r>
            <a:endParaRPr b="0" i="0" sz="1650" u="none" cap="none" strike="noStrike">
              <a:solidFill>
                <a:schemeClr val="dk1"/>
              </a:solidFill>
              <a:latin typeface="Calibri"/>
              <a:ea typeface="Calibri"/>
              <a:cs typeface="Calibri"/>
              <a:sym typeface="Calibri"/>
            </a:endParaRPr>
          </a:p>
        </p:txBody>
      </p:sp>
      <p:sp>
        <p:nvSpPr>
          <p:cNvPr id="693" name="Google Shape;693;p29"/>
          <p:cNvSpPr/>
          <p:nvPr/>
        </p:nvSpPr>
        <p:spPr>
          <a:xfrm>
            <a:off x="9753600" y="6187380"/>
            <a:ext cx="1981200" cy="409575"/>
          </a:xfrm>
          <a:prstGeom prst="rect">
            <a:avLst/>
          </a:prstGeom>
          <a:noFill/>
          <a:ln>
            <a:noFill/>
          </a:ln>
        </p:spPr>
        <p:txBody>
          <a:bodyPr anchorCtr="0" anchor="t" bIns="25400" lIns="25400" spcFirstLastPara="1" rIns="25400" wrap="square" tIns="25400">
            <a:noAutofit/>
          </a:bodyPr>
          <a:lstStyle/>
          <a:p>
            <a:pPr indent="0" lvl="0" marL="0" marR="0" rtl="0" algn="ctr">
              <a:lnSpc>
                <a:spcPct val="130000"/>
              </a:lnSpc>
              <a:spcBef>
                <a:spcPts val="0"/>
              </a:spcBef>
              <a:spcAft>
                <a:spcPts val="0"/>
              </a:spcAft>
              <a:buClr>
                <a:srgbClr val="536171"/>
              </a:buClr>
              <a:buSzPts val="1125"/>
              <a:buFont typeface="Inter"/>
              <a:buNone/>
            </a:pPr>
            <a:r>
              <a:rPr b="0" i="0" lang="en-US" sz="1425" u="none" cap="none" strike="noStrike">
                <a:solidFill>
                  <a:srgbClr val="536171"/>
                </a:solidFill>
                <a:latin typeface="Inter"/>
                <a:ea typeface="Inter"/>
                <a:cs typeface="Inter"/>
                <a:sym typeface="Inter"/>
              </a:rPr>
              <a:t>2 chunks dropped </a:t>
            </a:r>
            <a:r>
              <a:rPr lang="en-US" sz="1425">
                <a:solidFill>
                  <a:srgbClr val="536171"/>
                </a:solidFill>
                <a:latin typeface="Inter"/>
                <a:ea typeface="Inter"/>
                <a:cs typeface="Inter"/>
                <a:sym typeface="Inter"/>
              </a:rPr>
              <a:t>- </a:t>
            </a:r>
            <a:r>
              <a:rPr b="0" i="0" lang="en-US" sz="1425" u="none" cap="none" strike="noStrike">
                <a:solidFill>
                  <a:srgbClr val="536171"/>
                </a:solidFill>
                <a:latin typeface="Inter"/>
                <a:ea typeface="Inter"/>
                <a:cs typeface="Inter"/>
                <a:sym typeface="Inter"/>
              </a:rPr>
              <a:t>still good</a:t>
            </a:r>
            <a:endParaRPr b="0" i="0" sz="1425" u="none" cap="none" strike="noStrike">
              <a:solidFill>
                <a:schemeClr val="dk1"/>
              </a:solidFill>
              <a:latin typeface="Calibri"/>
              <a:ea typeface="Calibri"/>
              <a:cs typeface="Calibri"/>
              <a:sym typeface="Calibri"/>
            </a:endParaRPr>
          </a:p>
        </p:txBody>
      </p:sp>
      <p:sp>
        <p:nvSpPr>
          <p:cNvPr id="694" name="Google Shape;694;p29"/>
          <p:cNvSpPr/>
          <p:nvPr/>
        </p:nvSpPr>
        <p:spPr>
          <a:xfrm>
            <a:off x="12954000" y="5715000"/>
            <a:ext cx="1981200"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JetBrains Mono"/>
              <a:buNone/>
            </a:pPr>
            <a:r>
              <a:rPr b="1" i="0" lang="en-US" sz="1500" u="none" cap="none" strike="noStrike">
                <a:solidFill>
                  <a:srgbClr val="214CB8"/>
                </a:solidFill>
                <a:latin typeface="JetBrains Mono"/>
                <a:ea typeface="JetBrains Mono"/>
                <a:cs typeface="JetBrains Mono"/>
                <a:sym typeface="JetBrains Mono"/>
              </a:rPr>
              <a:t>t = 1.5 s</a:t>
            </a:r>
            <a:endParaRPr b="0" i="0" sz="1500" u="none" cap="none" strike="noStrike">
              <a:solidFill>
                <a:schemeClr val="dk1"/>
              </a:solidFill>
              <a:latin typeface="Calibri"/>
              <a:ea typeface="Calibri"/>
              <a:cs typeface="Calibri"/>
              <a:sym typeface="Calibri"/>
            </a:endParaRPr>
          </a:p>
        </p:txBody>
      </p:sp>
      <p:sp>
        <p:nvSpPr>
          <p:cNvPr id="695" name="Google Shape;695;p29"/>
          <p:cNvSpPr/>
          <p:nvPr/>
        </p:nvSpPr>
        <p:spPr>
          <a:xfrm>
            <a:off x="12954000" y="5943600"/>
            <a:ext cx="1981200"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1D2B3A"/>
              </a:buClr>
              <a:buSzPts val="1350"/>
              <a:buFont typeface="Play"/>
              <a:buNone/>
            </a:pPr>
            <a:r>
              <a:rPr b="1" i="0" lang="en-US" sz="1650" u="none" cap="none" strike="noStrike">
                <a:solidFill>
                  <a:srgbClr val="1D2B3A"/>
                </a:solidFill>
                <a:latin typeface="Play"/>
                <a:ea typeface="Play"/>
                <a:cs typeface="Play"/>
                <a:sym typeface="Play"/>
              </a:rPr>
              <a:t>First token</a:t>
            </a:r>
            <a:endParaRPr b="0" i="0" sz="1650" u="none" cap="none" strike="noStrike">
              <a:solidFill>
                <a:schemeClr val="dk1"/>
              </a:solidFill>
              <a:latin typeface="Calibri"/>
              <a:ea typeface="Calibri"/>
              <a:cs typeface="Calibri"/>
              <a:sym typeface="Calibri"/>
            </a:endParaRPr>
          </a:p>
        </p:txBody>
      </p:sp>
      <p:sp>
        <p:nvSpPr>
          <p:cNvPr id="696" name="Google Shape;696;p29"/>
          <p:cNvSpPr/>
          <p:nvPr/>
        </p:nvSpPr>
        <p:spPr>
          <a:xfrm>
            <a:off x="12954000" y="6187380"/>
            <a:ext cx="1981200" cy="223838"/>
          </a:xfrm>
          <a:prstGeom prst="rect">
            <a:avLst/>
          </a:prstGeom>
          <a:noFill/>
          <a:ln>
            <a:noFill/>
          </a:ln>
        </p:spPr>
        <p:txBody>
          <a:bodyPr anchorCtr="0" anchor="t" bIns="25400" lIns="25400" spcFirstLastPara="1" rIns="25400" wrap="square" tIns="25400">
            <a:noAutofit/>
          </a:bodyPr>
          <a:lstStyle/>
          <a:p>
            <a:pPr indent="0" lvl="0" marL="0" marR="0" rtl="0" algn="ctr">
              <a:lnSpc>
                <a:spcPct val="130000"/>
              </a:lnSpc>
              <a:spcBef>
                <a:spcPts val="0"/>
              </a:spcBef>
              <a:spcAft>
                <a:spcPts val="0"/>
              </a:spcAft>
              <a:buClr>
                <a:srgbClr val="536171"/>
              </a:buClr>
              <a:buSzPts val="1125"/>
              <a:buFont typeface="Inter"/>
              <a:buNone/>
            </a:pPr>
            <a:r>
              <a:rPr b="0" i="0" lang="en-US" sz="1425" u="none" cap="none" strike="noStrike">
                <a:solidFill>
                  <a:srgbClr val="536171"/>
                </a:solidFill>
                <a:latin typeface="Inter"/>
                <a:ea typeface="Inter"/>
                <a:cs typeface="Inter"/>
                <a:sym typeface="Inter"/>
              </a:rPr>
              <a:t>streaming begins</a:t>
            </a:r>
            <a:endParaRPr b="0" i="0" sz="1425" u="none" cap="none" strike="noStrike">
              <a:solidFill>
                <a:schemeClr val="dk1"/>
              </a:solidFill>
              <a:latin typeface="Calibri"/>
              <a:ea typeface="Calibri"/>
              <a:cs typeface="Calibri"/>
              <a:sym typeface="Calibri"/>
            </a:endParaRPr>
          </a:p>
        </p:txBody>
      </p:sp>
      <p:sp>
        <p:nvSpPr>
          <p:cNvPr id="697" name="Google Shape;697;p29"/>
          <p:cNvSpPr/>
          <p:nvPr/>
        </p:nvSpPr>
        <p:spPr>
          <a:xfrm>
            <a:off x="15392400" y="5715000"/>
            <a:ext cx="1981200" cy="1905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14CB8"/>
              </a:buClr>
              <a:buSzPts val="1200"/>
              <a:buFont typeface="JetBrains Mono"/>
              <a:buNone/>
            </a:pPr>
            <a:r>
              <a:rPr b="1" i="0" lang="en-US" sz="1500" u="none" cap="none" strike="noStrike">
                <a:solidFill>
                  <a:srgbClr val="214CB8"/>
                </a:solidFill>
                <a:latin typeface="JetBrains Mono"/>
                <a:ea typeface="JetBrains Mono"/>
                <a:cs typeface="JetBrains Mono"/>
                <a:sym typeface="JetBrains Mono"/>
              </a:rPr>
              <a:t>t = 3 s</a:t>
            </a:r>
            <a:endParaRPr b="0" i="0" sz="1500" u="none" cap="none" strike="noStrike">
              <a:solidFill>
                <a:schemeClr val="dk1"/>
              </a:solidFill>
              <a:latin typeface="Calibri"/>
              <a:ea typeface="Calibri"/>
              <a:cs typeface="Calibri"/>
              <a:sym typeface="Calibri"/>
            </a:endParaRPr>
          </a:p>
        </p:txBody>
      </p:sp>
      <p:sp>
        <p:nvSpPr>
          <p:cNvPr id="698" name="Google Shape;698;p29"/>
          <p:cNvSpPr/>
          <p:nvPr/>
        </p:nvSpPr>
        <p:spPr>
          <a:xfrm>
            <a:off x="15392400" y="5943600"/>
            <a:ext cx="1981200"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1D2B3A"/>
              </a:buClr>
              <a:buSzPts val="1350"/>
              <a:buFont typeface="Play"/>
              <a:buNone/>
            </a:pPr>
            <a:r>
              <a:rPr b="1" i="0" lang="en-US" sz="1650" u="none" cap="none" strike="noStrike">
                <a:solidFill>
                  <a:srgbClr val="1D2B3A"/>
                </a:solidFill>
                <a:latin typeface="Play"/>
                <a:ea typeface="Play"/>
                <a:cs typeface="Play"/>
                <a:sym typeface="Play"/>
              </a:rPr>
              <a:t>Answer complete</a:t>
            </a:r>
            <a:endParaRPr b="0" i="0" sz="1650" u="none" cap="none" strike="noStrike">
              <a:solidFill>
                <a:schemeClr val="dk1"/>
              </a:solidFill>
              <a:latin typeface="Calibri"/>
              <a:ea typeface="Calibri"/>
              <a:cs typeface="Calibri"/>
              <a:sym typeface="Calibri"/>
            </a:endParaRPr>
          </a:p>
        </p:txBody>
      </p:sp>
      <p:sp>
        <p:nvSpPr>
          <p:cNvPr id="699" name="Google Shape;699;p29"/>
          <p:cNvSpPr/>
          <p:nvPr/>
        </p:nvSpPr>
        <p:spPr>
          <a:xfrm>
            <a:off x="15392400" y="6187380"/>
            <a:ext cx="1981200" cy="223838"/>
          </a:xfrm>
          <a:prstGeom prst="rect">
            <a:avLst/>
          </a:prstGeom>
          <a:noFill/>
          <a:ln>
            <a:noFill/>
          </a:ln>
        </p:spPr>
        <p:txBody>
          <a:bodyPr anchorCtr="0" anchor="t" bIns="25400" lIns="25400" spcFirstLastPara="1" rIns="25400" wrap="square" tIns="25400">
            <a:noAutofit/>
          </a:bodyPr>
          <a:lstStyle/>
          <a:p>
            <a:pPr indent="0" lvl="0" marL="0" marR="0" rtl="0" algn="ctr">
              <a:lnSpc>
                <a:spcPct val="130000"/>
              </a:lnSpc>
              <a:spcBef>
                <a:spcPts val="0"/>
              </a:spcBef>
              <a:spcAft>
                <a:spcPts val="0"/>
              </a:spcAft>
              <a:buClr>
                <a:srgbClr val="536171"/>
              </a:buClr>
              <a:buSzPts val="1125"/>
              <a:buFont typeface="Inter"/>
              <a:buNone/>
            </a:pPr>
            <a:r>
              <a:rPr b="0" i="0" lang="en-US" sz="1425" u="none" cap="none" strike="noStrike">
                <a:solidFill>
                  <a:srgbClr val="536171"/>
                </a:solidFill>
                <a:latin typeface="Inter"/>
                <a:ea typeface="Inter"/>
                <a:cs typeface="Inter"/>
                <a:sym typeface="Inter"/>
              </a:rPr>
              <a:t>messages persisted</a:t>
            </a:r>
            <a:endParaRPr b="0" i="0" sz="1425" u="none" cap="none" strike="noStrike">
              <a:solidFill>
                <a:schemeClr val="dk1"/>
              </a:solidFill>
              <a:latin typeface="Calibri"/>
              <a:ea typeface="Calibri"/>
              <a:cs typeface="Calibri"/>
              <a:sym typeface="Calibri"/>
            </a:endParaRPr>
          </a:p>
        </p:txBody>
      </p:sp>
      <p:sp>
        <p:nvSpPr>
          <p:cNvPr id="700" name="Google Shape;700;p29"/>
          <p:cNvSpPr/>
          <p:nvPr/>
        </p:nvSpPr>
        <p:spPr>
          <a:xfrm>
            <a:off x="4145310" y="8477250"/>
            <a:ext cx="9997232" cy="476250"/>
          </a:xfrm>
          <a:prstGeom prst="roundRect">
            <a:avLst>
              <a:gd fmla="val 50000" name="adj"/>
            </a:avLst>
          </a:prstGeom>
          <a:solidFill>
            <a:srgbClr val="FFD2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9"/>
          <p:cNvSpPr/>
          <p:nvPr/>
        </p:nvSpPr>
        <p:spPr>
          <a:xfrm>
            <a:off x="4262051" y="8610600"/>
            <a:ext cx="9763749" cy="24765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102033"/>
              </a:buClr>
              <a:buSzPts val="1650"/>
              <a:buFont typeface="Inter"/>
              <a:buNone/>
            </a:pPr>
            <a:r>
              <a:rPr b="1" i="0" lang="en-US" sz="1650" u="none" cap="none" strike="noStrike">
                <a:solidFill>
                  <a:srgbClr val="102033"/>
                </a:solidFill>
                <a:latin typeface="Inter"/>
                <a:ea typeface="Inter"/>
                <a:cs typeface="Inter"/>
                <a:sym typeface="Inter"/>
              </a:rPr>
              <a:t>REWRITE · RETRIEVE · GRADE · GENERATE — EVERY STEP TRACEABLE</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706" name="Shape 706"/>
        <p:cNvGrpSpPr/>
        <p:nvPr/>
      </p:nvGrpSpPr>
      <p:grpSpPr>
        <a:xfrm>
          <a:off x="0" y="0"/>
          <a:ext cx="0" cy="0"/>
          <a:chOff x="0" y="0"/>
          <a:chExt cx="0" cy="0"/>
        </a:xfrm>
      </p:grpSpPr>
      <p:sp>
        <p:nvSpPr>
          <p:cNvPr id="707" name="Google Shape;707;p30"/>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708" name="Google Shape;708;p30"/>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709" name="Google Shape;709;p30"/>
          <p:cNvSpPr/>
          <p:nvPr/>
        </p:nvSpPr>
        <p:spPr>
          <a:xfrm>
            <a:off x="16581388" y="457200"/>
            <a:ext cx="868412"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27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710" name="Google Shape;710;p30"/>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711" name="Google Shape;711;p30"/>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Production checklist — RAG + LangGraph</a:t>
            </a:r>
            <a:endParaRPr b="0" i="0" sz="3900" u="none" cap="none" strike="noStrike">
              <a:solidFill>
                <a:schemeClr val="dk1"/>
              </a:solidFill>
              <a:latin typeface="Calibri"/>
              <a:ea typeface="Calibri"/>
              <a:cs typeface="Calibri"/>
              <a:sym typeface="Calibri"/>
            </a:endParaRPr>
          </a:p>
        </p:txBody>
      </p:sp>
      <p:sp>
        <p:nvSpPr>
          <p:cNvPr id="712" name="Google Shape;712;p30"/>
          <p:cNvSpPr/>
          <p:nvPr/>
        </p:nvSpPr>
        <p:spPr>
          <a:xfrm>
            <a:off x="914400" y="2448967"/>
            <a:ext cx="13735050" cy="424755"/>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536171"/>
              </a:buClr>
              <a:buSzPts val="2100"/>
              <a:buFont typeface="Inter"/>
              <a:buNone/>
            </a:pPr>
            <a:r>
              <a:rPr b="0" i="0" lang="en-US" sz="2100" u="none" cap="none" strike="noStrike">
                <a:solidFill>
                  <a:srgbClr val="536171"/>
                </a:solidFill>
                <a:latin typeface="Inter"/>
                <a:ea typeface="Inter"/>
                <a:cs typeface="Inter"/>
                <a:sym typeface="Inter"/>
              </a:rPr>
              <a:t>Four habits that separate a demo-day RAG bot from one your customers can rely on.</a:t>
            </a:r>
            <a:endParaRPr b="0" i="0" sz="2100" u="none" cap="none" strike="noStrike">
              <a:solidFill>
                <a:schemeClr val="dk1"/>
              </a:solidFill>
              <a:latin typeface="Calibri"/>
              <a:ea typeface="Calibri"/>
              <a:cs typeface="Calibri"/>
              <a:sym typeface="Calibri"/>
            </a:endParaRPr>
          </a:p>
        </p:txBody>
      </p:sp>
      <p:sp>
        <p:nvSpPr>
          <p:cNvPr id="713" name="Google Shape;713;p30"/>
          <p:cNvSpPr/>
          <p:nvPr/>
        </p:nvSpPr>
        <p:spPr>
          <a:xfrm>
            <a:off x="914400"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0"/>
          <p:cNvSpPr/>
          <p:nvPr/>
        </p:nvSpPr>
        <p:spPr>
          <a:xfrm>
            <a:off x="1228725"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SAME EMBEDDING MODEL</a:t>
            </a:r>
            <a:endParaRPr b="0" i="0" sz="1350" u="none" cap="none" strike="noStrike">
              <a:solidFill>
                <a:schemeClr val="dk1"/>
              </a:solidFill>
              <a:latin typeface="Calibri"/>
              <a:ea typeface="Calibri"/>
              <a:cs typeface="Calibri"/>
              <a:sym typeface="Calibri"/>
            </a:endParaRPr>
          </a:p>
        </p:txBody>
      </p:sp>
      <p:sp>
        <p:nvSpPr>
          <p:cNvPr id="715" name="Google Shape;715;p30"/>
          <p:cNvSpPr/>
          <p:nvPr/>
        </p:nvSpPr>
        <p:spPr>
          <a:xfrm>
            <a:off x="1228725"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Pin the model in config. Embed at ingest and at query with the </a:t>
            </a:r>
            <a:r>
              <a:rPr b="0" i="1" lang="en-US" sz="1800" u="none" cap="none" strike="noStrike">
                <a:solidFill>
                  <a:srgbClr val="1D2B3A"/>
                </a:solidFill>
                <a:latin typeface="Inter"/>
                <a:ea typeface="Inter"/>
                <a:cs typeface="Inter"/>
                <a:sym typeface="Inter"/>
              </a:rPr>
              <a:t>exact </a:t>
            </a:r>
            <a:r>
              <a:rPr b="0" i="0" lang="en-US" sz="1800" u="none" cap="none" strike="noStrike">
                <a:solidFill>
                  <a:srgbClr val="1D2B3A"/>
                </a:solidFill>
                <a:latin typeface="Inter"/>
                <a:ea typeface="Inter"/>
                <a:cs typeface="Inter"/>
                <a:sym typeface="Inter"/>
              </a:rPr>
              <a:t>same version. Treat upgrades as re-ingests.</a:t>
            </a:r>
            <a:endParaRPr b="0" i="0" sz="1800" u="none" cap="none" strike="noStrike">
              <a:solidFill>
                <a:schemeClr val="dk1"/>
              </a:solidFill>
              <a:latin typeface="Calibri"/>
              <a:ea typeface="Calibri"/>
              <a:cs typeface="Calibri"/>
              <a:sym typeface="Calibri"/>
            </a:endParaRPr>
          </a:p>
        </p:txBody>
      </p:sp>
      <p:sp>
        <p:nvSpPr>
          <p:cNvPr id="716" name="Google Shape;716;p30"/>
          <p:cNvSpPr/>
          <p:nvPr/>
        </p:nvSpPr>
        <p:spPr>
          <a:xfrm>
            <a:off x="5095875"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0"/>
          <p:cNvSpPr/>
          <p:nvPr/>
        </p:nvSpPr>
        <p:spPr>
          <a:xfrm>
            <a:off x="5410200"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7B881"/>
              </a:buClr>
              <a:buSzPts val="1350"/>
              <a:buFont typeface="Inter"/>
              <a:buNone/>
            </a:pPr>
            <a:r>
              <a:rPr b="1" i="0" lang="en-US" sz="1350" u="none" cap="none" strike="noStrike">
                <a:solidFill>
                  <a:srgbClr val="47B881"/>
                </a:solidFill>
                <a:latin typeface="Inter"/>
                <a:ea typeface="Inter"/>
                <a:cs typeface="Inter"/>
                <a:sym typeface="Inter"/>
              </a:rPr>
              <a:t>TENANT FILTER, ALWAYS</a:t>
            </a:r>
            <a:endParaRPr b="0" i="0" sz="1350" u="none" cap="none" strike="noStrike">
              <a:solidFill>
                <a:schemeClr val="dk1"/>
              </a:solidFill>
              <a:latin typeface="Calibri"/>
              <a:ea typeface="Calibri"/>
              <a:cs typeface="Calibri"/>
              <a:sym typeface="Calibri"/>
            </a:endParaRPr>
          </a:p>
        </p:txBody>
      </p:sp>
      <p:sp>
        <p:nvSpPr>
          <p:cNvPr id="718" name="Google Shape;718;p30"/>
          <p:cNvSpPr/>
          <p:nvPr/>
        </p:nvSpPr>
        <p:spPr>
          <a:xfrm>
            <a:off x="5410200"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Wrap retrieval so it cannot be called without a tenant_id. Multi-tenant leaks start with one forgotten filter.</a:t>
            </a:r>
            <a:endParaRPr b="0" i="0" sz="1800" u="none" cap="none" strike="noStrike">
              <a:solidFill>
                <a:schemeClr val="dk1"/>
              </a:solidFill>
              <a:latin typeface="Calibri"/>
              <a:ea typeface="Calibri"/>
              <a:cs typeface="Calibri"/>
              <a:sym typeface="Calibri"/>
            </a:endParaRPr>
          </a:p>
        </p:txBody>
      </p:sp>
      <p:sp>
        <p:nvSpPr>
          <p:cNvPr id="719" name="Google Shape;719;p30"/>
          <p:cNvSpPr/>
          <p:nvPr/>
        </p:nvSpPr>
        <p:spPr>
          <a:xfrm>
            <a:off x="9277350"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0"/>
          <p:cNvSpPr/>
          <p:nvPr/>
        </p:nvSpPr>
        <p:spPr>
          <a:xfrm>
            <a:off x="9591675"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49000"/>
              </a:buClr>
              <a:buSzPts val="1350"/>
              <a:buFont typeface="Inter"/>
              <a:buNone/>
            </a:pPr>
            <a:r>
              <a:rPr b="1" i="0" lang="en-US" sz="1350" u="none" cap="none" strike="noStrike">
                <a:solidFill>
                  <a:srgbClr val="D49000"/>
                </a:solidFill>
                <a:latin typeface="Inter"/>
                <a:ea typeface="Inter"/>
                <a:cs typeface="Inter"/>
                <a:sym typeface="Inter"/>
              </a:rPr>
              <a:t>EVAL YOUR RETRIEVAL</a:t>
            </a:r>
            <a:endParaRPr b="0" i="0" sz="1350" u="none" cap="none" strike="noStrike">
              <a:solidFill>
                <a:schemeClr val="dk1"/>
              </a:solidFill>
              <a:latin typeface="Calibri"/>
              <a:ea typeface="Calibri"/>
              <a:cs typeface="Calibri"/>
              <a:sym typeface="Calibri"/>
            </a:endParaRPr>
          </a:p>
        </p:txBody>
      </p:sp>
      <p:sp>
        <p:nvSpPr>
          <p:cNvPr id="721" name="Google Shape;721;p30"/>
          <p:cNvSpPr/>
          <p:nvPr/>
        </p:nvSpPr>
        <p:spPr>
          <a:xfrm>
            <a:off x="9591675" y="4257675"/>
            <a:ext cx="3384709" cy="169530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A small golden set of (question, expected-doc) pairs. Measure recall@k on every change to chunking, model, or filters.</a:t>
            </a:r>
            <a:endParaRPr b="0" i="0" sz="1800" u="none" cap="none" strike="noStrike">
              <a:solidFill>
                <a:schemeClr val="dk1"/>
              </a:solidFill>
              <a:latin typeface="Calibri"/>
              <a:ea typeface="Calibri"/>
              <a:cs typeface="Calibri"/>
              <a:sym typeface="Calibri"/>
            </a:endParaRPr>
          </a:p>
        </p:txBody>
      </p:sp>
      <p:sp>
        <p:nvSpPr>
          <p:cNvPr id="722" name="Google Shape;722;p30"/>
          <p:cNvSpPr/>
          <p:nvPr/>
        </p:nvSpPr>
        <p:spPr>
          <a:xfrm>
            <a:off x="13458825" y="3619500"/>
            <a:ext cx="3914775" cy="5143500"/>
          </a:xfrm>
          <a:prstGeom prst="roundRect">
            <a:avLst>
              <a:gd fmla="val 1946" name="adj"/>
            </a:avLst>
          </a:prstGeom>
          <a:solidFill>
            <a:srgbClr val="F8F6EF"/>
          </a:solidFill>
          <a:ln cap="flat" cmpd="sng" w="9525">
            <a:solidFill>
              <a:srgbClr val="E8E2D4"/>
            </a:solidFill>
            <a:prstDash val="solid"/>
            <a:round/>
            <a:headEnd len="sm" w="sm" type="none"/>
            <a:tailEnd len="sm" w="sm" type="none"/>
          </a:ln>
          <a:effectLst>
            <a:outerShdw blurRad="19050" rotWithShape="0" algn="bl" dir="5400000" dist="9525">
              <a:srgbClr val="102033">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0"/>
          <p:cNvSpPr/>
          <p:nvPr/>
        </p:nvSpPr>
        <p:spPr>
          <a:xfrm>
            <a:off x="13773150" y="3933825"/>
            <a:ext cx="3384709"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A4BD9"/>
              </a:buClr>
              <a:buSzPts val="1350"/>
              <a:buFont typeface="Inter"/>
              <a:buNone/>
            </a:pPr>
            <a:r>
              <a:rPr b="1" i="0" lang="en-US" sz="1350" u="none" cap="none" strike="noStrike">
                <a:solidFill>
                  <a:srgbClr val="7A4BD9"/>
                </a:solidFill>
                <a:latin typeface="Inter"/>
                <a:ea typeface="Inter"/>
                <a:cs typeface="Inter"/>
                <a:sym typeface="Inter"/>
              </a:rPr>
              <a:t>CAP THE LOOP</a:t>
            </a:r>
            <a:endParaRPr b="0" i="0" sz="1350" u="none" cap="none" strike="noStrike">
              <a:solidFill>
                <a:schemeClr val="dk1"/>
              </a:solidFill>
              <a:latin typeface="Calibri"/>
              <a:ea typeface="Calibri"/>
              <a:cs typeface="Calibri"/>
              <a:sym typeface="Calibri"/>
            </a:endParaRPr>
          </a:p>
        </p:txBody>
      </p:sp>
      <p:sp>
        <p:nvSpPr>
          <p:cNvPr id="724" name="Google Shape;724;p30"/>
          <p:cNvSpPr/>
          <p:nvPr/>
        </p:nvSpPr>
        <p:spPr>
          <a:xfrm>
            <a:off x="13773150" y="4257675"/>
            <a:ext cx="3384709" cy="136386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1D2B3A"/>
              </a:buClr>
              <a:buSzPts val="1800"/>
              <a:buFont typeface="Inter"/>
              <a:buNone/>
            </a:pPr>
            <a:r>
              <a:rPr b="0" i="0" lang="en-US" sz="1800" u="none" cap="none" strike="noStrike">
                <a:solidFill>
                  <a:srgbClr val="1D2B3A"/>
                </a:solidFill>
                <a:latin typeface="Inter"/>
                <a:ea typeface="Inter"/>
                <a:cs typeface="Inter"/>
                <a:sym typeface="Inter"/>
              </a:rPr>
              <a:t>Conditional edges can spin forever. Every loop needs an </a:t>
            </a:r>
            <a:r>
              <a:rPr b="0" i="0" lang="en-US" sz="1800" u="none" cap="none" strike="noStrike">
                <a:solidFill>
                  <a:srgbClr val="1D2B3A"/>
                </a:solidFill>
                <a:highlight>
                  <a:srgbClr val="E8E2D4"/>
                </a:highlight>
                <a:latin typeface="JetBrains Mono"/>
                <a:ea typeface="JetBrains Mono"/>
                <a:cs typeface="JetBrains Mono"/>
                <a:sym typeface="JetBrains Mono"/>
              </a:rPr>
              <a:t>attempts </a:t>
            </a:r>
            <a:r>
              <a:rPr b="0" i="0" lang="en-US" sz="1800" u="none" cap="none" strike="noStrike">
                <a:solidFill>
                  <a:srgbClr val="1D2B3A"/>
                </a:solidFill>
                <a:latin typeface="Inter"/>
                <a:ea typeface="Inter"/>
                <a:cs typeface="Inter"/>
                <a:sym typeface="Inter"/>
              </a:rPr>
              <a:t>cap and a graceful "I don't know" exit.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7"/>
        </a:solidFill>
      </p:bgPr>
    </p:bg>
    <p:spTree>
      <p:nvGrpSpPr>
        <p:cNvPr id="729" name="Shape 729"/>
        <p:cNvGrpSpPr/>
        <p:nvPr/>
      </p:nvGrpSpPr>
      <p:grpSpPr>
        <a:xfrm>
          <a:off x="0" y="0"/>
          <a:ext cx="0" cy="0"/>
          <a:chOff x="0" y="0"/>
          <a:chExt cx="0" cy="0"/>
        </a:xfrm>
      </p:grpSpPr>
      <p:sp>
        <p:nvSpPr>
          <p:cNvPr id="730" name="Google Shape;730;p31"/>
          <p:cNvSpPr/>
          <p:nvPr/>
        </p:nvSpPr>
        <p:spPr>
          <a:xfrm>
            <a:off x="914400" y="45720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RAG + LANGGRAPH</a:t>
            </a:r>
            <a:endParaRPr b="0" i="0" sz="1350" u="none" cap="none" strike="noStrike">
              <a:solidFill>
                <a:schemeClr val="dk1"/>
              </a:solidFill>
              <a:latin typeface="Calibri"/>
              <a:ea typeface="Calibri"/>
              <a:cs typeface="Calibri"/>
              <a:sym typeface="Calibri"/>
            </a:endParaRPr>
          </a:p>
        </p:txBody>
      </p:sp>
      <p:sp>
        <p:nvSpPr>
          <p:cNvPr id="731" name="Google Shape;731;p31"/>
          <p:cNvSpPr/>
          <p:nvPr/>
        </p:nvSpPr>
        <p:spPr>
          <a:xfrm>
            <a:off x="914400" y="742950"/>
            <a:ext cx="2182862" cy="209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4CB8"/>
              </a:buClr>
              <a:buSzPts val="1350"/>
              <a:buFont typeface="Inter"/>
              <a:buNone/>
            </a:pPr>
            <a:r>
              <a:rPr b="1" i="0" lang="en-US" sz="1350" u="none" cap="none" strike="noStrike">
                <a:solidFill>
                  <a:srgbClr val="214CB8"/>
                </a:solidFill>
                <a:latin typeface="Inter"/>
                <a:ea typeface="Inter"/>
                <a:cs typeface="Inter"/>
                <a:sym typeface="Inter"/>
              </a:rPr>
              <a:t>••••••••••••</a:t>
            </a:r>
            <a:endParaRPr b="0" i="0" sz="1350" u="none" cap="none" strike="noStrike">
              <a:solidFill>
                <a:schemeClr val="dk1"/>
              </a:solidFill>
              <a:latin typeface="Calibri"/>
              <a:ea typeface="Calibri"/>
              <a:cs typeface="Calibri"/>
              <a:sym typeface="Calibri"/>
            </a:endParaRPr>
          </a:p>
        </p:txBody>
      </p:sp>
      <p:sp>
        <p:nvSpPr>
          <p:cNvPr id="732" name="Google Shape;732;p31"/>
          <p:cNvSpPr/>
          <p:nvPr/>
        </p:nvSpPr>
        <p:spPr>
          <a:xfrm>
            <a:off x="16566803" y="457200"/>
            <a:ext cx="882997"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D2B3A"/>
              </a:buClr>
              <a:buSzPts val="1650"/>
              <a:buFont typeface="Inter"/>
              <a:buNone/>
            </a:pPr>
            <a:r>
              <a:rPr b="1" i="0" lang="en-US" sz="1650" u="none" cap="none" strike="noStrike">
                <a:solidFill>
                  <a:srgbClr val="1D2B3A"/>
                </a:solidFill>
                <a:latin typeface="Inter"/>
                <a:ea typeface="Inter"/>
                <a:cs typeface="Inter"/>
                <a:sym typeface="Inter"/>
              </a:rPr>
              <a:t>28 </a:t>
            </a:r>
            <a:r>
              <a:rPr b="0" i="0" lang="en-US" sz="1650" u="none" cap="none" strike="noStrike">
                <a:solidFill>
                  <a:srgbClr val="536171"/>
                </a:solidFill>
                <a:latin typeface="Inter"/>
                <a:ea typeface="Inter"/>
                <a:cs typeface="Inter"/>
                <a:sym typeface="Inter"/>
              </a:rPr>
              <a:t>/ 28</a:t>
            </a:r>
            <a:endParaRPr b="0" i="0" sz="1650" u="none" cap="none" strike="noStrike">
              <a:solidFill>
                <a:schemeClr val="dk1"/>
              </a:solidFill>
              <a:latin typeface="Calibri"/>
              <a:ea typeface="Calibri"/>
              <a:cs typeface="Calibri"/>
              <a:sym typeface="Calibri"/>
            </a:endParaRPr>
          </a:p>
        </p:txBody>
      </p:sp>
      <p:sp>
        <p:nvSpPr>
          <p:cNvPr id="733" name="Google Shape;733;p31"/>
          <p:cNvSpPr/>
          <p:nvPr/>
        </p:nvSpPr>
        <p:spPr>
          <a:xfrm>
            <a:off x="914400" y="9620250"/>
            <a:ext cx="5255649" cy="2476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36171"/>
              </a:buClr>
              <a:buSzPts val="1650"/>
              <a:buFont typeface="Inter"/>
              <a:buNone/>
            </a:pPr>
            <a:r>
              <a:rPr b="0" i="0" lang="en-US" sz="1650" u="none" cap="none" strike="noStrike">
                <a:solidFill>
                  <a:srgbClr val="536171"/>
                </a:solidFill>
                <a:latin typeface="Inter"/>
                <a:ea typeface="Inter"/>
                <a:cs typeface="Inter"/>
                <a:sym typeface="Inter"/>
              </a:rPr>
              <a:t>RAG + LANGGRAPH · PYTHON TRAINING</a:t>
            </a:r>
            <a:endParaRPr b="0" i="0" sz="1650" u="none" cap="none" strike="noStrike">
              <a:solidFill>
                <a:schemeClr val="dk1"/>
              </a:solidFill>
              <a:latin typeface="Calibri"/>
              <a:ea typeface="Calibri"/>
              <a:cs typeface="Calibri"/>
              <a:sym typeface="Calibri"/>
            </a:endParaRPr>
          </a:p>
        </p:txBody>
      </p:sp>
      <p:sp>
        <p:nvSpPr>
          <p:cNvPr id="734" name="Google Shape;734;p31"/>
          <p:cNvSpPr/>
          <p:nvPr/>
        </p:nvSpPr>
        <p:spPr>
          <a:xfrm>
            <a:off x="914400" y="1714500"/>
            <a:ext cx="16952976" cy="563017"/>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1D2B3A"/>
              </a:buClr>
              <a:buSzPts val="3900"/>
              <a:buFont typeface="Play"/>
              <a:buNone/>
            </a:pPr>
            <a:r>
              <a:rPr b="1" i="0" lang="en-US" sz="3900" u="none" cap="none" strike="noStrike">
                <a:solidFill>
                  <a:srgbClr val="1D2B3A"/>
                </a:solidFill>
                <a:latin typeface="Play"/>
                <a:ea typeface="Play"/>
                <a:cs typeface="Play"/>
                <a:sym typeface="Play"/>
              </a:rPr>
              <a:t>Knowledge check</a:t>
            </a:r>
            <a:endParaRPr b="0" i="0" sz="3900" u="none" cap="none" strike="noStrike">
              <a:solidFill>
                <a:schemeClr val="dk1"/>
              </a:solidFill>
              <a:latin typeface="Calibri"/>
              <a:ea typeface="Calibri"/>
              <a:cs typeface="Calibri"/>
              <a:sym typeface="Calibri"/>
            </a:endParaRPr>
          </a:p>
        </p:txBody>
      </p:sp>
      <p:sp>
        <p:nvSpPr>
          <p:cNvPr id="735" name="Google Shape;735;p31"/>
          <p:cNvSpPr/>
          <p:nvPr/>
        </p:nvSpPr>
        <p:spPr>
          <a:xfrm>
            <a:off x="914400" y="4156621"/>
            <a:ext cx="16459200" cy="9525"/>
          </a:xfrm>
          <a:prstGeom prst="rect">
            <a:avLst/>
          </a:prstGeom>
          <a:solidFill>
            <a:srgbClr val="E8E2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1"/>
          <p:cNvSpPr/>
          <p:nvPr/>
        </p:nvSpPr>
        <p:spPr>
          <a:xfrm>
            <a:off x="914400" y="3409950"/>
            <a:ext cx="838200" cy="518071"/>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214CB8"/>
              </a:buClr>
              <a:buSzPts val="4200"/>
              <a:buFont typeface="Play"/>
              <a:buNone/>
            </a:pPr>
            <a:r>
              <a:rPr b="1" i="0" lang="en-US" sz="4200" u="none" cap="none" strike="noStrike">
                <a:solidFill>
                  <a:srgbClr val="214CB8"/>
                </a:solidFill>
                <a:latin typeface="Play"/>
                <a:ea typeface="Play"/>
                <a:cs typeface="Play"/>
                <a:sym typeface="Play"/>
              </a:rPr>
              <a:t>01</a:t>
            </a:r>
            <a:endParaRPr b="0" i="0" sz="4200" u="none" cap="none" strike="noStrike">
              <a:solidFill>
                <a:schemeClr val="dk1"/>
              </a:solidFill>
              <a:latin typeface="Calibri"/>
              <a:ea typeface="Calibri"/>
              <a:cs typeface="Calibri"/>
              <a:sym typeface="Calibri"/>
            </a:endParaRPr>
          </a:p>
        </p:txBody>
      </p:sp>
      <p:sp>
        <p:nvSpPr>
          <p:cNvPr id="737" name="Google Shape;737;p31"/>
          <p:cNvSpPr/>
          <p:nvPr/>
        </p:nvSpPr>
        <p:spPr>
          <a:xfrm>
            <a:off x="1943100" y="3409950"/>
            <a:ext cx="15893415" cy="41136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2100"/>
              <a:buFont typeface="Inter"/>
              <a:buNone/>
            </a:pPr>
            <a:r>
              <a:rPr b="0" i="0" lang="en-US" sz="2100" u="none" cap="none" strike="noStrike">
                <a:solidFill>
                  <a:srgbClr val="1D2B3A"/>
                </a:solidFill>
                <a:latin typeface="Inter"/>
                <a:ea typeface="Inter"/>
                <a:cs typeface="Inter"/>
                <a:sym typeface="Inter"/>
              </a:rPr>
              <a:t>Once you pick an embedding model for a collection, why can't you switch it later without re-ingesting all your data?</a:t>
            </a:r>
            <a:endParaRPr b="0" i="0" sz="2100" u="none" cap="none" strike="noStrike">
              <a:solidFill>
                <a:schemeClr val="dk1"/>
              </a:solidFill>
              <a:latin typeface="Calibri"/>
              <a:ea typeface="Calibri"/>
              <a:cs typeface="Calibri"/>
              <a:sym typeface="Calibri"/>
            </a:endParaRPr>
          </a:p>
        </p:txBody>
      </p:sp>
      <p:sp>
        <p:nvSpPr>
          <p:cNvPr id="738" name="Google Shape;738;p31"/>
          <p:cNvSpPr/>
          <p:nvPr/>
        </p:nvSpPr>
        <p:spPr>
          <a:xfrm>
            <a:off x="914400" y="5446068"/>
            <a:ext cx="16459200" cy="9525"/>
          </a:xfrm>
          <a:prstGeom prst="rect">
            <a:avLst/>
          </a:prstGeom>
          <a:solidFill>
            <a:srgbClr val="E8E2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1"/>
          <p:cNvSpPr/>
          <p:nvPr/>
        </p:nvSpPr>
        <p:spPr>
          <a:xfrm>
            <a:off x="914400" y="4432846"/>
            <a:ext cx="838200" cy="518071"/>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214CB8"/>
              </a:buClr>
              <a:buSzPts val="4200"/>
              <a:buFont typeface="Play"/>
              <a:buNone/>
            </a:pPr>
            <a:r>
              <a:rPr b="1" i="0" lang="en-US" sz="4200" u="none" cap="none" strike="noStrike">
                <a:solidFill>
                  <a:srgbClr val="214CB8"/>
                </a:solidFill>
                <a:latin typeface="Play"/>
                <a:ea typeface="Play"/>
                <a:cs typeface="Play"/>
                <a:sym typeface="Play"/>
              </a:rPr>
              <a:t>02</a:t>
            </a:r>
            <a:endParaRPr b="0" i="0" sz="4200" u="none" cap="none" strike="noStrike">
              <a:solidFill>
                <a:schemeClr val="dk1"/>
              </a:solidFill>
              <a:latin typeface="Calibri"/>
              <a:ea typeface="Calibri"/>
              <a:cs typeface="Calibri"/>
              <a:sym typeface="Calibri"/>
            </a:endParaRPr>
          </a:p>
        </p:txBody>
      </p:sp>
      <p:sp>
        <p:nvSpPr>
          <p:cNvPr id="740" name="Google Shape;740;p31"/>
          <p:cNvSpPr/>
          <p:nvPr/>
        </p:nvSpPr>
        <p:spPr>
          <a:xfrm>
            <a:off x="1943100" y="4432846"/>
            <a:ext cx="15893415" cy="784622"/>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2100"/>
              <a:buFont typeface="Inter"/>
              <a:buNone/>
            </a:pPr>
            <a:r>
              <a:rPr b="0" i="0" lang="en-US" sz="2100" u="none" cap="none" strike="noStrike">
                <a:solidFill>
                  <a:srgbClr val="1D2B3A"/>
                </a:solidFill>
                <a:latin typeface="Inter"/>
                <a:ea typeface="Inter"/>
                <a:cs typeface="Inter"/>
                <a:sym typeface="Inter"/>
              </a:rPr>
              <a:t>Give an example of a question where searching by meaning alone (dense) misses the right answer — and explain how adding keyword search (sparse) fixes it.</a:t>
            </a:r>
            <a:endParaRPr b="0" i="0" sz="2100" u="none" cap="none" strike="noStrike">
              <a:solidFill>
                <a:schemeClr val="dk1"/>
              </a:solidFill>
              <a:latin typeface="Calibri"/>
              <a:ea typeface="Calibri"/>
              <a:cs typeface="Calibri"/>
              <a:sym typeface="Calibri"/>
            </a:endParaRPr>
          </a:p>
        </p:txBody>
      </p:sp>
      <p:sp>
        <p:nvSpPr>
          <p:cNvPr id="741" name="Google Shape;741;p31"/>
          <p:cNvSpPr/>
          <p:nvPr/>
        </p:nvSpPr>
        <p:spPr>
          <a:xfrm>
            <a:off x="914400" y="6468963"/>
            <a:ext cx="16459200" cy="9525"/>
          </a:xfrm>
          <a:prstGeom prst="rect">
            <a:avLst/>
          </a:prstGeom>
          <a:solidFill>
            <a:srgbClr val="E8E2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1"/>
          <p:cNvSpPr/>
          <p:nvPr/>
        </p:nvSpPr>
        <p:spPr>
          <a:xfrm>
            <a:off x="914400" y="5722293"/>
            <a:ext cx="838200" cy="518071"/>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214CB8"/>
              </a:buClr>
              <a:buSzPts val="4200"/>
              <a:buFont typeface="Play"/>
              <a:buNone/>
            </a:pPr>
            <a:r>
              <a:rPr b="1" i="0" lang="en-US" sz="4200" u="none" cap="none" strike="noStrike">
                <a:solidFill>
                  <a:srgbClr val="214CB8"/>
                </a:solidFill>
                <a:latin typeface="Play"/>
                <a:ea typeface="Play"/>
                <a:cs typeface="Play"/>
                <a:sym typeface="Play"/>
              </a:rPr>
              <a:t>03</a:t>
            </a:r>
            <a:endParaRPr b="0" i="0" sz="4200" u="none" cap="none" strike="noStrike">
              <a:solidFill>
                <a:schemeClr val="dk1"/>
              </a:solidFill>
              <a:latin typeface="Calibri"/>
              <a:ea typeface="Calibri"/>
              <a:cs typeface="Calibri"/>
              <a:sym typeface="Calibri"/>
            </a:endParaRPr>
          </a:p>
        </p:txBody>
      </p:sp>
      <p:sp>
        <p:nvSpPr>
          <p:cNvPr id="743" name="Google Shape;743;p31"/>
          <p:cNvSpPr/>
          <p:nvPr/>
        </p:nvSpPr>
        <p:spPr>
          <a:xfrm>
            <a:off x="1943100" y="5722293"/>
            <a:ext cx="15893415" cy="420886"/>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2100"/>
              <a:buFont typeface="Inter"/>
              <a:buNone/>
            </a:pPr>
            <a:r>
              <a:rPr b="0" i="0" lang="en-US" sz="2100" u="none" cap="none" strike="noStrike">
                <a:solidFill>
                  <a:srgbClr val="1D2B3A"/>
                </a:solidFill>
                <a:latin typeface="Inter"/>
                <a:ea typeface="Inter"/>
                <a:cs typeface="Inter"/>
                <a:sym typeface="Inter"/>
              </a:rPr>
              <a:t>What is the </a:t>
            </a:r>
            <a:r>
              <a:rPr b="0" i="0" lang="en-US" sz="2100" u="none" cap="none" strike="noStrike">
                <a:solidFill>
                  <a:srgbClr val="214CB8"/>
                </a:solidFill>
                <a:latin typeface="JetBrains Mono"/>
                <a:ea typeface="JetBrains Mono"/>
                <a:cs typeface="JetBrains Mono"/>
                <a:sym typeface="JetBrains Mono"/>
              </a:rPr>
              <a:t>payload </a:t>
            </a:r>
            <a:r>
              <a:rPr b="0" i="0" lang="en-US" sz="2100" u="none" cap="none" strike="noStrike">
                <a:solidFill>
                  <a:srgbClr val="1D2B3A"/>
                </a:solidFill>
                <a:latin typeface="Inter"/>
                <a:ea typeface="Inter"/>
                <a:cs typeface="Inter"/>
                <a:sym typeface="Inter"/>
              </a:rPr>
              <a:t>on a Qdrant point, and what's one thing it lets you do that a vector alone cannot?</a:t>
            </a:r>
            <a:endParaRPr b="0" i="0" sz="2100" u="none" cap="none" strike="noStrike">
              <a:solidFill>
                <a:schemeClr val="dk1"/>
              </a:solidFill>
              <a:latin typeface="Calibri"/>
              <a:ea typeface="Calibri"/>
              <a:cs typeface="Calibri"/>
              <a:sym typeface="Calibri"/>
            </a:endParaRPr>
          </a:p>
        </p:txBody>
      </p:sp>
      <p:sp>
        <p:nvSpPr>
          <p:cNvPr id="744" name="Google Shape;744;p31"/>
          <p:cNvSpPr/>
          <p:nvPr/>
        </p:nvSpPr>
        <p:spPr>
          <a:xfrm>
            <a:off x="914400" y="7758410"/>
            <a:ext cx="16459200" cy="9525"/>
          </a:xfrm>
          <a:prstGeom prst="rect">
            <a:avLst/>
          </a:prstGeom>
          <a:solidFill>
            <a:srgbClr val="E8E2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1"/>
          <p:cNvSpPr/>
          <p:nvPr/>
        </p:nvSpPr>
        <p:spPr>
          <a:xfrm>
            <a:off x="914400" y="6745188"/>
            <a:ext cx="838200" cy="518071"/>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214CB8"/>
              </a:buClr>
              <a:buSzPts val="4200"/>
              <a:buFont typeface="Play"/>
              <a:buNone/>
            </a:pPr>
            <a:r>
              <a:rPr b="1" i="0" lang="en-US" sz="4200" u="none" cap="none" strike="noStrike">
                <a:solidFill>
                  <a:srgbClr val="214CB8"/>
                </a:solidFill>
                <a:latin typeface="Play"/>
                <a:ea typeface="Play"/>
                <a:cs typeface="Play"/>
                <a:sym typeface="Play"/>
              </a:rPr>
              <a:t>04</a:t>
            </a:r>
            <a:endParaRPr b="0" i="0" sz="4200" u="none" cap="none" strike="noStrike">
              <a:solidFill>
                <a:schemeClr val="dk1"/>
              </a:solidFill>
              <a:latin typeface="Calibri"/>
              <a:ea typeface="Calibri"/>
              <a:cs typeface="Calibri"/>
              <a:sym typeface="Calibri"/>
            </a:endParaRPr>
          </a:p>
        </p:txBody>
      </p:sp>
      <p:sp>
        <p:nvSpPr>
          <p:cNvPr id="746" name="Google Shape;746;p31"/>
          <p:cNvSpPr/>
          <p:nvPr/>
        </p:nvSpPr>
        <p:spPr>
          <a:xfrm>
            <a:off x="1943100" y="6745188"/>
            <a:ext cx="15893415" cy="784622"/>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2100"/>
              <a:buFont typeface="Inter"/>
              <a:buNone/>
            </a:pPr>
            <a:r>
              <a:rPr b="0" i="0" lang="en-US" sz="2100" u="none" cap="none" strike="noStrike">
                <a:solidFill>
                  <a:srgbClr val="1D2B3A"/>
                </a:solidFill>
                <a:latin typeface="Inter"/>
                <a:ea typeface="Inter"/>
                <a:cs typeface="Inter"/>
                <a:sym typeface="Inter"/>
              </a:rPr>
              <a:t>In LangGraph, a normal edge always goes to the same next node. What does a </a:t>
            </a:r>
            <a:r>
              <a:rPr b="0" i="1" lang="en-US" sz="2100" u="none" cap="none" strike="noStrike">
                <a:solidFill>
                  <a:srgbClr val="1D2B3A"/>
                </a:solidFill>
                <a:latin typeface="Inter"/>
                <a:ea typeface="Inter"/>
                <a:cs typeface="Inter"/>
                <a:sym typeface="Inter"/>
              </a:rPr>
              <a:t>conditional edge </a:t>
            </a:r>
            <a:r>
              <a:rPr b="0" i="0" lang="en-US" sz="2100" u="none" cap="none" strike="noStrike">
                <a:solidFill>
                  <a:srgbClr val="1D2B3A"/>
                </a:solidFill>
                <a:latin typeface="Inter"/>
                <a:ea typeface="Inter"/>
                <a:cs typeface="Inter"/>
                <a:sym typeface="Inter"/>
              </a:rPr>
              <a:t>do differently — and why do we need one to build a retry loop?</a:t>
            </a:r>
            <a:endParaRPr b="0" i="0" sz="2100" u="none" cap="none" strike="noStrike">
              <a:solidFill>
                <a:schemeClr val="dk1"/>
              </a:solidFill>
              <a:latin typeface="Calibri"/>
              <a:ea typeface="Calibri"/>
              <a:cs typeface="Calibri"/>
              <a:sym typeface="Calibri"/>
            </a:endParaRPr>
          </a:p>
        </p:txBody>
      </p:sp>
      <p:sp>
        <p:nvSpPr>
          <p:cNvPr id="747" name="Google Shape;747;p31"/>
          <p:cNvSpPr/>
          <p:nvPr/>
        </p:nvSpPr>
        <p:spPr>
          <a:xfrm>
            <a:off x="914400" y="8034635"/>
            <a:ext cx="838200" cy="518071"/>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214CB8"/>
              </a:buClr>
              <a:buSzPts val="4200"/>
              <a:buFont typeface="Play"/>
              <a:buNone/>
            </a:pPr>
            <a:r>
              <a:rPr b="1" i="0" lang="en-US" sz="4200" u="none" cap="none" strike="noStrike">
                <a:solidFill>
                  <a:srgbClr val="214CB8"/>
                </a:solidFill>
                <a:latin typeface="Play"/>
                <a:ea typeface="Play"/>
                <a:cs typeface="Play"/>
                <a:sym typeface="Play"/>
              </a:rPr>
              <a:t>05</a:t>
            </a:r>
            <a:endParaRPr b="0" i="0" sz="4200" u="none" cap="none" strike="noStrike">
              <a:solidFill>
                <a:schemeClr val="dk1"/>
              </a:solidFill>
              <a:latin typeface="Calibri"/>
              <a:ea typeface="Calibri"/>
              <a:cs typeface="Calibri"/>
              <a:sym typeface="Calibri"/>
            </a:endParaRPr>
          </a:p>
        </p:txBody>
      </p:sp>
      <p:sp>
        <p:nvSpPr>
          <p:cNvPr id="748" name="Google Shape;748;p31"/>
          <p:cNvSpPr/>
          <p:nvPr/>
        </p:nvSpPr>
        <p:spPr>
          <a:xfrm>
            <a:off x="1943100" y="8034635"/>
            <a:ext cx="15893415" cy="784622"/>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D2B3A"/>
              </a:buClr>
              <a:buSzPts val="2100"/>
              <a:buFont typeface="Inter"/>
              <a:buNone/>
            </a:pPr>
            <a:r>
              <a:rPr b="0" i="0" lang="en-US" sz="2100" u="none" cap="none" strike="noStrike">
                <a:solidFill>
                  <a:srgbClr val="1D2B3A"/>
                </a:solidFill>
                <a:latin typeface="Inter"/>
                <a:ea typeface="Inter"/>
                <a:cs typeface="Inter"/>
                <a:sym typeface="Inter"/>
              </a:rPr>
              <a:t>If a user asks "and what about Q4?" as a follow-up, why should we rewrite the question before searching, instead of sending it to Qdrant as-is?</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6" name="Shape 756"/>
        <p:cNvGrpSpPr/>
        <p:nvPr/>
      </p:nvGrpSpPr>
      <p:grpSpPr>
        <a:xfrm>
          <a:off x="0" y="0"/>
          <a:ext cx="0" cy="0"/>
          <a:chOff x="0" y="0"/>
          <a:chExt cx="0" cy="0"/>
        </a:xfrm>
      </p:grpSpPr>
      <p:grpSp>
        <p:nvGrpSpPr>
          <p:cNvPr id="757" name="Google Shape;757;p32"/>
          <p:cNvGrpSpPr/>
          <p:nvPr/>
        </p:nvGrpSpPr>
        <p:grpSpPr>
          <a:xfrm>
            <a:off x="914400" y="457200"/>
            <a:ext cx="2857500" cy="571650"/>
            <a:chOff x="914400" y="457200"/>
            <a:chExt cx="2857500" cy="571650"/>
          </a:xfrm>
        </p:grpSpPr>
        <p:sp>
          <p:nvSpPr>
            <p:cNvPr id="758" name="Google Shape;758;p32"/>
            <p:cNvSpPr txBox="1"/>
            <p:nvPr/>
          </p:nvSpPr>
          <p:spPr>
            <a:xfrm>
              <a:off x="914400" y="457200"/>
              <a:ext cx="2857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50">
                  <a:solidFill>
                    <a:srgbClr val="214CB8"/>
                  </a:solidFill>
                  <a:latin typeface="Inter"/>
                  <a:ea typeface="Inter"/>
                  <a:cs typeface="Inter"/>
                  <a:sym typeface="Inter"/>
                </a:rPr>
                <a:t>RAG + LANGGRAPH</a:t>
              </a:r>
              <a:endParaRPr b="1" sz="1350">
                <a:solidFill>
                  <a:srgbClr val="214CB8"/>
                </a:solidFill>
                <a:latin typeface="Inter"/>
                <a:ea typeface="Inter"/>
                <a:cs typeface="Inter"/>
                <a:sym typeface="Inter"/>
              </a:endParaRPr>
            </a:p>
          </p:txBody>
        </p:sp>
        <p:sp>
          <p:nvSpPr>
            <p:cNvPr id="759" name="Google Shape;759;p32"/>
            <p:cNvSpPr txBox="1"/>
            <p:nvPr/>
          </p:nvSpPr>
          <p:spPr>
            <a:xfrm>
              <a:off x="914400" y="742950"/>
              <a:ext cx="2857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50">
                  <a:solidFill>
                    <a:srgbClr val="214CB8"/>
                  </a:solidFill>
                  <a:latin typeface="Inter"/>
                  <a:ea typeface="Inter"/>
                  <a:cs typeface="Inter"/>
                  <a:sym typeface="Inter"/>
                </a:rPr>
                <a:t>••••••••••••</a:t>
              </a:r>
              <a:endParaRPr b="1" sz="1350">
                <a:solidFill>
                  <a:srgbClr val="214CB8"/>
                </a:solidFill>
                <a:latin typeface="Inter"/>
                <a:ea typeface="Inter"/>
                <a:cs typeface="Inter"/>
                <a:sym typeface="Inter"/>
              </a:endParaRPr>
            </a:p>
          </p:txBody>
        </p:sp>
      </p:grpSp>
      <p:grpSp>
        <p:nvGrpSpPr>
          <p:cNvPr id="760" name="Google Shape;760;p32"/>
          <p:cNvGrpSpPr/>
          <p:nvPr/>
        </p:nvGrpSpPr>
        <p:grpSpPr>
          <a:xfrm>
            <a:off x="914400" y="1714500"/>
            <a:ext cx="16459200" cy="5905500"/>
            <a:chOff x="914400" y="1714500"/>
            <a:chExt cx="16459200" cy="5905500"/>
          </a:xfrm>
        </p:grpSpPr>
        <p:pic>
          <p:nvPicPr>
            <p:cNvPr descr="A clean, minimalist high-quality photograph of a modern workspace with a laptop, a notebook, and a small green plant. The lighting should be soft and professional, reflecting a high-tech training environment." id="761" name="Google Shape;761;p32"/>
            <p:cNvPicPr preferRelativeResize="0"/>
            <p:nvPr/>
          </p:nvPicPr>
          <p:blipFill rotWithShape="1">
            <a:blip r:embed="rId4">
              <a:alphaModFix/>
            </a:blip>
            <a:srcRect b="16667" l="0" r="0" t="16667"/>
            <a:stretch/>
          </p:blipFill>
          <p:spPr>
            <a:xfrm>
              <a:off x="6286500" y="1714500"/>
              <a:ext cx="5715000" cy="3810000"/>
            </a:xfrm>
            <a:prstGeom prst="roundRect">
              <a:avLst>
                <a:gd fmla="val 5000" name="adj"/>
              </a:avLst>
            </a:prstGeom>
            <a:noFill/>
            <a:ln>
              <a:noFill/>
            </a:ln>
          </p:spPr>
        </p:pic>
        <p:sp>
          <p:nvSpPr>
            <p:cNvPr id="762" name="Google Shape;762;p32"/>
            <p:cNvSpPr/>
            <p:nvPr/>
          </p:nvSpPr>
          <p:spPr>
            <a:xfrm>
              <a:off x="6286500" y="1714500"/>
              <a:ext cx="5715000" cy="3810000"/>
            </a:xfrm>
            <a:prstGeom prst="roundRect">
              <a:avLst>
                <a:gd fmla="val 5000" name="adj"/>
              </a:avLst>
            </a:prstGeom>
            <a:solidFill>
              <a:srgbClr val="000000">
                <a:alpha val="0"/>
              </a:srgbClr>
            </a:solidFill>
            <a:ln cap="flat" cmpd="sng" w="19050">
              <a:solidFill>
                <a:srgbClr val="E8E2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3" name="Google Shape;763;p32"/>
            <p:cNvSpPr txBox="1"/>
            <p:nvPr/>
          </p:nvSpPr>
          <p:spPr>
            <a:xfrm>
              <a:off x="914400" y="5905500"/>
              <a:ext cx="164592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400">
                  <a:solidFill>
                    <a:srgbClr val="1D2B3A"/>
                  </a:solidFill>
                  <a:latin typeface="Play"/>
                  <a:ea typeface="Play"/>
                  <a:cs typeface="Play"/>
                  <a:sym typeface="Play"/>
                </a:rPr>
                <a:t>Thank You</a:t>
              </a:r>
              <a:endParaRPr b="1" sz="7400">
                <a:solidFill>
                  <a:srgbClr val="1D2B3A"/>
                </a:solidFill>
                <a:latin typeface="Play"/>
                <a:ea typeface="Play"/>
                <a:cs typeface="Play"/>
                <a:sym typeface="Play"/>
              </a:endParaRPr>
            </a:p>
          </p:txBody>
        </p:sp>
        <p:sp>
          <p:nvSpPr>
            <p:cNvPr id="764" name="Google Shape;764;p32"/>
            <p:cNvSpPr txBox="1"/>
            <p:nvPr/>
          </p:nvSpPr>
          <p:spPr>
            <a:xfrm>
              <a:off x="914400" y="7048500"/>
              <a:ext cx="164592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400">
                  <a:solidFill>
                    <a:srgbClr val="536171"/>
                  </a:solidFill>
                  <a:latin typeface="Inter"/>
                  <a:ea typeface="Inter"/>
                  <a:cs typeface="Inter"/>
                  <a:sym typeface="Inter"/>
                </a:rPr>
                <a:t>Happy Coding &amp; Building Robust RAG Systems</a:t>
              </a:r>
              <a:endParaRPr b="0" sz="2400">
                <a:solidFill>
                  <a:srgbClr val="536171"/>
                </a:solidFill>
                <a:latin typeface="Inter"/>
                <a:ea typeface="Inter"/>
                <a:cs typeface="Inter"/>
                <a:sym typeface="Inter"/>
              </a:endParaRPr>
            </a:p>
          </p:txBody>
        </p:sp>
      </p:grpSp>
      <p:grpSp>
        <p:nvGrpSpPr>
          <p:cNvPr id="765" name="Google Shape;765;p32"/>
          <p:cNvGrpSpPr/>
          <p:nvPr/>
        </p:nvGrpSpPr>
        <p:grpSpPr>
          <a:xfrm>
            <a:off x="914400" y="9144000"/>
            <a:ext cx="16459200" cy="762150"/>
            <a:chOff x="914400" y="9144000"/>
            <a:chExt cx="16459200" cy="762150"/>
          </a:xfrm>
        </p:grpSpPr>
        <p:sp>
          <p:nvSpPr>
            <p:cNvPr id="766" name="Google Shape;766;p32"/>
            <p:cNvSpPr/>
            <p:nvPr/>
          </p:nvSpPr>
          <p:spPr>
            <a:xfrm>
              <a:off x="914400" y="9144000"/>
              <a:ext cx="16459200" cy="9600"/>
            </a:xfrm>
            <a:prstGeom prst="rect">
              <a:avLst/>
            </a:prstGeom>
            <a:solidFill>
              <a:srgbClr val="E8E2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7" name="Google Shape;767;p32"/>
            <p:cNvSpPr txBox="1"/>
            <p:nvPr/>
          </p:nvSpPr>
          <p:spPr>
            <a:xfrm>
              <a:off x="914400" y="9620250"/>
              <a:ext cx="5715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650">
                  <a:solidFill>
                    <a:srgbClr val="536171"/>
                  </a:solidFill>
                  <a:latin typeface="Inter"/>
                  <a:ea typeface="Inter"/>
                  <a:cs typeface="Inter"/>
                  <a:sym typeface="Inter"/>
                </a:rPr>
                <a:t>RAG + LANGGRAPH · PYTHON TRAINING</a:t>
              </a:r>
              <a:endParaRPr b="0" sz="1650">
                <a:solidFill>
                  <a:srgbClr val="536171"/>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